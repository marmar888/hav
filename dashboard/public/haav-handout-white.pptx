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per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02920" y="32918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Arial"/>
              </a:rPr>
              <a:t>Haav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2920" y="95097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555555"/>
                </a:solidFill>
                <a:latin typeface="Arial"/>
              </a:rPr>
              <a:t>Highly Amphibious / Autonomous Vehicle</a:t>
            </a:r>
          </a:p>
        </p:txBody>
      </p:sp>
      <p:sp>
        <p:nvSpPr>
          <p:cNvPr id="5" name="UW-Madison"/>
          <p:cNvSpPr txBox="1"/>
          <p:nvPr/>
        </p:nvSpPr>
        <p:spPr>
          <a:xfrm>
            <a:off x="4069080" y="365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50" b="1">
                <a:solidFill>
                  <a:srgbClr val="C5050C"/>
                </a:solidFill>
                <a:latin typeface="Arial"/>
              </a:rPr>
              <a:t>UW–Madison</a:t>
            </a:r>
          </a:p>
        </p:txBody>
      </p:sp>
      <p:sp>
        <p:nvSpPr>
          <p:cNvPr id="6" name="College of Engineering"/>
          <p:cNvSpPr txBox="1"/>
          <p:nvPr/>
        </p:nvSpPr>
        <p:spPr>
          <a:xfrm>
            <a:off x="4069080" y="73152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75" b="0">
                <a:solidFill>
                  <a:srgbClr val="555555"/>
                </a:solidFill>
                <a:latin typeface="Arial"/>
              </a:rPr>
              <a:t>College of Engineering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502920" y="1572768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1111"/>
                </a:solidFill>
                <a:latin typeface="Arial"/>
              </a:rPr>
              <a:t>A student team building an autonomous boat from the ground up.</a:t>
            </a:r>
          </a:p>
        </p:txBody>
      </p:sp>
      <p:pic>
        <p:nvPicPr>
          <p:cNvPr id="8" name="Hull render" descr="haav-hull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4983480" y="1298448"/>
            <a:ext cx="2286000" cy="1917045"/>
          </a:xfrm>
          <a:prstGeom prst="rect">
            <a:avLst/>
          </a:prstGeom>
        </p:spPr>
      </p:pic>
      <p:sp>
        <p:nvSpPr>
          <p:cNvPr id="9" name="Model card"/>
          <p:cNvSpPr/>
          <p:nvPr/>
        </p:nvSpPr>
        <p:spPr>
          <a:xfrm>
            <a:off x="502920" y="3227832"/>
            <a:ext cx="6766560" cy="978408"/>
          </a:xfrm>
          <a:prstGeom prst="roundRect">
            <a:avLst>
              <a:gd name="adj" fmla="val 14953"/>
            </a:avLst>
          </a:prstGeom>
          <a:solidFill>
            <a:srgbClr val="F5F5F5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odel title"/>
          <p:cNvSpPr txBox="1"/>
          <p:nvPr/>
        </p:nvSpPr>
        <p:spPr>
          <a:xfrm>
            <a:off x="658368" y="3319272"/>
            <a:ext cx="6455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111111"/>
                </a:solidFill>
                <a:latin typeface="Arial"/>
              </a:rPr>
              <a:t>First-principles mixed-integer linear programming</a:t>
            </a:r>
          </a:p>
        </p:txBody>
      </p:sp>
      <p:sp>
        <p:nvSpPr>
          <p:cNvPr id="11" name="Model text"/>
          <p:cNvSpPr txBox="1"/>
          <p:nvPr/>
        </p:nvSpPr>
        <p:spPr>
          <a:xfrm>
            <a:off x="658368" y="3584448"/>
            <a:ext cx="64556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Arial"/>
              </a:rPr>
              <a:t>We build the model from physics up. Each constraint cuts the space of possible boats, and the optimizer finds the fastest one left. Hull resistance comes from </a:t>
            </a:r>
            <a:r>
              <a:rPr sz="900" b="1">
                <a:solidFill>
                  <a:srgbClr val="111111"/>
                </a:solidFill>
                <a:latin typeface="Arial"/>
              </a:rPr>
              <a:t>Savitsky's planing-hull model</a:t>
            </a:r>
            <a:r>
              <a:rPr sz="900" b="0">
                <a:solidFill>
                  <a:srgbClr val="555555"/>
                </a:solidFill>
                <a:latin typeface="Arial"/>
              </a:rPr>
              <a:t>. As we build and test, we keep updating the model and adding constraints: a hybrid of simulation and empirical data.</a:t>
            </a:r>
          </a:p>
        </p:txBody>
      </p:sp>
      <p:sp>
        <p:nvSpPr>
          <p:cNvPr id="12" name="Heading: Engineers from across UW–Madison"/>
          <p:cNvSpPr txBox="1"/>
          <p:nvPr/>
        </p:nvSpPr>
        <p:spPr>
          <a:xfrm>
            <a:off x="502920" y="44348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111111"/>
                </a:solidFill>
                <a:latin typeface="Arial"/>
              </a:rPr>
              <a:t>Engineers from across UW–Madison</a:t>
            </a:r>
          </a:p>
        </p:txBody>
      </p:sp>
      <p:sp>
        <p:nvSpPr>
          <p:cNvPr id="13" name="Engineers text"/>
          <p:cNvSpPr txBox="1"/>
          <p:nvPr/>
        </p:nvSpPr>
        <p:spPr>
          <a:xfrm>
            <a:off x="502920" y="469087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Each segment of the boat is covered, and members have worked at Tesla, Northrop Grumman, Xcel Energy and Milwaukee Tool.</a:t>
            </a:r>
          </a:p>
        </p:txBody>
      </p:sp>
      <p:sp>
        <p:nvSpPr>
          <p:cNvPr id="14" name="Discipline: Industrial"/>
          <p:cNvSpPr txBox="1"/>
          <p:nvPr/>
        </p:nvSpPr>
        <p:spPr>
          <a:xfrm>
            <a:off x="502920" y="4937760"/>
            <a:ext cx="15659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Industrial</a:t>
            </a:r>
          </a:p>
        </p:txBody>
      </p:sp>
      <p:sp>
        <p:nvSpPr>
          <p:cNvPr id="15" name="Discipline text: Industrial"/>
          <p:cNvSpPr txBox="1"/>
          <p:nvPr/>
        </p:nvSpPr>
        <p:spPr>
          <a:xfrm>
            <a:off x="502920" y="5120640"/>
            <a:ext cx="14744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optimization, composites and manufacturing</a:t>
            </a:r>
          </a:p>
        </p:txBody>
      </p:sp>
      <p:sp>
        <p:nvSpPr>
          <p:cNvPr id="16" name="Discipline: Mechanical"/>
          <p:cNvSpPr txBox="1"/>
          <p:nvPr/>
        </p:nvSpPr>
        <p:spPr>
          <a:xfrm>
            <a:off x="2251710" y="4937760"/>
            <a:ext cx="15659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Mechanical</a:t>
            </a:r>
          </a:p>
        </p:txBody>
      </p:sp>
      <p:sp>
        <p:nvSpPr>
          <p:cNvPr id="17" name="Discipline text: Mechanical"/>
          <p:cNvSpPr txBox="1"/>
          <p:nvPr/>
        </p:nvSpPr>
        <p:spPr>
          <a:xfrm>
            <a:off x="2251710" y="5120640"/>
            <a:ext cx="14744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structures, CAD and fabrication</a:t>
            </a:r>
          </a:p>
        </p:txBody>
      </p:sp>
      <p:sp>
        <p:nvSpPr>
          <p:cNvPr id="18" name="Discipline: Electrical"/>
          <p:cNvSpPr txBox="1"/>
          <p:nvPr/>
        </p:nvSpPr>
        <p:spPr>
          <a:xfrm>
            <a:off x="4000500" y="4937760"/>
            <a:ext cx="15659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Electrical</a:t>
            </a:r>
          </a:p>
        </p:txBody>
      </p:sp>
      <p:sp>
        <p:nvSpPr>
          <p:cNvPr id="19" name="Discipline text: Electrical"/>
          <p:cNvSpPr txBox="1"/>
          <p:nvPr/>
        </p:nvSpPr>
        <p:spPr>
          <a:xfrm>
            <a:off x="4000500" y="5120640"/>
            <a:ext cx="14744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power, battery and high voltage</a:t>
            </a:r>
          </a:p>
        </p:txBody>
      </p:sp>
      <p:sp>
        <p:nvSpPr>
          <p:cNvPr id="20" name="Discipline: Computer"/>
          <p:cNvSpPr txBox="1"/>
          <p:nvPr/>
        </p:nvSpPr>
        <p:spPr>
          <a:xfrm>
            <a:off x="5749290" y="4937760"/>
            <a:ext cx="156591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Computer</a:t>
            </a:r>
          </a:p>
        </p:txBody>
      </p:sp>
      <p:sp>
        <p:nvSpPr>
          <p:cNvPr id="21" name="Discipline text: Computer"/>
          <p:cNvSpPr txBox="1"/>
          <p:nvPr/>
        </p:nvSpPr>
        <p:spPr>
          <a:xfrm>
            <a:off x="5749290" y="5120640"/>
            <a:ext cx="14744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embedded, firmware and software</a:t>
            </a:r>
          </a:p>
        </p:txBody>
      </p:sp>
      <p:sp>
        <p:nvSpPr>
          <p:cNvPr id="22" name="Heading: Our approach"/>
          <p:cNvSpPr txBox="1"/>
          <p:nvPr/>
        </p:nvSpPr>
        <p:spPr>
          <a:xfrm>
            <a:off x="502920" y="55778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111111"/>
                </a:solidFill>
                <a:latin typeface="Arial"/>
              </a:rPr>
              <a:t>Our approach</a:t>
            </a:r>
          </a:p>
        </p:txBody>
      </p:sp>
      <p:sp>
        <p:nvSpPr>
          <p:cNvPr id="23" name="Card: Hull"/>
          <p:cNvSpPr/>
          <p:nvPr/>
        </p:nvSpPr>
        <p:spPr>
          <a:xfrm>
            <a:off x="502920" y="5824728"/>
            <a:ext cx="2179320" cy="1143000"/>
          </a:xfrm>
          <a:prstGeom prst="roundRect">
            <a:avLst>
              <a:gd name="adj" fmla="val 12800"/>
            </a:avLst>
          </a:prstGeom>
          <a:solidFill>
            <a:srgbClr val="F5F5F5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rt: Hull"/>
          <p:cNvSpPr txBox="1"/>
          <p:nvPr/>
        </p:nvSpPr>
        <p:spPr>
          <a:xfrm>
            <a:off x="640080" y="589788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11111"/>
                </a:solidFill>
                <a:latin typeface="Arial"/>
              </a:rPr>
              <a:t>Hull</a:t>
            </a:r>
          </a:p>
        </p:txBody>
      </p:sp>
      <p:sp>
        <p:nvSpPr>
          <p:cNvPr id="25" name="Part tagline: Hull"/>
          <p:cNvSpPr txBox="1"/>
          <p:nvPr/>
        </p:nvSpPr>
        <p:spPr>
          <a:xfrm>
            <a:off x="640080" y="6108192"/>
            <a:ext cx="1905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Plane well and stay light.</a:t>
            </a:r>
          </a:p>
        </p:txBody>
      </p:sp>
      <p:sp>
        <p:nvSpPr>
          <p:cNvPr id="26" name="Part points: Hull"/>
          <p:cNvSpPr txBox="1"/>
          <p:nvPr/>
        </p:nvSpPr>
        <p:spPr>
          <a:xfrm>
            <a:off x="640080" y="6327648"/>
            <a:ext cx="1905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Hybrid planing composite hull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Shape tuned by optimization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Resistance checked in CFD first</a:t>
            </a:r>
          </a:p>
        </p:txBody>
      </p:sp>
      <p:sp>
        <p:nvSpPr>
          <p:cNvPr id="27" name="Card: Electric"/>
          <p:cNvSpPr/>
          <p:nvPr/>
        </p:nvSpPr>
        <p:spPr>
          <a:xfrm>
            <a:off x="2796540" y="5824728"/>
            <a:ext cx="2179320" cy="1143000"/>
          </a:xfrm>
          <a:prstGeom prst="roundRect">
            <a:avLst>
              <a:gd name="adj" fmla="val 12800"/>
            </a:avLst>
          </a:prstGeom>
          <a:solidFill>
            <a:srgbClr val="F5F5F5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t: Electric"/>
          <p:cNvSpPr txBox="1"/>
          <p:nvPr/>
        </p:nvSpPr>
        <p:spPr>
          <a:xfrm>
            <a:off x="2933700" y="589788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11111"/>
                </a:solidFill>
                <a:latin typeface="Arial"/>
              </a:rPr>
              <a:t>Electric</a:t>
            </a:r>
          </a:p>
        </p:txBody>
      </p:sp>
      <p:sp>
        <p:nvSpPr>
          <p:cNvPr id="29" name="Part tagline: Electric"/>
          <p:cNvSpPr txBox="1"/>
          <p:nvPr/>
        </p:nvSpPr>
        <p:spPr>
          <a:xfrm>
            <a:off x="2933700" y="6108192"/>
            <a:ext cx="1905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Every watt-hour to speed.</a:t>
            </a:r>
          </a:p>
        </p:txBody>
      </p:sp>
      <p:sp>
        <p:nvSpPr>
          <p:cNvPr id="30" name="Part points: Electric"/>
          <p:cNvSpPr txBox="1"/>
          <p:nvPr/>
        </p:nvSpPr>
        <p:spPr>
          <a:xfrm>
            <a:off x="2933700" y="6327648"/>
            <a:ext cx="1905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High-voltage battery storage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Propulsion sized by the model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Propulsion and cooling co-designed</a:t>
            </a:r>
          </a:p>
        </p:txBody>
      </p:sp>
      <p:sp>
        <p:nvSpPr>
          <p:cNvPr id="31" name="Card: Autonomous"/>
          <p:cNvSpPr/>
          <p:nvPr/>
        </p:nvSpPr>
        <p:spPr>
          <a:xfrm>
            <a:off x="5090160" y="5824728"/>
            <a:ext cx="2179320" cy="1143000"/>
          </a:xfrm>
          <a:prstGeom prst="roundRect">
            <a:avLst>
              <a:gd name="adj" fmla="val 12800"/>
            </a:avLst>
          </a:prstGeom>
          <a:solidFill>
            <a:srgbClr val="F5F5F5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t: Autonomous"/>
          <p:cNvSpPr txBox="1"/>
          <p:nvPr/>
        </p:nvSpPr>
        <p:spPr>
          <a:xfrm>
            <a:off x="5227320" y="589788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11111"/>
                </a:solidFill>
                <a:latin typeface="Arial"/>
              </a:rPr>
              <a:t>Autonomous</a:t>
            </a:r>
          </a:p>
        </p:txBody>
      </p:sp>
      <p:sp>
        <p:nvSpPr>
          <p:cNvPr id="33" name="Part tagline: Autonomous"/>
          <p:cNvSpPr txBox="1"/>
          <p:nvPr/>
        </p:nvSpPr>
        <p:spPr>
          <a:xfrm>
            <a:off x="5227320" y="6108192"/>
            <a:ext cx="1905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11111"/>
                </a:solidFill>
                <a:latin typeface="Arial"/>
              </a:rPr>
              <a:t>Manage drift and controls.</a:t>
            </a:r>
          </a:p>
        </p:txBody>
      </p:sp>
      <p:sp>
        <p:nvSpPr>
          <p:cNvPr id="34" name="Part points: Autonomous"/>
          <p:cNvSpPr txBox="1"/>
          <p:nvPr/>
        </p:nvSpPr>
        <p:spPr>
          <a:xfrm>
            <a:off x="5227320" y="6327648"/>
            <a:ext cx="1905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GPS, IMU and LIDAR sensing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Firmware protects the battery</a:t>
            </a:r>
          </a:p>
          <a:p>
            <a:pPr algn="l">
              <a:lnSpc>
                <a:spcPct val="115000"/>
              </a:lnSpc>
            </a:pPr>
            <a:r>
              <a:rPr sz="860" b="0">
                <a:solidFill>
                  <a:srgbClr val="555555"/>
                </a:solidFill>
                <a:latin typeface="Arial"/>
              </a:rPr>
              <a:t>Software plans the route</a:t>
            </a:r>
          </a:p>
        </p:txBody>
      </p:sp>
      <p:sp>
        <p:nvSpPr>
          <p:cNvPr id="35" name="Heading: Timeline"/>
          <p:cNvSpPr txBox="1"/>
          <p:nvPr/>
        </p:nvSpPr>
        <p:spPr>
          <a:xfrm>
            <a:off x="502920" y="7132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111111"/>
                </a:solidFill>
                <a:latin typeface="Arial"/>
              </a:rPr>
              <a:t>Timeline</a:t>
            </a:r>
          </a:p>
        </p:txBody>
      </p:sp>
      <p:sp>
        <p:nvSpPr>
          <p:cNvPr id="36" name="Timeline date: Hull design frozen"/>
          <p:cNvSpPr txBox="1"/>
          <p:nvPr/>
        </p:nvSpPr>
        <p:spPr>
          <a:xfrm>
            <a:off x="502920" y="74066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Oct 25</a:t>
            </a:r>
          </a:p>
        </p:txBody>
      </p:sp>
      <p:sp>
        <p:nvSpPr>
          <p:cNvPr id="37" name="Timeline label: Hull design frozen"/>
          <p:cNvSpPr txBox="1"/>
          <p:nvPr/>
        </p:nvSpPr>
        <p:spPr>
          <a:xfrm>
            <a:off x="1600200" y="7406640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Hull design frozen</a:t>
            </a:r>
          </a:p>
        </p:txBody>
      </p:sp>
      <p:sp>
        <p:nvSpPr>
          <p:cNvPr id="38" name="Timeline date: Preliminary design review"/>
          <p:cNvSpPr txBox="1"/>
          <p:nvPr/>
        </p:nvSpPr>
        <p:spPr>
          <a:xfrm>
            <a:off x="502920" y="757580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Nov 1</a:t>
            </a:r>
          </a:p>
        </p:txBody>
      </p:sp>
      <p:sp>
        <p:nvSpPr>
          <p:cNvPr id="39" name="Timeline label: Preliminary design review"/>
          <p:cNvSpPr txBox="1"/>
          <p:nvPr/>
        </p:nvSpPr>
        <p:spPr>
          <a:xfrm>
            <a:off x="1600200" y="7575804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Preliminary design review</a:t>
            </a:r>
          </a:p>
        </p:txBody>
      </p:sp>
      <p:sp>
        <p:nvSpPr>
          <p:cNvPr id="40" name="Timeline date: Critical and long-lead parts are ordered"/>
          <p:cNvSpPr txBox="1"/>
          <p:nvPr/>
        </p:nvSpPr>
        <p:spPr>
          <a:xfrm>
            <a:off x="502920" y="774496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Nov 10</a:t>
            </a:r>
          </a:p>
        </p:txBody>
      </p:sp>
      <p:sp>
        <p:nvSpPr>
          <p:cNvPr id="41" name="Timeline label: Critical and long-lead parts are ordered"/>
          <p:cNvSpPr txBox="1"/>
          <p:nvPr/>
        </p:nvSpPr>
        <p:spPr>
          <a:xfrm>
            <a:off x="1600200" y="7744968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Critical and long-lead parts are ordered</a:t>
            </a:r>
          </a:p>
        </p:txBody>
      </p:sp>
      <p:sp>
        <p:nvSpPr>
          <p:cNvPr id="42" name="Timeline date: Mechanical and electrical design frozen"/>
          <p:cNvSpPr txBox="1"/>
          <p:nvPr/>
        </p:nvSpPr>
        <p:spPr>
          <a:xfrm>
            <a:off x="502920" y="791413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Nov 20</a:t>
            </a:r>
          </a:p>
        </p:txBody>
      </p:sp>
      <p:sp>
        <p:nvSpPr>
          <p:cNvPr id="43" name="Timeline label: Mechanical and electrical design frozen"/>
          <p:cNvSpPr txBox="1"/>
          <p:nvPr/>
        </p:nvSpPr>
        <p:spPr>
          <a:xfrm>
            <a:off x="1600200" y="7914132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Mechanical and electrical design frozen</a:t>
            </a:r>
          </a:p>
        </p:txBody>
      </p:sp>
      <p:sp>
        <p:nvSpPr>
          <p:cNvPr id="44" name="Timeline date: Build the hull, composite parts and any custom-milled parts"/>
          <p:cNvSpPr txBox="1"/>
          <p:nvPr/>
        </p:nvSpPr>
        <p:spPr>
          <a:xfrm>
            <a:off x="502920" y="808329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Nov 20–Dec 20</a:t>
            </a:r>
          </a:p>
        </p:txBody>
      </p:sp>
      <p:sp>
        <p:nvSpPr>
          <p:cNvPr id="45" name="Timeline label: Build the hull, composite parts and any custom-milled parts"/>
          <p:cNvSpPr txBox="1"/>
          <p:nvPr/>
        </p:nvSpPr>
        <p:spPr>
          <a:xfrm>
            <a:off x="1600200" y="8083296"/>
            <a:ext cx="213375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Build the hull, composite parts and any custom-milled parts</a:t>
            </a:r>
          </a:p>
        </p:txBody>
      </p:sp>
      <p:sp>
        <p:nvSpPr>
          <p:cNvPr id="46" name="Timeline date: First float and tow test"/>
          <p:cNvSpPr txBox="1"/>
          <p:nvPr/>
        </p:nvSpPr>
        <p:spPr>
          <a:xfrm>
            <a:off x="502920" y="837133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Jan 8</a:t>
            </a:r>
          </a:p>
        </p:txBody>
      </p:sp>
      <p:sp>
        <p:nvSpPr>
          <p:cNvPr id="47" name="Timeline label: First float and tow test"/>
          <p:cNvSpPr txBox="1"/>
          <p:nvPr/>
        </p:nvSpPr>
        <p:spPr>
          <a:xfrm>
            <a:off x="1600200" y="8371332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First float and tow test</a:t>
            </a:r>
          </a:p>
        </p:txBody>
      </p:sp>
      <p:sp>
        <p:nvSpPr>
          <p:cNvPr id="48" name="Timeline date: Manufacture and assemble everything"/>
          <p:cNvSpPr txBox="1"/>
          <p:nvPr/>
        </p:nvSpPr>
        <p:spPr>
          <a:xfrm>
            <a:off x="4038447" y="740664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Jan 8–30</a:t>
            </a:r>
          </a:p>
        </p:txBody>
      </p:sp>
      <p:sp>
        <p:nvSpPr>
          <p:cNvPr id="49" name="Timeline label: Manufacture and assemble everything"/>
          <p:cNvSpPr txBox="1"/>
          <p:nvPr/>
        </p:nvSpPr>
        <p:spPr>
          <a:xfrm>
            <a:off x="5135727" y="7406640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Manufacture and assemble everything</a:t>
            </a:r>
          </a:p>
        </p:txBody>
      </p:sp>
      <p:sp>
        <p:nvSpPr>
          <p:cNvPr id="50" name="Timeline date: Build likely spare parts, in parallel"/>
          <p:cNvSpPr txBox="1"/>
          <p:nvPr/>
        </p:nvSpPr>
        <p:spPr>
          <a:xfrm>
            <a:off x="4038447" y="757580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Jan 8–30</a:t>
            </a:r>
          </a:p>
        </p:txBody>
      </p:sp>
      <p:sp>
        <p:nvSpPr>
          <p:cNvPr id="51" name="Timeline label: Build likely spare parts, in parallel"/>
          <p:cNvSpPr txBox="1"/>
          <p:nvPr/>
        </p:nvSpPr>
        <p:spPr>
          <a:xfrm>
            <a:off x="5135727" y="7575804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Build likely spare parts, in parallel</a:t>
            </a:r>
          </a:p>
        </p:txBody>
      </p:sp>
      <p:sp>
        <p:nvSpPr>
          <p:cNvPr id="52" name="Timeline date: First nautical mile"/>
          <p:cNvSpPr txBox="1"/>
          <p:nvPr/>
        </p:nvSpPr>
        <p:spPr>
          <a:xfrm>
            <a:off x="4038447" y="774496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Jan 31</a:t>
            </a:r>
          </a:p>
        </p:txBody>
      </p:sp>
      <p:sp>
        <p:nvSpPr>
          <p:cNvPr id="53" name="Timeline label: First nautical mile"/>
          <p:cNvSpPr txBox="1"/>
          <p:nvPr/>
        </p:nvSpPr>
        <p:spPr>
          <a:xfrm>
            <a:off x="5135727" y="7744968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First nautical mile</a:t>
            </a:r>
          </a:p>
        </p:txBody>
      </p:sp>
      <p:sp>
        <p:nvSpPr>
          <p:cNvPr id="54" name="Timeline date: Slow drives on the water"/>
          <p:cNvSpPr txBox="1"/>
          <p:nvPr/>
        </p:nvSpPr>
        <p:spPr>
          <a:xfrm>
            <a:off x="4038447" y="791413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Feb 1–14</a:t>
            </a:r>
          </a:p>
        </p:txBody>
      </p:sp>
      <p:sp>
        <p:nvSpPr>
          <p:cNvPr id="55" name="Timeline label: Slow drives on the water"/>
          <p:cNvSpPr txBox="1"/>
          <p:nvPr/>
        </p:nvSpPr>
        <p:spPr>
          <a:xfrm>
            <a:off x="5135727" y="7914132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Slow drives on the water</a:t>
            </a:r>
          </a:p>
        </p:txBody>
      </p:sp>
      <p:sp>
        <p:nvSpPr>
          <p:cNvPr id="56" name="Timeline date: Start increasing speed"/>
          <p:cNvSpPr txBox="1"/>
          <p:nvPr/>
        </p:nvSpPr>
        <p:spPr>
          <a:xfrm>
            <a:off x="4038447" y="808329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Feb 15</a:t>
            </a:r>
          </a:p>
        </p:txBody>
      </p:sp>
      <p:sp>
        <p:nvSpPr>
          <p:cNvPr id="57" name="Timeline label: Start increasing speed"/>
          <p:cNvSpPr txBox="1"/>
          <p:nvPr/>
        </p:nvSpPr>
        <p:spPr>
          <a:xfrm>
            <a:off x="5135727" y="8083296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Start increasing speed</a:t>
            </a:r>
          </a:p>
        </p:txBody>
      </p:sp>
      <p:sp>
        <p:nvSpPr>
          <p:cNvPr id="58" name="Timeline date: Testing / Tuning"/>
          <p:cNvSpPr txBox="1"/>
          <p:nvPr/>
        </p:nvSpPr>
        <p:spPr>
          <a:xfrm>
            <a:off x="4038447" y="82524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111111"/>
                </a:solidFill>
                <a:latin typeface="Arial"/>
              </a:rPr>
              <a:t>Until April</a:t>
            </a:r>
          </a:p>
        </p:txBody>
      </p:sp>
      <p:sp>
        <p:nvSpPr>
          <p:cNvPr id="59" name="Timeline label: Testing / Tuning"/>
          <p:cNvSpPr txBox="1"/>
          <p:nvPr/>
        </p:nvSpPr>
        <p:spPr>
          <a:xfrm>
            <a:off x="5135727" y="8252460"/>
            <a:ext cx="2133752" cy="169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Arial"/>
              </a:rPr>
              <a:t>Testing / Tuning</a:t>
            </a:r>
          </a:p>
        </p:txBody>
      </p:sp>
      <p:sp>
        <p:nvSpPr>
          <p:cNvPr id="60" name="Footer card"/>
          <p:cNvSpPr/>
          <p:nvPr/>
        </p:nvSpPr>
        <p:spPr>
          <a:xfrm>
            <a:off x="502920" y="8823960"/>
            <a:ext cx="6766560" cy="822960"/>
          </a:xfrm>
          <a:prstGeom prst="roundRect">
            <a:avLst>
              <a:gd name="adj" fmla="val 17777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ooter title"/>
          <p:cNvSpPr txBox="1"/>
          <p:nvPr/>
        </p:nvSpPr>
        <p:spPr>
          <a:xfrm>
            <a:off x="685800" y="8961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FFFFFF"/>
                </a:solidFill>
                <a:latin typeface="Arial"/>
              </a:rPr>
              <a:t>Want to help build it?</a:t>
            </a:r>
          </a:p>
        </p:txBody>
      </p:sp>
      <p:sp>
        <p:nvSpPr>
          <p:cNvPr id="62" name="Footer text"/>
          <p:cNvSpPr txBox="1"/>
          <p:nvPr/>
        </p:nvSpPr>
        <p:spPr>
          <a:xfrm>
            <a:off x="685800" y="9235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BBBBB"/>
                </a:solidFill>
                <a:latin typeface="Arial"/>
              </a:rPr>
              <a:t>We are looking for funds, parts, advisors and people to build our BOM as we design.</a:t>
            </a:r>
          </a:p>
        </p:txBody>
      </p:sp>
      <p:sp>
        <p:nvSpPr>
          <p:cNvPr id="63" name="Footer link"/>
          <p:cNvSpPr txBox="1"/>
          <p:nvPr/>
        </p:nvSpPr>
        <p:spPr>
          <a:xfrm>
            <a:off x="4160520" y="89428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25" b="1">
                <a:solidFill>
                  <a:srgbClr val="FFFFFF"/>
                </a:solidFill>
                <a:latin typeface="Arial"/>
              </a:rPr>
              <a:t>bit.ly/haav</a:t>
            </a:r>
          </a:p>
        </p:txBody>
      </p:sp>
      <p:sp>
        <p:nvSpPr>
          <p:cNvPr id="64" name="Footer contact name"/>
          <p:cNvSpPr txBox="1"/>
          <p:nvPr/>
        </p:nvSpPr>
        <p:spPr>
          <a:xfrm>
            <a:off x="4160520" y="9235440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Marley Barrett, Project lead</a:t>
            </a:r>
          </a:p>
        </p:txBody>
      </p:sp>
      <p:sp>
        <p:nvSpPr>
          <p:cNvPr id="65" name="Footer contact email"/>
          <p:cNvSpPr txBox="1"/>
          <p:nvPr/>
        </p:nvSpPr>
        <p:spPr>
          <a:xfrm>
            <a:off x="4160520" y="940003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BBBBB"/>
                </a:solidFill>
                <a:latin typeface="Arial"/>
              </a:rPr>
              <a:t>mhbarrett@wisc.edu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