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per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48640" y="329184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900" b="1">
                <a:solidFill>
                  <a:srgbClr val="2B2620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48640" y="96926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5A5249"/>
                </a:solidFill>
                <a:latin typeface="Arial"/>
              </a:rPr>
              <a:t>Highly Amphibious / Autonomous Vehicle</a:t>
            </a:r>
          </a:p>
        </p:txBody>
      </p:sp>
      <p:pic>
        <p:nvPicPr>
          <p:cNvPr id="5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038" y="475488"/>
            <a:ext cx="1658829" cy="566928"/>
          </a:xfrm>
          <a:prstGeom prst="rect">
            <a:avLst/>
          </a:prstGeom>
        </p:spPr>
      </p:pic>
      <p:sp>
        <p:nvSpPr>
          <p:cNvPr id="6" name="Headline"/>
          <p:cNvSpPr txBox="1"/>
          <p:nvPr/>
        </p:nvSpPr>
        <p:spPr>
          <a:xfrm>
            <a:off x="548640" y="1600200"/>
            <a:ext cx="3840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550" b="1">
                <a:solidFill>
                  <a:srgbClr val="2B2620"/>
                </a:solidFill>
                <a:latin typeface="Arial"/>
              </a:rPr>
              <a:t>A student team building an autonomous boat from the ground up.</a:t>
            </a:r>
          </a:p>
        </p:txBody>
      </p:sp>
      <p:pic>
        <p:nvPicPr>
          <p:cNvPr id="7" name="Hull render" descr="haav-hull-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4846320" y="1371600"/>
            <a:ext cx="2377440" cy="1993727"/>
          </a:xfrm>
          <a:prstGeom prst="rect">
            <a:avLst/>
          </a:prstGeom>
        </p:spPr>
      </p:pic>
      <p:sp>
        <p:nvSpPr>
          <p:cNvPr id="8" name="Heading: First-principles mixed-integer linear programming"/>
          <p:cNvSpPr txBox="1"/>
          <p:nvPr/>
        </p:nvSpPr>
        <p:spPr>
          <a:xfrm>
            <a:off x="548640" y="3401568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B2620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9" name="Model text"/>
          <p:cNvSpPr txBox="1"/>
          <p:nvPr/>
        </p:nvSpPr>
        <p:spPr>
          <a:xfrm>
            <a:off x="548640" y="3694176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A5249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950" b="1">
                <a:solidFill>
                  <a:srgbClr val="2B2620"/>
                </a:solidFill>
                <a:latin typeface="Arial"/>
              </a:rPr>
              <a:t>Savitsky's planing-hull model</a:t>
            </a:r>
            <a:r>
              <a:rPr sz="950" b="0">
                <a:solidFill>
                  <a:srgbClr val="5A5249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0" name="Heading: Engineers from across UW–Madison"/>
          <p:cNvSpPr txBox="1"/>
          <p:nvPr/>
        </p:nvSpPr>
        <p:spPr>
          <a:xfrm>
            <a:off x="548640" y="4407408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B2620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1" name="Engineers text"/>
          <p:cNvSpPr txBox="1"/>
          <p:nvPr/>
        </p:nvSpPr>
        <p:spPr>
          <a:xfrm>
            <a:off x="548640" y="46817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A5249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2" name="Discipline: Industrial"/>
          <p:cNvSpPr txBox="1"/>
          <p:nvPr/>
        </p:nvSpPr>
        <p:spPr>
          <a:xfrm>
            <a:off x="548640" y="5166360"/>
            <a:ext cx="15430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B2620"/>
                </a:solidFill>
                <a:latin typeface="Arial"/>
              </a:rPr>
              <a:t>Industrial</a:t>
            </a:r>
          </a:p>
        </p:txBody>
      </p:sp>
      <p:sp>
        <p:nvSpPr>
          <p:cNvPr id="13" name="Discipline text: Industrial"/>
          <p:cNvSpPr txBox="1"/>
          <p:nvPr/>
        </p:nvSpPr>
        <p:spPr>
          <a:xfrm>
            <a:off x="548640" y="5349240"/>
            <a:ext cx="145161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14" name="Discipline: Mechanical"/>
          <p:cNvSpPr txBox="1"/>
          <p:nvPr/>
        </p:nvSpPr>
        <p:spPr>
          <a:xfrm>
            <a:off x="2274570" y="5166360"/>
            <a:ext cx="15430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B2620"/>
                </a:solidFill>
                <a:latin typeface="Arial"/>
              </a:rPr>
              <a:t>Mechanical</a:t>
            </a:r>
          </a:p>
        </p:txBody>
      </p:sp>
      <p:sp>
        <p:nvSpPr>
          <p:cNvPr id="15" name="Discipline text: Mechanical"/>
          <p:cNvSpPr txBox="1"/>
          <p:nvPr/>
        </p:nvSpPr>
        <p:spPr>
          <a:xfrm>
            <a:off x="2274570" y="5349240"/>
            <a:ext cx="145161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16" name="Discipline: Electrical"/>
          <p:cNvSpPr txBox="1"/>
          <p:nvPr/>
        </p:nvSpPr>
        <p:spPr>
          <a:xfrm>
            <a:off x="4000500" y="5166360"/>
            <a:ext cx="15430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B2620"/>
                </a:solidFill>
                <a:latin typeface="Arial"/>
              </a:rPr>
              <a:t>Electrical</a:t>
            </a:r>
          </a:p>
        </p:txBody>
      </p:sp>
      <p:sp>
        <p:nvSpPr>
          <p:cNvPr id="17" name="Discipline text: Electrical"/>
          <p:cNvSpPr txBox="1"/>
          <p:nvPr/>
        </p:nvSpPr>
        <p:spPr>
          <a:xfrm>
            <a:off x="4000500" y="5349240"/>
            <a:ext cx="145161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18" name="Discipline: Computer"/>
          <p:cNvSpPr txBox="1"/>
          <p:nvPr/>
        </p:nvSpPr>
        <p:spPr>
          <a:xfrm>
            <a:off x="5726429" y="5166360"/>
            <a:ext cx="15430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B2620"/>
                </a:solidFill>
                <a:latin typeface="Arial"/>
              </a:rPr>
              <a:t>Computer</a:t>
            </a:r>
          </a:p>
        </p:txBody>
      </p:sp>
      <p:sp>
        <p:nvSpPr>
          <p:cNvPr id="19" name="Discipline text: Computer"/>
          <p:cNvSpPr txBox="1"/>
          <p:nvPr/>
        </p:nvSpPr>
        <p:spPr>
          <a:xfrm>
            <a:off x="5726429" y="5349240"/>
            <a:ext cx="145161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20" name="Heading: Our approach"/>
          <p:cNvSpPr txBox="1"/>
          <p:nvPr/>
        </p:nvSpPr>
        <p:spPr>
          <a:xfrm>
            <a:off x="548640" y="585216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B2620"/>
                </a:solidFill>
                <a:latin typeface="Arial"/>
              </a:rPr>
              <a:t>Our approach</a:t>
            </a:r>
          </a:p>
        </p:txBody>
      </p:sp>
      <p:sp>
        <p:nvSpPr>
          <p:cNvPr id="21" name="Part: Hull"/>
          <p:cNvSpPr txBox="1"/>
          <p:nvPr/>
        </p:nvSpPr>
        <p:spPr>
          <a:xfrm>
            <a:off x="548640" y="6181344"/>
            <a:ext cx="20522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B2620"/>
                </a:solidFill>
                <a:latin typeface="Arial"/>
              </a:rPr>
              <a:t>Hull</a:t>
            </a:r>
          </a:p>
        </p:txBody>
      </p:sp>
      <p:sp>
        <p:nvSpPr>
          <p:cNvPr id="22" name="Part tagline: Hull"/>
          <p:cNvSpPr txBox="1"/>
          <p:nvPr/>
        </p:nvSpPr>
        <p:spPr>
          <a:xfrm>
            <a:off x="548640" y="6382512"/>
            <a:ext cx="205221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B2620"/>
                </a:solidFill>
                <a:latin typeface="Arial"/>
              </a:rPr>
              <a:t>Plane well and stay light.</a:t>
            </a:r>
          </a:p>
        </p:txBody>
      </p:sp>
      <p:sp>
        <p:nvSpPr>
          <p:cNvPr id="23" name="Part points: Hull"/>
          <p:cNvSpPr txBox="1"/>
          <p:nvPr/>
        </p:nvSpPr>
        <p:spPr>
          <a:xfrm>
            <a:off x="548640" y="6601968"/>
            <a:ext cx="20522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24" name="Part: Electric"/>
          <p:cNvSpPr txBox="1"/>
          <p:nvPr/>
        </p:nvSpPr>
        <p:spPr>
          <a:xfrm>
            <a:off x="2875178" y="6181344"/>
            <a:ext cx="20522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B2620"/>
                </a:solidFill>
                <a:latin typeface="Arial"/>
              </a:rPr>
              <a:t>Electric</a:t>
            </a:r>
          </a:p>
        </p:txBody>
      </p:sp>
      <p:sp>
        <p:nvSpPr>
          <p:cNvPr id="25" name="Part tagline: Electric"/>
          <p:cNvSpPr txBox="1"/>
          <p:nvPr/>
        </p:nvSpPr>
        <p:spPr>
          <a:xfrm>
            <a:off x="2875178" y="6382512"/>
            <a:ext cx="205221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B2620"/>
                </a:solidFill>
                <a:latin typeface="Arial"/>
              </a:rPr>
              <a:t>Every watt-hour to speed.</a:t>
            </a:r>
          </a:p>
        </p:txBody>
      </p:sp>
      <p:sp>
        <p:nvSpPr>
          <p:cNvPr id="26" name="Part points: Electric"/>
          <p:cNvSpPr txBox="1"/>
          <p:nvPr/>
        </p:nvSpPr>
        <p:spPr>
          <a:xfrm>
            <a:off x="2875178" y="6601968"/>
            <a:ext cx="20522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27" name="Part: Autonomous"/>
          <p:cNvSpPr txBox="1"/>
          <p:nvPr/>
        </p:nvSpPr>
        <p:spPr>
          <a:xfrm>
            <a:off x="5201716" y="6181344"/>
            <a:ext cx="20522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B2620"/>
                </a:solidFill>
                <a:latin typeface="Arial"/>
              </a:rPr>
              <a:t>Autonomous</a:t>
            </a:r>
          </a:p>
        </p:txBody>
      </p:sp>
      <p:sp>
        <p:nvSpPr>
          <p:cNvPr id="28" name="Part tagline: Autonomous"/>
          <p:cNvSpPr txBox="1"/>
          <p:nvPr/>
        </p:nvSpPr>
        <p:spPr>
          <a:xfrm>
            <a:off x="5201716" y="6382512"/>
            <a:ext cx="205221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B2620"/>
                </a:solidFill>
                <a:latin typeface="Arial"/>
              </a:rPr>
              <a:t>Manage drift and controls.</a:t>
            </a:r>
          </a:p>
        </p:txBody>
      </p:sp>
      <p:sp>
        <p:nvSpPr>
          <p:cNvPr id="29" name="Part points: Autonomous"/>
          <p:cNvSpPr txBox="1"/>
          <p:nvPr/>
        </p:nvSpPr>
        <p:spPr>
          <a:xfrm>
            <a:off x="5201716" y="6601968"/>
            <a:ext cx="20522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20000"/>
              </a:lnSpc>
            </a:pPr>
            <a:r>
              <a:rPr sz="900" b="0">
                <a:solidFill>
                  <a:srgbClr val="5A5249"/>
                </a:solidFill>
                <a:latin typeface="Arial"/>
              </a:rPr>
              <a:t>Software plans the route</a:t>
            </a:r>
          </a:p>
        </p:txBody>
      </p:sp>
      <p:sp>
        <p:nvSpPr>
          <p:cNvPr id="30" name="Heading: Timeline"/>
          <p:cNvSpPr txBox="1"/>
          <p:nvPr/>
        </p:nvSpPr>
        <p:spPr>
          <a:xfrm>
            <a:off x="548640" y="7150608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B2620"/>
                </a:solidFill>
                <a:latin typeface="Arial"/>
              </a:rPr>
              <a:t>Timeline</a:t>
            </a:r>
          </a:p>
        </p:txBody>
      </p:sp>
      <p:sp>
        <p:nvSpPr>
          <p:cNvPr id="31" name="Timeline date: Hull design frozen"/>
          <p:cNvSpPr txBox="1"/>
          <p:nvPr/>
        </p:nvSpPr>
        <p:spPr>
          <a:xfrm>
            <a:off x="548640" y="7488936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C5050C"/>
                </a:solidFill>
                <a:latin typeface="Arial"/>
              </a:rPr>
              <a:t>Oct 25</a:t>
            </a:r>
          </a:p>
        </p:txBody>
      </p:sp>
      <p:sp>
        <p:nvSpPr>
          <p:cNvPr id="32" name="Timeline label: Hull design frozen"/>
          <p:cNvSpPr txBox="1"/>
          <p:nvPr/>
        </p:nvSpPr>
        <p:spPr>
          <a:xfrm>
            <a:off x="1709928" y="7488936"/>
            <a:ext cx="2024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5A5249"/>
                </a:solidFill>
                <a:latin typeface="Arial"/>
              </a:rPr>
              <a:t>Hull design frozen</a:t>
            </a:r>
          </a:p>
        </p:txBody>
      </p:sp>
      <p:sp>
        <p:nvSpPr>
          <p:cNvPr id="33" name="Timeline date: Preliminary design review"/>
          <p:cNvSpPr txBox="1"/>
          <p:nvPr/>
        </p:nvSpPr>
        <p:spPr>
          <a:xfrm>
            <a:off x="548640" y="7671815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C5050C"/>
                </a:solidFill>
                <a:latin typeface="Arial"/>
              </a:rPr>
              <a:t>Nov 1</a:t>
            </a:r>
          </a:p>
        </p:txBody>
      </p:sp>
      <p:sp>
        <p:nvSpPr>
          <p:cNvPr id="34" name="Timeline label: Preliminary design review"/>
          <p:cNvSpPr txBox="1"/>
          <p:nvPr/>
        </p:nvSpPr>
        <p:spPr>
          <a:xfrm>
            <a:off x="1709928" y="7671815"/>
            <a:ext cx="2024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5A5249"/>
                </a:solidFill>
                <a:latin typeface="Arial"/>
              </a:rPr>
              <a:t>Preliminary design review</a:t>
            </a:r>
          </a:p>
        </p:txBody>
      </p:sp>
      <p:sp>
        <p:nvSpPr>
          <p:cNvPr id="35" name="Timeline date: Critical and long-lead parts are ordered"/>
          <p:cNvSpPr txBox="1"/>
          <p:nvPr/>
        </p:nvSpPr>
        <p:spPr>
          <a:xfrm>
            <a:off x="548640" y="7854695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C5050C"/>
                </a:solidFill>
                <a:latin typeface="Arial"/>
              </a:rPr>
              <a:t>Nov 10</a:t>
            </a:r>
          </a:p>
        </p:txBody>
      </p:sp>
      <p:sp>
        <p:nvSpPr>
          <p:cNvPr id="36" name="Timeline label: Critical and long-lead parts are ordered"/>
          <p:cNvSpPr txBox="1"/>
          <p:nvPr/>
        </p:nvSpPr>
        <p:spPr>
          <a:xfrm>
            <a:off x="1709928" y="7854695"/>
            <a:ext cx="2024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5A5249"/>
                </a:solidFill>
                <a:latin typeface="Arial"/>
              </a:rPr>
              <a:t>Critical and long-lead parts are ordered</a:t>
            </a:r>
          </a:p>
        </p:txBody>
      </p:sp>
      <p:sp>
        <p:nvSpPr>
          <p:cNvPr id="37" name="Timeline date: Mechanical and electrical design frozen"/>
          <p:cNvSpPr txBox="1"/>
          <p:nvPr/>
        </p:nvSpPr>
        <p:spPr>
          <a:xfrm>
            <a:off x="548640" y="8037575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C5050C"/>
                </a:solidFill>
                <a:latin typeface="Arial"/>
              </a:rPr>
              <a:t>Nov 20</a:t>
            </a:r>
          </a:p>
        </p:txBody>
      </p:sp>
      <p:sp>
        <p:nvSpPr>
          <p:cNvPr id="38" name="Timeline label: Mechanical and electrical design frozen"/>
          <p:cNvSpPr txBox="1"/>
          <p:nvPr/>
        </p:nvSpPr>
        <p:spPr>
          <a:xfrm>
            <a:off x="1709928" y="8037575"/>
            <a:ext cx="2024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5A5249"/>
                </a:solidFill>
                <a:latin typeface="Arial"/>
              </a:rPr>
              <a:t>Mechanical and electrical design frozen</a:t>
            </a:r>
          </a:p>
        </p:txBody>
      </p:sp>
      <p:sp>
        <p:nvSpPr>
          <p:cNvPr id="39" name="Timeline date: Build the hull, composite parts and any custom-milled parts"/>
          <p:cNvSpPr txBox="1"/>
          <p:nvPr/>
        </p:nvSpPr>
        <p:spPr>
          <a:xfrm>
            <a:off x="548640" y="8220455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C5050C"/>
                </a:solidFill>
                <a:latin typeface="Arial"/>
              </a:rPr>
              <a:t>Nov 20–Dec 20</a:t>
            </a:r>
          </a:p>
        </p:txBody>
      </p:sp>
      <p:sp>
        <p:nvSpPr>
          <p:cNvPr id="40" name="Timeline label: Build the hull, composite parts and any custom-milled parts"/>
          <p:cNvSpPr txBox="1"/>
          <p:nvPr/>
        </p:nvSpPr>
        <p:spPr>
          <a:xfrm>
            <a:off x="1709928" y="8220455"/>
            <a:ext cx="20240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5A5249"/>
                </a:solidFill>
                <a:latin typeface="Arial"/>
              </a:rPr>
              <a:t>Build the hull, composite parts and any custom-milled parts</a:t>
            </a:r>
          </a:p>
        </p:txBody>
      </p:sp>
      <p:sp>
        <p:nvSpPr>
          <p:cNvPr id="41" name="Timeline date: First float and tow test"/>
          <p:cNvSpPr txBox="1"/>
          <p:nvPr/>
        </p:nvSpPr>
        <p:spPr>
          <a:xfrm>
            <a:off x="548640" y="8531351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C5050C"/>
                </a:solidFill>
                <a:latin typeface="Arial"/>
              </a:rPr>
              <a:t>Jan 8</a:t>
            </a:r>
          </a:p>
        </p:txBody>
      </p:sp>
      <p:sp>
        <p:nvSpPr>
          <p:cNvPr id="42" name="Timeline label: First float and tow test"/>
          <p:cNvSpPr txBox="1"/>
          <p:nvPr/>
        </p:nvSpPr>
        <p:spPr>
          <a:xfrm>
            <a:off x="1709928" y="8531351"/>
            <a:ext cx="2024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5A5249"/>
                </a:solidFill>
                <a:latin typeface="Arial"/>
              </a:rPr>
              <a:t>First float and tow test</a:t>
            </a:r>
          </a:p>
        </p:txBody>
      </p:sp>
      <p:sp>
        <p:nvSpPr>
          <p:cNvPr id="43" name="Timeline date: Manufacture and assemble everything"/>
          <p:cNvSpPr txBox="1"/>
          <p:nvPr/>
        </p:nvSpPr>
        <p:spPr>
          <a:xfrm>
            <a:off x="4038447" y="7488936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C5050C"/>
                </a:solidFill>
                <a:latin typeface="Arial"/>
              </a:rPr>
              <a:t>Jan 8–30</a:t>
            </a:r>
          </a:p>
        </p:txBody>
      </p:sp>
      <p:sp>
        <p:nvSpPr>
          <p:cNvPr id="44" name="Timeline label: Manufacture and assemble everything"/>
          <p:cNvSpPr txBox="1"/>
          <p:nvPr/>
        </p:nvSpPr>
        <p:spPr>
          <a:xfrm>
            <a:off x="5199735" y="7488936"/>
            <a:ext cx="2024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5A5249"/>
                </a:solidFill>
                <a:latin typeface="Arial"/>
              </a:rPr>
              <a:t>Manufacture and assemble everything</a:t>
            </a:r>
          </a:p>
        </p:txBody>
      </p:sp>
      <p:sp>
        <p:nvSpPr>
          <p:cNvPr id="45" name="Timeline date: Build likely spare parts, in parallel"/>
          <p:cNvSpPr txBox="1"/>
          <p:nvPr/>
        </p:nvSpPr>
        <p:spPr>
          <a:xfrm>
            <a:off x="4038447" y="7671815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C5050C"/>
                </a:solidFill>
                <a:latin typeface="Arial"/>
              </a:rPr>
              <a:t>Jan 8–30</a:t>
            </a:r>
          </a:p>
        </p:txBody>
      </p:sp>
      <p:sp>
        <p:nvSpPr>
          <p:cNvPr id="46" name="Timeline label: Build likely spare parts, in parallel"/>
          <p:cNvSpPr txBox="1"/>
          <p:nvPr/>
        </p:nvSpPr>
        <p:spPr>
          <a:xfrm>
            <a:off x="5199735" y="7671815"/>
            <a:ext cx="2024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5A5249"/>
                </a:solidFill>
                <a:latin typeface="Arial"/>
              </a:rPr>
              <a:t>Build likely spare parts, in parallel</a:t>
            </a:r>
          </a:p>
        </p:txBody>
      </p:sp>
      <p:sp>
        <p:nvSpPr>
          <p:cNvPr id="47" name="Timeline date: First nautical mile"/>
          <p:cNvSpPr txBox="1"/>
          <p:nvPr/>
        </p:nvSpPr>
        <p:spPr>
          <a:xfrm>
            <a:off x="4038447" y="7854695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C5050C"/>
                </a:solidFill>
                <a:latin typeface="Arial"/>
              </a:rPr>
              <a:t>Jan 31</a:t>
            </a:r>
          </a:p>
        </p:txBody>
      </p:sp>
      <p:sp>
        <p:nvSpPr>
          <p:cNvPr id="48" name="Timeline label: First nautical mile"/>
          <p:cNvSpPr txBox="1"/>
          <p:nvPr/>
        </p:nvSpPr>
        <p:spPr>
          <a:xfrm>
            <a:off x="5199735" y="7854695"/>
            <a:ext cx="2024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5A5249"/>
                </a:solidFill>
                <a:latin typeface="Arial"/>
              </a:rPr>
              <a:t>First nautical mile</a:t>
            </a:r>
          </a:p>
        </p:txBody>
      </p:sp>
      <p:sp>
        <p:nvSpPr>
          <p:cNvPr id="49" name="Timeline date: Slow drives on the water"/>
          <p:cNvSpPr txBox="1"/>
          <p:nvPr/>
        </p:nvSpPr>
        <p:spPr>
          <a:xfrm>
            <a:off x="4038447" y="8037575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C5050C"/>
                </a:solidFill>
                <a:latin typeface="Arial"/>
              </a:rPr>
              <a:t>Feb 1–14</a:t>
            </a:r>
          </a:p>
        </p:txBody>
      </p:sp>
      <p:sp>
        <p:nvSpPr>
          <p:cNvPr id="50" name="Timeline label: Slow drives on the water"/>
          <p:cNvSpPr txBox="1"/>
          <p:nvPr/>
        </p:nvSpPr>
        <p:spPr>
          <a:xfrm>
            <a:off x="5199735" y="8037575"/>
            <a:ext cx="2024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5A5249"/>
                </a:solidFill>
                <a:latin typeface="Arial"/>
              </a:rPr>
              <a:t>Slow drives on the water</a:t>
            </a:r>
          </a:p>
        </p:txBody>
      </p:sp>
      <p:sp>
        <p:nvSpPr>
          <p:cNvPr id="51" name="Timeline date: Start increasing speed"/>
          <p:cNvSpPr txBox="1"/>
          <p:nvPr/>
        </p:nvSpPr>
        <p:spPr>
          <a:xfrm>
            <a:off x="4038447" y="8220455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C5050C"/>
                </a:solidFill>
                <a:latin typeface="Arial"/>
              </a:rPr>
              <a:t>Feb 15</a:t>
            </a:r>
          </a:p>
        </p:txBody>
      </p:sp>
      <p:sp>
        <p:nvSpPr>
          <p:cNvPr id="52" name="Timeline label: Start increasing speed"/>
          <p:cNvSpPr txBox="1"/>
          <p:nvPr/>
        </p:nvSpPr>
        <p:spPr>
          <a:xfrm>
            <a:off x="5199735" y="8220455"/>
            <a:ext cx="2024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5A5249"/>
                </a:solidFill>
                <a:latin typeface="Arial"/>
              </a:rPr>
              <a:t>Start increasing speed</a:t>
            </a:r>
          </a:p>
        </p:txBody>
      </p:sp>
      <p:sp>
        <p:nvSpPr>
          <p:cNvPr id="53" name="Timeline date: Testing / Tuning"/>
          <p:cNvSpPr txBox="1"/>
          <p:nvPr/>
        </p:nvSpPr>
        <p:spPr>
          <a:xfrm>
            <a:off x="4038447" y="8403335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C5050C"/>
                </a:solidFill>
                <a:latin typeface="Arial"/>
              </a:rPr>
              <a:t>Until April</a:t>
            </a:r>
          </a:p>
        </p:txBody>
      </p:sp>
      <p:sp>
        <p:nvSpPr>
          <p:cNvPr id="54" name="Timeline label: Testing / Tuning"/>
          <p:cNvSpPr txBox="1"/>
          <p:nvPr/>
        </p:nvSpPr>
        <p:spPr>
          <a:xfrm>
            <a:off x="5199735" y="8403335"/>
            <a:ext cx="2024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5A5249"/>
                </a:solidFill>
                <a:latin typeface="Arial"/>
              </a:rPr>
              <a:t>Testing / Tuning</a:t>
            </a:r>
          </a:p>
        </p:txBody>
      </p:sp>
      <p:sp>
        <p:nvSpPr>
          <p:cNvPr id="55" name="Heading: Want to help build it?"/>
          <p:cNvSpPr txBox="1"/>
          <p:nvPr/>
        </p:nvSpPr>
        <p:spPr>
          <a:xfrm>
            <a:off x="548640" y="8906256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>
                <a:solidFill>
                  <a:srgbClr val="2B2620"/>
                </a:solidFill>
                <a:latin typeface="Arial"/>
              </a:rPr>
              <a:t>Want to help build it?</a:t>
            </a:r>
          </a:p>
        </p:txBody>
      </p:sp>
      <p:sp>
        <p:nvSpPr>
          <p:cNvPr id="56" name="Footer text"/>
          <p:cNvSpPr txBox="1"/>
          <p:nvPr/>
        </p:nvSpPr>
        <p:spPr>
          <a:xfrm>
            <a:off x="548640" y="9235440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A5249"/>
                </a:solidFill>
                <a:latin typeface="Arial"/>
              </a:rPr>
              <a:t>We are looking for funds, parts, advisors and people to build our BOM as we design.</a:t>
            </a:r>
          </a:p>
        </p:txBody>
      </p:sp>
      <p:sp>
        <p:nvSpPr>
          <p:cNvPr id="57" name="Footer link"/>
          <p:cNvSpPr txBox="1"/>
          <p:nvPr/>
        </p:nvSpPr>
        <p:spPr>
          <a:xfrm>
            <a:off x="4297680" y="888796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50" b="1">
                <a:solidFill>
                  <a:srgbClr val="C5050C"/>
                </a:solidFill>
                <a:latin typeface="Arial"/>
              </a:rPr>
              <a:t>bit.ly/haav</a:t>
            </a:r>
          </a:p>
        </p:txBody>
      </p:sp>
      <p:sp>
        <p:nvSpPr>
          <p:cNvPr id="58" name="Footer contact name"/>
          <p:cNvSpPr txBox="1"/>
          <p:nvPr/>
        </p:nvSpPr>
        <p:spPr>
          <a:xfrm>
            <a:off x="4297680" y="9235440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B2620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59" name="Footer contact email"/>
          <p:cNvSpPr txBox="1"/>
          <p:nvPr/>
        </p:nvSpPr>
        <p:spPr>
          <a:xfrm>
            <a:off x="4297680" y="9418320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5A5249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