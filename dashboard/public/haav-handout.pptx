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 band"/>
          <p:cNvSpPr/>
          <p:nvPr/>
        </p:nvSpPr>
        <p:spPr>
          <a:xfrm>
            <a:off x="0" y="0"/>
            <a:ext cx="7772400" cy="91440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384048" y="14630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Haav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384048" y="658368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HIGHLY AMPHIBIOUS / AUTONOMOUS VEHICLE</a:t>
            </a:r>
          </a:p>
        </p:txBody>
      </p:sp>
      <p:sp>
        <p:nvSpPr>
          <p:cNvPr id="5" name="Logo plate"/>
          <p:cNvSpPr/>
          <p:nvPr/>
        </p:nvSpPr>
        <p:spPr>
          <a:xfrm>
            <a:off x="5522976" y="109728"/>
            <a:ext cx="1865376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UW-Madison logo" descr="uw-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8" y="155448"/>
            <a:ext cx="1765850" cy="603504"/>
          </a:xfrm>
          <a:prstGeom prst="rect">
            <a:avLst/>
          </a:prstGeom>
        </p:spPr>
      </p:pic>
      <p:sp>
        <p:nvSpPr>
          <p:cNvPr id="7" name="Headline"/>
          <p:cNvSpPr txBox="1"/>
          <p:nvPr/>
        </p:nvSpPr>
        <p:spPr>
          <a:xfrm>
            <a:off x="384048" y="1005840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>
                <a:solidFill>
                  <a:srgbClr val="18181B"/>
                </a:solidFill>
                <a:latin typeface="Arial"/>
              </a:rPr>
              <a:t>A student team building an autonomous boat from the ground up.</a:t>
            </a:r>
          </a:p>
        </p:txBody>
      </p:sp>
      <p:sp>
        <p:nvSpPr>
          <p:cNvPr id="8" name="Hull frame"/>
          <p:cNvSpPr/>
          <p:nvPr/>
        </p:nvSpPr>
        <p:spPr>
          <a:xfrm>
            <a:off x="4663440" y="1024128"/>
            <a:ext cx="2724912" cy="100584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Hull render" descr="h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1051560"/>
            <a:ext cx="1134001" cy="950976"/>
          </a:xfrm>
          <a:prstGeom prst="rect">
            <a:avLst/>
          </a:prstGeom>
        </p:spPr>
      </p:pic>
      <p:sp>
        <p:nvSpPr>
          <p:cNvPr id="10" name="Label: How we model it"/>
          <p:cNvSpPr txBox="1"/>
          <p:nvPr/>
        </p:nvSpPr>
        <p:spPr>
          <a:xfrm>
            <a:off x="384048" y="2157984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HOW WE MODEL IT</a:t>
            </a:r>
          </a:p>
        </p:txBody>
      </p:sp>
      <p:sp>
        <p:nvSpPr>
          <p:cNvPr id="11" name="Model panel"/>
          <p:cNvSpPr/>
          <p:nvPr/>
        </p:nvSpPr>
        <p:spPr>
          <a:xfrm>
            <a:off x="384048" y="2340864"/>
            <a:ext cx="7004304" cy="987552"/>
          </a:xfrm>
          <a:prstGeom prst="roundRect">
            <a:avLst>
              <a:gd name="adj" fmla="val 9259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Model title"/>
          <p:cNvSpPr txBox="1"/>
          <p:nvPr/>
        </p:nvSpPr>
        <p:spPr>
          <a:xfrm>
            <a:off x="548640" y="2414016"/>
            <a:ext cx="6675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18181B"/>
                </a:solidFill>
                <a:latin typeface="Arial"/>
              </a:rPr>
              <a:t>First-principles mixed-integer linear programming</a:t>
            </a:r>
          </a:p>
        </p:txBody>
      </p:sp>
      <p:sp>
        <p:nvSpPr>
          <p:cNvPr id="13" name="Model text"/>
          <p:cNvSpPr txBox="1"/>
          <p:nvPr/>
        </p:nvSpPr>
        <p:spPr>
          <a:xfrm>
            <a:off x="548640" y="2688336"/>
            <a:ext cx="6675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We build the model from physics up. Each constraint cuts the space of possible boats, and the optimizer finds the fastest one left. Hull resistance comes from </a:t>
            </a:r>
            <a:r>
              <a:rPr sz="900" b="1">
                <a:solidFill>
                  <a:srgbClr val="3F3F46"/>
                </a:solidFill>
                <a:latin typeface="Arial"/>
              </a:rPr>
              <a:t>Savitsky's planing-hull model</a:t>
            </a:r>
            <a:r>
              <a:rPr sz="900" b="0">
                <a:solidFill>
                  <a:srgbClr val="3F3F46"/>
                </a:solidFill>
                <a:latin typeface="Arial"/>
              </a:rPr>
              <a:t>. As we build and test, we keep updating the model and adding constraints: a hybrid of simulation and empirical data.</a:t>
            </a:r>
          </a:p>
        </p:txBody>
      </p:sp>
      <p:sp>
        <p:nvSpPr>
          <p:cNvPr id="14" name="Label: Engineers from across UW–Madison"/>
          <p:cNvSpPr txBox="1"/>
          <p:nvPr/>
        </p:nvSpPr>
        <p:spPr>
          <a:xfrm>
            <a:off x="384048" y="3474720"/>
            <a:ext cx="4114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ENGINEERS FROM ACROSS UW–MADISON</a:t>
            </a:r>
          </a:p>
        </p:txBody>
      </p:sp>
      <p:sp>
        <p:nvSpPr>
          <p:cNvPr id="15" name="Engineers text"/>
          <p:cNvSpPr txBox="1"/>
          <p:nvPr/>
        </p:nvSpPr>
        <p:spPr>
          <a:xfrm>
            <a:off x="3566160" y="3474720"/>
            <a:ext cx="382219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3F3F46"/>
                </a:solidFill>
                <a:latin typeface="Arial"/>
              </a:rPr>
              <a:t>Experience at Tesla, Northrop Grumman, Xcel Energy and Milwaukee Tool</a:t>
            </a:r>
          </a:p>
        </p:txBody>
      </p:sp>
      <p:sp>
        <p:nvSpPr>
          <p:cNvPr id="16" name="Tile: Industrial"/>
          <p:cNvSpPr/>
          <p:nvPr/>
        </p:nvSpPr>
        <p:spPr>
          <a:xfrm>
            <a:off x="384048" y="3675887"/>
            <a:ext cx="1655064" cy="640080"/>
          </a:xfrm>
          <a:prstGeom prst="roundRect">
            <a:avLst>
              <a:gd name="adj" fmla="val 1000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ile title: Industrial"/>
          <p:cNvSpPr txBox="1"/>
          <p:nvPr/>
        </p:nvSpPr>
        <p:spPr>
          <a:xfrm>
            <a:off x="484632" y="3730752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C5050C"/>
                </a:solidFill>
                <a:latin typeface="Arial"/>
              </a:rPr>
              <a:t>Industrial</a:t>
            </a:r>
          </a:p>
        </p:txBody>
      </p:sp>
      <p:sp>
        <p:nvSpPr>
          <p:cNvPr id="18" name="Tile text: Industrial"/>
          <p:cNvSpPr txBox="1"/>
          <p:nvPr/>
        </p:nvSpPr>
        <p:spPr>
          <a:xfrm>
            <a:off x="484632" y="3931920"/>
            <a:ext cx="14721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3F3F46"/>
                </a:solidFill>
                <a:latin typeface="Arial"/>
              </a:rPr>
              <a:t>Optimization, composites and manufacturing</a:t>
            </a:r>
          </a:p>
        </p:txBody>
      </p:sp>
      <p:sp>
        <p:nvSpPr>
          <p:cNvPr id="19" name="Tile: Mechanical"/>
          <p:cNvSpPr/>
          <p:nvPr/>
        </p:nvSpPr>
        <p:spPr>
          <a:xfrm>
            <a:off x="2157984" y="3675887"/>
            <a:ext cx="1655064" cy="640080"/>
          </a:xfrm>
          <a:prstGeom prst="roundRect">
            <a:avLst>
              <a:gd name="adj" fmla="val 1000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ile title: Mechanical"/>
          <p:cNvSpPr txBox="1"/>
          <p:nvPr/>
        </p:nvSpPr>
        <p:spPr>
          <a:xfrm>
            <a:off x="2258568" y="3730752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C5050C"/>
                </a:solidFill>
                <a:latin typeface="Arial"/>
              </a:rPr>
              <a:t>Mechanical</a:t>
            </a:r>
          </a:p>
        </p:txBody>
      </p:sp>
      <p:sp>
        <p:nvSpPr>
          <p:cNvPr id="21" name="Tile text: Mechanical"/>
          <p:cNvSpPr txBox="1"/>
          <p:nvPr/>
        </p:nvSpPr>
        <p:spPr>
          <a:xfrm>
            <a:off x="2258568" y="3931920"/>
            <a:ext cx="14721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3F3F46"/>
                </a:solidFill>
                <a:latin typeface="Arial"/>
              </a:rPr>
              <a:t>Structures, CAD and fabrication</a:t>
            </a:r>
          </a:p>
        </p:txBody>
      </p:sp>
      <p:sp>
        <p:nvSpPr>
          <p:cNvPr id="22" name="Tile: Electrical"/>
          <p:cNvSpPr/>
          <p:nvPr/>
        </p:nvSpPr>
        <p:spPr>
          <a:xfrm>
            <a:off x="3931920" y="3675887"/>
            <a:ext cx="1655064" cy="640080"/>
          </a:xfrm>
          <a:prstGeom prst="roundRect">
            <a:avLst>
              <a:gd name="adj" fmla="val 1000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ile title: Electrical"/>
          <p:cNvSpPr txBox="1"/>
          <p:nvPr/>
        </p:nvSpPr>
        <p:spPr>
          <a:xfrm>
            <a:off x="4032504" y="3730752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C5050C"/>
                </a:solidFill>
                <a:latin typeface="Arial"/>
              </a:rPr>
              <a:t>Electrical</a:t>
            </a:r>
          </a:p>
        </p:txBody>
      </p:sp>
      <p:sp>
        <p:nvSpPr>
          <p:cNvPr id="24" name="Tile text: Electrical"/>
          <p:cNvSpPr txBox="1"/>
          <p:nvPr/>
        </p:nvSpPr>
        <p:spPr>
          <a:xfrm>
            <a:off x="4032504" y="3931920"/>
            <a:ext cx="14721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3F3F46"/>
                </a:solidFill>
                <a:latin typeface="Arial"/>
              </a:rPr>
              <a:t>Power, battery and high voltage</a:t>
            </a:r>
          </a:p>
        </p:txBody>
      </p:sp>
      <p:sp>
        <p:nvSpPr>
          <p:cNvPr id="25" name="Tile: Computer"/>
          <p:cNvSpPr/>
          <p:nvPr/>
        </p:nvSpPr>
        <p:spPr>
          <a:xfrm>
            <a:off x="5705856" y="3675887"/>
            <a:ext cx="1655064" cy="640080"/>
          </a:xfrm>
          <a:prstGeom prst="roundRect">
            <a:avLst>
              <a:gd name="adj" fmla="val 1000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ile title: Computer"/>
          <p:cNvSpPr txBox="1"/>
          <p:nvPr/>
        </p:nvSpPr>
        <p:spPr>
          <a:xfrm>
            <a:off x="5806440" y="3730752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C5050C"/>
                </a:solidFill>
                <a:latin typeface="Arial"/>
              </a:rPr>
              <a:t>Computer</a:t>
            </a:r>
          </a:p>
        </p:txBody>
      </p:sp>
      <p:sp>
        <p:nvSpPr>
          <p:cNvPr id="27" name="Tile text: Computer"/>
          <p:cNvSpPr txBox="1"/>
          <p:nvPr/>
        </p:nvSpPr>
        <p:spPr>
          <a:xfrm>
            <a:off x="5806440" y="3931920"/>
            <a:ext cx="14721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3F3F46"/>
                </a:solidFill>
                <a:latin typeface="Arial"/>
              </a:rPr>
              <a:t>Embedded, firmware and software</a:t>
            </a:r>
          </a:p>
        </p:txBody>
      </p:sp>
      <p:sp>
        <p:nvSpPr>
          <p:cNvPr id="28" name="Label: Our approach"/>
          <p:cNvSpPr txBox="1"/>
          <p:nvPr/>
        </p:nvSpPr>
        <p:spPr>
          <a:xfrm>
            <a:off x="384048" y="448056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OUR APPROACH</a:t>
            </a:r>
          </a:p>
        </p:txBody>
      </p:sp>
      <p:sp>
        <p:nvSpPr>
          <p:cNvPr id="29" name="Card: Hull"/>
          <p:cNvSpPr/>
          <p:nvPr/>
        </p:nvSpPr>
        <p:spPr>
          <a:xfrm>
            <a:off x="384048" y="4681728"/>
            <a:ext cx="2240280" cy="1389888"/>
          </a:xfrm>
          <a:prstGeom prst="roundRect">
            <a:avLst>
              <a:gd name="adj" fmla="val 6578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ard title: Hull"/>
          <p:cNvSpPr txBox="1"/>
          <p:nvPr/>
        </p:nvSpPr>
        <p:spPr>
          <a:xfrm>
            <a:off x="521207" y="4736592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8181B"/>
                </a:solidFill>
                <a:latin typeface="Arial"/>
              </a:rPr>
              <a:t>Hull</a:t>
            </a:r>
          </a:p>
        </p:txBody>
      </p:sp>
      <p:sp>
        <p:nvSpPr>
          <p:cNvPr id="31" name="Card strategy: Hull"/>
          <p:cNvSpPr txBox="1"/>
          <p:nvPr/>
        </p:nvSpPr>
        <p:spPr>
          <a:xfrm>
            <a:off x="521207" y="5029200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8181B"/>
                </a:solidFill>
                <a:latin typeface="Arial"/>
              </a:rPr>
              <a:t>Plane well and stay light.</a:t>
            </a:r>
          </a:p>
        </p:txBody>
      </p:sp>
      <p:sp>
        <p:nvSpPr>
          <p:cNvPr id="32" name="Card rule: Hull"/>
          <p:cNvSpPr/>
          <p:nvPr/>
        </p:nvSpPr>
        <p:spPr>
          <a:xfrm>
            <a:off x="521207" y="5285232"/>
            <a:ext cx="1965960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ard points: Hull"/>
          <p:cNvSpPr txBox="1"/>
          <p:nvPr/>
        </p:nvSpPr>
        <p:spPr>
          <a:xfrm>
            <a:off x="521207" y="5358384"/>
            <a:ext cx="1965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850" b="0">
                <a:solidFill>
                  <a:srgbClr val="3F3F46"/>
                </a:solidFill>
                <a:latin typeface="Arial"/>
              </a:rPr>
              <a:t>Hybrid planing composite hull</a:t>
            </a:r>
          </a:p>
          <a:p>
            <a:pPr algn="l">
              <a:lnSpc>
                <a:spcPct val="150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850" b="0">
                <a:solidFill>
                  <a:srgbClr val="3F3F46"/>
                </a:solidFill>
                <a:latin typeface="Arial"/>
              </a:rPr>
              <a:t>Shape tuned by optimization</a:t>
            </a:r>
          </a:p>
          <a:p>
            <a:pPr algn="l">
              <a:lnSpc>
                <a:spcPct val="150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850" b="0">
                <a:solidFill>
                  <a:srgbClr val="3F3F46"/>
                </a:solidFill>
                <a:latin typeface="Arial"/>
              </a:rPr>
              <a:t>Resistance checked in CFD first</a:t>
            </a:r>
          </a:p>
        </p:txBody>
      </p:sp>
      <p:sp>
        <p:nvSpPr>
          <p:cNvPr id="34" name="Card: Electric"/>
          <p:cNvSpPr/>
          <p:nvPr/>
        </p:nvSpPr>
        <p:spPr>
          <a:xfrm>
            <a:off x="2743200" y="4681728"/>
            <a:ext cx="2240280" cy="1389888"/>
          </a:xfrm>
          <a:prstGeom prst="roundRect">
            <a:avLst>
              <a:gd name="adj" fmla="val 6578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ard title: Electric"/>
          <p:cNvSpPr txBox="1"/>
          <p:nvPr/>
        </p:nvSpPr>
        <p:spPr>
          <a:xfrm>
            <a:off x="2880360" y="4736592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8181B"/>
                </a:solidFill>
                <a:latin typeface="Arial"/>
              </a:rPr>
              <a:t>Electric</a:t>
            </a:r>
          </a:p>
        </p:txBody>
      </p:sp>
      <p:sp>
        <p:nvSpPr>
          <p:cNvPr id="36" name="Card strategy: Electric"/>
          <p:cNvSpPr txBox="1"/>
          <p:nvPr/>
        </p:nvSpPr>
        <p:spPr>
          <a:xfrm>
            <a:off x="2880360" y="5029200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8181B"/>
                </a:solidFill>
                <a:latin typeface="Arial"/>
              </a:rPr>
              <a:t>Every watt-hour to speed.</a:t>
            </a:r>
          </a:p>
        </p:txBody>
      </p:sp>
      <p:sp>
        <p:nvSpPr>
          <p:cNvPr id="37" name="Card rule: Electric"/>
          <p:cNvSpPr/>
          <p:nvPr/>
        </p:nvSpPr>
        <p:spPr>
          <a:xfrm>
            <a:off x="2880360" y="5285232"/>
            <a:ext cx="1965960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ard points: Electric"/>
          <p:cNvSpPr txBox="1"/>
          <p:nvPr/>
        </p:nvSpPr>
        <p:spPr>
          <a:xfrm>
            <a:off x="2880360" y="5358384"/>
            <a:ext cx="1965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850" b="0">
                <a:solidFill>
                  <a:srgbClr val="3F3F46"/>
                </a:solidFill>
                <a:latin typeface="Arial"/>
              </a:rPr>
              <a:t>High-voltage battery storage</a:t>
            </a:r>
          </a:p>
          <a:p>
            <a:pPr algn="l">
              <a:lnSpc>
                <a:spcPct val="150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850" b="0">
                <a:solidFill>
                  <a:srgbClr val="3F3F46"/>
                </a:solidFill>
                <a:latin typeface="Arial"/>
              </a:rPr>
              <a:t>Propulsion sized by the model</a:t>
            </a:r>
          </a:p>
          <a:p>
            <a:pPr algn="l">
              <a:lnSpc>
                <a:spcPct val="150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850" b="0">
                <a:solidFill>
                  <a:srgbClr val="3F3F46"/>
                </a:solidFill>
                <a:latin typeface="Arial"/>
              </a:rPr>
              <a:t>Propulsion and cooling co-designed</a:t>
            </a:r>
          </a:p>
        </p:txBody>
      </p:sp>
      <p:sp>
        <p:nvSpPr>
          <p:cNvPr id="39" name="Card: Autonomous"/>
          <p:cNvSpPr/>
          <p:nvPr/>
        </p:nvSpPr>
        <p:spPr>
          <a:xfrm>
            <a:off x="5102352" y="4681728"/>
            <a:ext cx="2240280" cy="1389888"/>
          </a:xfrm>
          <a:prstGeom prst="roundRect">
            <a:avLst>
              <a:gd name="adj" fmla="val 6578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ard title: Autonomous"/>
          <p:cNvSpPr txBox="1"/>
          <p:nvPr/>
        </p:nvSpPr>
        <p:spPr>
          <a:xfrm>
            <a:off x="5239512" y="4736592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8181B"/>
                </a:solidFill>
                <a:latin typeface="Arial"/>
              </a:rPr>
              <a:t>Autonomous</a:t>
            </a:r>
          </a:p>
        </p:txBody>
      </p:sp>
      <p:sp>
        <p:nvSpPr>
          <p:cNvPr id="41" name="Card strategy: Autonomous"/>
          <p:cNvSpPr txBox="1"/>
          <p:nvPr/>
        </p:nvSpPr>
        <p:spPr>
          <a:xfrm>
            <a:off x="5239512" y="5029200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8181B"/>
                </a:solidFill>
                <a:latin typeface="Arial"/>
              </a:rPr>
              <a:t>Manage drift and controls.</a:t>
            </a:r>
          </a:p>
        </p:txBody>
      </p:sp>
      <p:sp>
        <p:nvSpPr>
          <p:cNvPr id="42" name="Card rule: Autonomous"/>
          <p:cNvSpPr/>
          <p:nvPr/>
        </p:nvSpPr>
        <p:spPr>
          <a:xfrm>
            <a:off x="5239512" y="5285232"/>
            <a:ext cx="1965960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ard points: Autonomous"/>
          <p:cNvSpPr txBox="1"/>
          <p:nvPr/>
        </p:nvSpPr>
        <p:spPr>
          <a:xfrm>
            <a:off x="5239512" y="5358384"/>
            <a:ext cx="1965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850" b="0">
                <a:solidFill>
                  <a:srgbClr val="3F3F46"/>
                </a:solidFill>
                <a:latin typeface="Arial"/>
              </a:rPr>
              <a:t>GPS, IMU and LIDAR sensing</a:t>
            </a:r>
          </a:p>
          <a:p>
            <a:pPr algn="l">
              <a:lnSpc>
                <a:spcPct val="150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850" b="0">
                <a:solidFill>
                  <a:srgbClr val="3F3F46"/>
                </a:solidFill>
                <a:latin typeface="Arial"/>
              </a:rPr>
              <a:t>Firmware protects the battery</a:t>
            </a:r>
          </a:p>
          <a:p>
            <a:pPr algn="l">
              <a:lnSpc>
                <a:spcPct val="150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850" b="0">
                <a:solidFill>
                  <a:srgbClr val="3F3F46"/>
                </a:solidFill>
                <a:latin typeface="Arial"/>
              </a:rPr>
              <a:t>Software plans the route</a:t>
            </a:r>
          </a:p>
        </p:txBody>
      </p:sp>
      <p:sp>
        <p:nvSpPr>
          <p:cNvPr id="44" name="Label: Timeline"/>
          <p:cNvSpPr txBox="1"/>
          <p:nvPr/>
        </p:nvSpPr>
        <p:spPr>
          <a:xfrm>
            <a:off x="384048" y="6254496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TIMELINE</a:t>
            </a:r>
          </a:p>
        </p:txBody>
      </p:sp>
      <p:sp>
        <p:nvSpPr>
          <p:cNvPr id="45" name="Timeline rule: Current hull design frozen"/>
          <p:cNvSpPr/>
          <p:nvPr/>
        </p:nvSpPr>
        <p:spPr>
          <a:xfrm>
            <a:off x="384048" y="6455664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imeline date: Current hull design frozen"/>
          <p:cNvSpPr txBox="1"/>
          <p:nvPr/>
        </p:nvSpPr>
        <p:spPr>
          <a:xfrm>
            <a:off x="384048" y="6501383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Oct 25</a:t>
            </a:r>
          </a:p>
        </p:txBody>
      </p:sp>
      <p:sp>
        <p:nvSpPr>
          <p:cNvPr id="47" name="Timeline: Current hull design frozen"/>
          <p:cNvSpPr txBox="1"/>
          <p:nvPr/>
        </p:nvSpPr>
        <p:spPr>
          <a:xfrm>
            <a:off x="1298448" y="6501383"/>
            <a:ext cx="2450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8181B"/>
                </a:solidFill>
                <a:latin typeface="Arial"/>
              </a:rPr>
              <a:t>Current hull design frozen</a:t>
            </a:r>
          </a:p>
        </p:txBody>
      </p:sp>
      <p:sp>
        <p:nvSpPr>
          <p:cNvPr id="48" name="Timeline rule: Preliminary design review"/>
          <p:cNvSpPr/>
          <p:nvPr/>
        </p:nvSpPr>
        <p:spPr>
          <a:xfrm>
            <a:off x="384048" y="6684264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imeline date: Preliminary design review"/>
          <p:cNvSpPr txBox="1"/>
          <p:nvPr/>
        </p:nvSpPr>
        <p:spPr>
          <a:xfrm>
            <a:off x="384048" y="6729983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Nov 15</a:t>
            </a:r>
          </a:p>
        </p:txBody>
      </p:sp>
      <p:sp>
        <p:nvSpPr>
          <p:cNvPr id="50" name="Timeline: Preliminary design review"/>
          <p:cNvSpPr txBox="1"/>
          <p:nvPr/>
        </p:nvSpPr>
        <p:spPr>
          <a:xfrm>
            <a:off x="1298448" y="6729983"/>
            <a:ext cx="2450592" cy="740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8181B"/>
                </a:solidFill>
                <a:latin typeface="Arial"/>
              </a:rPr>
              <a:t>Preliminary design review</a:t>
            </a:r>
          </a:p>
          <a:p>
            <a:pPr algn="l">
              <a:lnSpc>
                <a:spcPct val="100000"/>
              </a:lnSpc>
            </a:pPr>
            <a:r>
              <a:rPr sz="750" b="0">
                <a:solidFill>
                  <a:srgbClr val="3F3F46"/>
                </a:solidFill>
                <a:latin typeface="Arial"/>
              </a:rPr>
              <a:t>Full CAD and circuit design, plus a rough proof of concept, even a cardboard boat with boxes for the components, to visually check dimensions and catch issues. Critical and long-lead components are ordered.</a:t>
            </a:r>
          </a:p>
        </p:txBody>
      </p:sp>
      <p:sp>
        <p:nvSpPr>
          <p:cNvPr id="51" name="Timeline rule: Mechanical and electrical design frozen"/>
          <p:cNvSpPr/>
          <p:nvPr/>
        </p:nvSpPr>
        <p:spPr>
          <a:xfrm>
            <a:off x="384048" y="7470648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imeline date: Mechanical and electrical design frozen"/>
          <p:cNvSpPr txBox="1"/>
          <p:nvPr/>
        </p:nvSpPr>
        <p:spPr>
          <a:xfrm>
            <a:off x="384048" y="751636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Dec 1</a:t>
            </a:r>
          </a:p>
        </p:txBody>
      </p:sp>
      <p:sp>
        <p:nvSpPr>
          <p:cNvPr id="53" name="Timeline: Mechanical and electrical design frozen"/>
          <p:cNvSpPr txBox="1"/>
          <p:nvPr/>
        </p:nvSpPr>
        <p:spPr>
          <a:xfrm>
            <a:off x="1298448" y="7516368"/>
            <a:ext cx="2450592" cy="2944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8181B"/>
                </a:solidFill>
                <a:latin typeface="Arial"/>
              </a:rPr>
              <a:t>Mechanical and electrical design frozen</a:t>
            </a:r>
          </a:p>
          <a:p>
            <a:pPr algn="l">
              <a:lnSpc>
                <a:spcPct val="100000"/>
              </a:lnSpc>
            </a:pPr>
            <a:r>
              <a:rPr sz="750" b="0">
                <a:solidFill>
                  <a:srgbClr val="3F3F46"/>
                </a:solidFill>
                <a:latin typeface="Arial"/>
              </a:rPr>
              <a:t>With the full BOM and the order.</a:t>
            </a:r>
          </a:p>
        </p:txBody>
      </p:sp>
      <p:sp>
        <p:nvSpPr>
          <p:cNvPr id="54" name="Timeline rule: Build the hull and composite parts"/>
          <p:cNvSpPr/>
          <p:nvPr/>
        </p:nvSpPr>
        <p:spPr>
          <a:xfrm>
            <a:off x="384048" y="7810804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imeline date: Build the hull and composite parts"/>
          <p:cNvSpPr txBox="1"/>
          <p:nvPr/>
        </p:nvSpPr>
        <p:spPr>
          <a:xfrm>
            <a:off x="384048" y="7856524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Dec 1–31</a:t>
            </a:r>
          </a:p>
        </p:txBody>
      </p:sp>
      <p:sp>
        <p:nvSpPr>
          <p:cNvPr id="56" name="Timeline: Build the hull and composite parts"/>
          <p:cNvSpPr txBox="1"/>
          <p:nvPr/>
        </p:nvSpPr>
        <p:spPr>
          <a:xfrm>
            <a:off x="1298448" y="7856524"/>
            <a:ext cx="2450592" cy="2944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8181B"/>
                </a:solidFill>
                <a:latin typeface="Arial"/>
              </a:rPr>
              <a:t>Build the hull and composite parts</a:t>
            </a:r>
          </a:p>
          <a:p>
            <a:pPr algn="l">
              <a:lnSpc>
                <a:spcPct val="100000"/>
              </a:lnSpc>
            </a:pPr>
            <a:r>
              <a:rPr sz="750" b="0">
                <a:solidFill>
                  <a:srgbClr val="3F3F46"/>
                </a:solidFill>
                <a:latin typeface="Arial"/>
              </a:rPr>
              <a:t>Plus any custom-milled parts.</a:t>
            </a:r>
          </a:p>
        </p:txBody>
      </p:sp>
      <p:sp>
        <p:nvSpPr>
          <p:cNvPr id="57" name="Timeline rule: Manufacture and assemble everything"/>
          <p:cNvSpPr/>
          <p:nvPr/>
        </p:nvSpPr>
        <p:spPr>
          <a:xfrm>
            <a:off x="384048" y="8150961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imeline date: Manufacture and assemble everything"/>
          <p:cNvSpPr txBox="1"/>
          <p:nvPr/>
        </p:nvSpPr>
        <p:spPr>
          <a:xfrm>
            <a:off x="384048" y="8196681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Jan 11–28</a:t>
            </a:r>
          </a:p>
        </p:txBody>
      </p:sp>
      <p:sp>
        <p:nvSpPr>
          <p:cNvPr id="59" name="Timeline: Manufacture and assemble everything"/>
          <p:cNvSpPr txBox="1"/>
          <p:nvPr/>
        </p:nvSpPr>
        <p:spPr>
          <a:xfrm>
            <a:off x="1298448" y="8196681"/>
            <a:ext cx="2450592" cy="517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8181B"/>
                </a:solidFill>
                <a:latin typeface="Arial"/>
              </a:rPr>
              <a:t>Manufacture and assemble everything</a:t>
            </a:r>
          </a:p>
          <a:p>
            <a:pPr algn="l">
              <a:lnSpc>
                <a:spcPct val="100000"/>
              </a:lnSpc>
            </a:pPr>
            <a:r>
              <a:rPr sz="750" b="0">
                <a:solidFill>
                  <a:srgbClr val="3F3F46"/>
                </a:solidFill>
                <a:latin typeface="Arial"/>
              </a:rPr>
              <a:t>All mechanical and electrical components, with dry fits, electrical assembly out of the boat first, and debugging.</a:t>
            </a:r>
          </a:p>
        </p:txBody>
      </p:sp>
      <p:sp>
        <p:nvSpPr>
          <p:cNvPr id="60" name="Timeline rule: Build likely spare parts, in parallel"/>
          <p:cNvSpPr/>
          <p:nvPr/>
        </p:nvSpPr>
        <p:spPr>
          <a:xfrm>
            <a:off x="384048" y="8714232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imeline date: Build likely spare parts, in parallel"/>
          <p:cNvSpPr txBox="1"/>
          <p:nvPr/>
        </p:nvSpPr>
        <p:spPr>
          <a:xfrm>
            <a:off x="384048" y="8759952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Jan 11–Feb 26</a:t>
            </a:r>
          </a:p>
        </p:txBody>
      </p:sp>
      <p:sp>
        <p:nvSpPr>
          <p:cNvPr id="62" name="Timeline: Build likely spare parts, in parallel"/>
          <p:cNvSpPr txBox="1"/>
          <p:nvPr/>
        </p:nvSpPr>
        <p:spPr>
          <a:xfrm>
            <a:off x="1298448" y="8759952"/>
            <a:ext cx="2450592" cy="2944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8181B"/>
                </a:solidFill>
                <a:latin typeface="Arial"/>
              </a:rPr>
              <a:t>Build likely spare parts, in parallel</a:t>
            </a:r>
          </a:p>
          <a:p>
            <a:pPr algn="l">
              <a:lnSpc>
                <a:spcPct val="100000"/>
              </a:lnSpc>
            </a:pPr>
            <a:r>
              <a:rPr sz="750" b="0">
                <a:solidFill>
                  <a:srgbClr val="3F3F46"/>
                </a:solidFill>
                <a:latin typeface="Arial"/>
              </a:rPr>
              <a:t>Spares for the parts most likely to be used.</a:t>
            </a:r>
          </a:p>
        </p:txBody>
      </p:sp>
      <p:sp>
        <p:nvSpPr>
          <p:cNvPr id="63" name="Timeline rule: First float and tow test"/>
          <p:cNvSpPr/>
          <p:nvPr/>
        </p:nvSpPr>
        <p:spPr>
          <a:xfrm>
            <a:off x="4023360" y="6455664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imeline date: First float and tow test"/>
          <p:cNvSpPr txBox="1"/>
          <p:nvPr/>
        </p:nvSpPr>
        <p:spPr>
          <a:xfrm>
            <a:off x="4023360" y="6501383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Jan 22</a:t>
            </a:r>
          </a:p>
        </p:txBody>
      </p:sp>
      <p:sp>
        <p:nvSpPr>
          <p:cNvPr id="65" name="Timeline: First float and tow test"/>
          <p:cNvSpPr txBox="1"/>
          <p:nvPr/>
        </p:nvSpPr>
        <p:spPr>
          <a:xfrm>
            <a:off x="4937760" y="6501383"/>
            <a:ext cx="2450592" cy="517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8181B"/>
                </a:solidFill>
                <a:latin typeface="Arial"/>
              </a:rPr>
              <a:t>First float and tow test</a:t>
            </a:r>
          </a:p>
          <a:p>
            <a:pPr algn="l">
              <a:lnSpc>
                <a:spcPct val="100000"/>
              </a:lnSpc>
            </a:pPr>
            <a:r>
              <a:rPr sz="750" b="0">
                <a:solidFill>
                  <a:srgbClr val="3F3F46"/>
                </a:solidFill>
                <a:latin typeface="Arial"/>
              </a:rPr>
              <a:t>The hull floats with deadweight for the real weight, and is towed behind a motorized boat to validate the hull design and quality.</a:t>
            </a:r>
          </a:p>
        </p:txBody>
      </p:sp>
      <p:sp>
        <p:nvSpPr>
          <p:cNvPr id="66" name="Timeline rule: Zeroth nautical mile"/>
          <p:cNvSpPr/>
          <p:nvPr/>
        </p:nvSpPr>
        <p:spPr>
          <a:xfrm>
            <a:off x="4023360" y="7018934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imeline date: Zeroth nautical mile"/>
          <p:cNvSpPr txBox="1"/>
          <p:nvPr/>
        </p:nvSpPr>
        <p:spPr>
          <a:xfrm>
            <a:off x="4023360" y="7064654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Jan 29</a:t>
            </a:r>
          </a:p>
        </p:txBody>
      </p:sp>
      <p:sp>
        <p:nvSpPr>
          <p:cNvPr id="68" name="Timeline: Zeroth nautical mile"/>
          <p:cNvSpPr txBox="1"/>
          <p:nvPr/>
        </p:nvSpPr>
        <p:spPr>
          <a:xfrm>
            <a:off x="4937760" y="7064654"/>
            <a:ext cx="2450592" cy="852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8181B"/>
                </a:solidFill>
                <a:latin typeface="Arial"/>
              </a:rPr>
              <a:t>Zeroth nautical mile</a:t>
            </a:r>
          </a:p>
          <a:p>
            <a:pPr algn="l">
              <a:lnSpc>
                <a:spcPct val="100000"/>
              </a:lnSpc>
            </a:pPr>
            <a:r>
              <a:rPr sz="750" b="0">
                <a:solidFill>
                  <a:srgbClr val="3F3F46"/>
                </a:solidFill>
                <a:latin typeface="Arial"/>
              </a:rPr>
              <a:t>The first time everything is powered on in the hull: all microcontrollers, sensors and actuators. The first motor and propeller spin with the boat lifted in the air, and the first propulsion and navigation test commanded by the autonomous pipeline.</a:t>
            </a:r>
          </a:p>
        </p:txBody>
      </p:sp>
      <p:sp>
        <p:nvSpPr>
          <p:cNvPr id="69" name="Timeline rule: Slow drives on the water"/>
          <p:cNvSpPr/>
          <p:nvPr/>
        </p:nvSpPr>
        <p:spPr>
          <a:xfrm>
            <a:off x="4023360" y="7916875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imeline date: Slow drives on the water"/>
          <p:cNvSpPr txBox="1"/>
          <p:nvPr/>
        </p:nvSpPr>
        <p:spPr>
          <a:xfrm>
            <a:off x="4023360" y="7962595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Feb 1–14</a:t>
            </a:r>
          </a:p>
        </p:txBody>
      </p:sp>
      <p:sp>
        <p:nvSpPr>
          <p:cNvPr id="71" name="Timeline: Slow drives on the water"/>
          <p:cNvSpPr txBox="1"/>
          <p:nvPr/>
        </p:nvSpPr>
        <p:spPr>
          <a:xfrm>
            <a:off x="4937760" y="7962595"/>
            <a:ext cx="2450592" cy="405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8181B"/>
                </a:solidFill>
                <a:latin typeface="Arial"/>
              </a:rPr>
              <a:t>Slow drives on the water</a:t>
            </a:r>
          </a:p>
          <a:p>
            <a:pPr algn="l">
              <a:lnSpc>
                <a:spcPct val="100000"/>
              </a:lnSpc>
            </a:pPr>
            <a:r>
              <a:rPr sz="750" b="0">
                <a:solidFill>
                  <a:srgbClr val="3F3F46"/>
                </a:solidFill>
                <a:latin typeface="Arial"/>
              </a:rPr>
              <a:t>Fully manual first, by remote command, then adding autonomy over time.</a:t>
            </a:r>
          </a:p>
        </p:txBody>
      </p:sp>
      <p:sp>
        <p:nvSpPr>
          <p:cNvPr id="72" name="Timeline rule: Start increasing speed"/>
          <p:cNvSpPr/>
          <p:nvPr/>
        </p:nvSpPr>
        <p:spPr>
          <a:xfrm>
            <a:off x="4023360" y="8368588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imeline date: Start increasing speed"/>
          <p:cNvSpPr txBox="1"/>
          <p:nvPr/>
        </p:nvSpPr>
        <p:spPr>
          <a:xfrm>
            <a:off x="4023360" y="841430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Feb 15</a:t>
            </a:r>
          </a:p>
        </p:txBody>
      </p:sp>
      <p:sp>
        <p:nvSpPr>
          <p:cNvPr id="74" name="Timeline: Start increasing speed"/>
          <p:cNvSpPr txBox="1"/>
          <p:nvPr/>
        </p:nvSpPr>
        <p:spPr>
          <a:xfrm>
            <a:off x="4937760" y="8414308"/>
            <a:ext cx="2450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8181B"/>
                </a:solidFill>
                <a:latin typeface="Arial"/>
              </a:rPr>
              <a:t>Start increasing speed</a:t>
            </a:r>
          </a:p>
        </p:txBody>
      </p:sp>
      <p:sp>
        <p:nvSpPr>
          <p:cNvPr id="75" name="Timeline rule: Test as much as possible"/>
          <p:cNvSpPr/>
          <p:nvPr/>
        </p:nvSpPr>
        <p:spPr>
          <a:xfrm>
            <a:off x="4023360" y="8597188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imeline date: Test as much as possible"/>
          <p:cNvSpPr txBox="1"/>
          <p:nvPr/>
        </p:nvSpPr>
        <p:spPr>
          <a:xfrm>
            <a:off x="4023360" y="864290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From Feb 15</a:t>
            </a:r>
          </a:p>
        </p:txBody>
      </p:sp>
      <p:sp>
        <p:nvSpPr>
          <p:cNvPr id="77" name="Timeline: Test as much as possible"/>
          <p:cNvSpPr txBox="1"/>
          <p:nvPr/>
        </p:nvSpPr>
        <p:spPr>
          <a:xfrm>
            <a:off x="4937760" y="8642908"/>
            <a:ext cx="2450592" cy="405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8181B"/>
                </a:solidFill>
                <a:latin typeface="Arial"/>
              </a:rPr>
              <a:t>Test as much as possible</a:t>
            </a:r>
          </a:p>
          <a:p>
            <a:pPr algn="l">
              <a:lnSpc>
                <a:spcPct val="100000"/>
              </a:lnSpc>
            </a:pPr>
            <a:r>
              <a:rPr sz="750" b="0">
                <a:solidFill>
                  <a:srgbClr val="3F3F46"/>
                </a:solidFill>
                <a:latin typeface="Arial"/>
              </a:rPr>
              <a:t>Right up to the competition, working through the hardware and software issues that come up.</a:t>
            </a:r>
          </a:p>
        </p:txBody>
      </p:sp>
      <p:sp>
        <p:nvSpPr>
          <p:cNvPr id="78" name="Footer band"/>
          <p:cNvSpPr/>
          <p:nvPr/>
        </p:nvSpPr>
        <p:spPr>
          <a:xfrm>
            <a:off x="0" y="9299448"/>
            <a:ext cx="7772400" cy="758952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ooter title"/>
          <p:cNvSpPr txBox="1"/>
          <p:nvPr/>
        </p:nvSpPr>
        <p:spPr>
          <a:xfrm>
            <a:off x="384048" y="94457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Sponsor the build</a:t>
            </a:r>
          </a:p>
        </p:txBody>
      </p:sp>
      <p:sp>
        <p:nvSpPr>
          <p:cNvPr id="80" name="Footer tagline"/>
          <p:cNvSpPr txBox="1"/>
          <p:nvPr/>
        </p:nvSpPr>
        <p:spPr>
          <a:xfrm>
            <a:off x="384048" y="96926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B5B5BB"/>
                </a:solidFill>
                <a:latin typeface="Arial"/>
              </a:rPr>
              <a:t>We are looking for funds, parts, advisors and people to build our BOM as we design.</a:t>
            </a:r>
          </a:p>
        </p:txBody>
      </p:sp>
      <p:sp>
        <p:nvSpPr>
          <p:cNvPr id="81" name="Footer link label"/>
          <p:cNvSpPr txBox="1"/>
          <p:nvPr/>
        </p:nvSpPr>
        <p:spPr>
          <a:xfrm>
            <a:off x="2971800" y="9418320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9A9AA2"/>
                </a:solidFill>
                <a:latin typeface="Arial"/>
              </a:rPr>
              <a:t>LEARN MORE</a:t>
            </a:r>
          </a:p>
        </p:txBody>
      </p:sp>
      <p:sp>
        <p:nvSpPr>
          <p:cNvPr id="82" name="Footer link"/>
          <p:cNvSpPr txBox="1"/>
          <p:nvPr/>
        </p:nvSpPr>
        <p:spPr>
          <a:xfrm>
            <a:off x="2971800" y="9601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bit.ly/haav</a:t>
            </a:r>
          </a:p>
        </p:txBody>
      </p:sp>
      <p:sp>
        <p:nvSpPr>
          <p:cNvPr id="83" name="Footer contact label"/>
          <p:cNvSpPr txBox="1"/>
          <p:nvPr/>
        </p:nvSpPr>
        <p:spPr>
          <a:xfrm>
            <a:off x="4846320" y="9390888"/>
            <a:ext cx="2542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A9AA2"/>
                </a:solidFill>
                <a:latin typeface="Arial"/>
              </a:rPr>
              <a:t>CONTACT</a:t>
            </a:r>
          </a:p>
        </p:txBody>
      </p:sp>
      <p:sp>
        <p:nvSpPr>
          <p:cNvPr id="84" name="Footer contact name"/>
          <p:cNvSpPr txBox="1"/>
          <p:nvPr/>
        </p:nvSpPr>
        <p:spPr>
          <a:xfrm>
            <a:off x="4846320" y="9555480"/>
            <a:ext cx="25420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FFFFFF"/>
                </a:solidFill>
                <a:latin typeface="Arial"/>
              </a:rPr>
              <a:t>Marley Barrett, Project lead</a:t>
            </a:r>
          </a:p>
        </p:txBody>
      </p:sp>
      <p:sp>
        <p:nvSpPr>
          <p:cNvPr id="85" name="Footer contact email"/>
          <p:cNvSpPr txBox="1"/>
          <p:nvPr/>
        </p:nvSpPr>
        <p:spPr>
          <a:xfrm>
            <a:off x="4846320" y="9765792"/>
            <a:ext cx="2542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>
                <a:solidFill>
                  <a:srgbClr val="D4D4D8"/>
                </a:solidFill>
                <a:latin typeface="Arial"/>
              </a:rPr>
              <a:t>mhbarrett@wisc.edu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