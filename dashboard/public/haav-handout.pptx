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481328"/>
            <a:ext cx="4480560" cy="1097280"/>
          </a:xfrm>
          <a:prstGeom prst="rect">
            <a:avLst/>
          </a:prstGeom>
          <a:noFill/>
        </p:spPr>
        <p:txBody>
          <a:bodyPr wrap="square" lIns="0" rIns="0" tIns="0" bIns="0" anchor="t">
            <a:spAutoFit/>
          </a:bodyPr>
          <a:lstStyle/>
          <a:p>
            <a:pPr algn="l">
              <a:lnSpc>
                <a:spcPct val="100000"/>
              </a:lnSpc>
            </a:pPr>
            <a:r>
              <a:rPr sz="2250" b="1">
                <a:solidFill>
                  <a:srgbClr val="111111"/>
                </a:solidFill>
                <a:latin typeface="Arial"/>
              </a:rPr>
              <a:t>We are 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5532120" y="1170432"/>
            <a:ext cx="1737360" cy="1456954"/>
          </a:xfrm>
          <a:prstGeom prst="rect">
            <a:avLst/>
          </a:prstGeom>
        </p:spPr>
      </p:pic>
      <p:sp>
        <p:nvSpPr>
          <p:cNvPr id="9" name="Fact card: Speed"/>
          <p:cNvSpPr/>
          <p:nvPr/>
        </p:nvSpPr>
        <p:spPr>
          <a:xfrm>
            <a:off x="50292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ct: 40 mph"/>
          <p:cNvSpPr txBox="1"/>
          <p:nvPr/>
        </p:nvSpPr>
        <p:spPr>
          <a:xfrm>
            <a:off x="64008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40 mph</a:t>
            </a:r>
          </a:p>
        </p:txBody>
      </p:sp>
      <p:sp>
        <p:nvSpPr>
          <p:cNvPr id="11" name="Fact label: Speed"/>
          <p:cNvSpPr txBox="1"/>
          <p:nvPr/>
        </p:nvSpPr>
        <p:spPr>
          <a:xfrm>
            <a:off x="640080" y="3063240"/>
            <a:ext cx="1905000" cy="182880"/>
          </a:xfrm>
          <a:prstGeom prst="rect">
            <a:avLst/>
          </a:prstGeom>
          <a:noFill/>
        </p:spPr>
        <p:txBody>
          <a:bodyPr wrap="square" lIns="0" rIns="0" tIns="0" bIns="0" anchor="t">
            <a:spAutoFit/>
          </a:bodyPr>
          <a:lstStyle/>
          <a:p>
            <a:pPr algn="l"/>
            <a:r>
              <a:rPr sz="860" b="0">
                <a:solidFill>
                  <a:srgbClr val="555555"/>
                </a:solidFill>
                <a:latin typeface="Arial"/>
              </a:rPr>
              <a:t>Speed</a:t>
            </a:r>
          </a:p>
        </p:txBody>
      </p:sp>
      <p:sp>
        <p:nvSpPr>
          <p:cNvPr id="12" name="Fact card: Weight"/>
          <p:cNvSpPr/>
          <p:nvPr/>
        </p:nvSpPr>
        <p:spPr>
          <a:xfrm>
            <a:off x="279654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t: Under 80 lbs"/>
          <p:cNvSpPr txBox="1"/>
          <p:nvPr/>
        </p:nvSpPr>
        <p:spPr>
          <a:xfrm>
            <a:off x="293370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Under 80 lbs</a:t>
            </a:r>
          </a:p>
        </p:txBody>
      </p:sp>
      <p:sp>
        <p:nvSpPr>
          <p:cNvPr id="14" name="Fact label: Weight"/>
          <p:cNvSpPr txBox="1"/>
          <p:nvPr/>
        </p:nvSpPr>
        <p:spPr>
          <a:xfrm>
            <a:off x="2933700" y="3063240"/>
            <a:ext cx="1905000" cy="182880"/>
          </a:xfrm>
          <a:prstGeom prst="rect">
            <a:avLst/>
          </a:prstGeom>
          <a:noFill/>
        </p:spPr>
        <p:txBody>
          <a:bodyPr wrap="square" lIns="0" rIns="0" tIns="0" bIns="0" anchor="t">
            <a:spAutoFit/>
          </a:bodyPr>
          <a:lstStyle/>
          <a:p>
            <a:pPr algn="l"/>
            <a:r>
              <a:rPr sz="860" b="0">
                <a:solidFill>
                  <a:srgbClr val="555555"/>
                </a:solidFill>
                <a:latin typeface="Arial"/>
              </a:rPr>
              <a:t>Weight</a:t>
            </a:r>
          </a:p>
        </p:txBody>
      </p:sp>
      <p:sp>
        <p:nvSpPr>
          <p:cNvPr id="15" name="Fact card: With LoRa backup"/>
          <p:cNvSpPr/>
          <p:nvPr/>
        </p:nvSpPr>
        <p:spPr>
          <a:xfrm>
            <a:off x="5090160" y="2743200"/>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act: Realtime LTE"/>
          <p:cNvSpPr txBox="1"/>
          <p:nvPr/>
        </p:nvSpPr>
        <p:spPr>
          <a:xfrm>
            <a:off x="5227320" y="2807208"/>
            <a:ext cx="1905000" cy="274320"/>
          </a:xfrm>
          <a:prstGeom prst="rect">
            <a:avLst/>
          </a:prstGeom>
          <a:noFill/>
        </p:spPr>
        <p:txBody>
          <a:bodyPr wrap="square" lIns="0" rIns="0" tIns="0" bIns="0" anchor="t">
            <a:spAutoFit/>
          </a:bodyPr>
          <a:lstStyle/>
          <a:p>
            <a:pPr algn="l"/>
            <a:r>
              <a:rPr sz="1425" b="1">
                <a:solidFill>
                  <a:srgbClr val="111111"/>
                </a:solidFill>
                <a:latin typeface="Arial"/>
              </a:rPr>
              <a:t>Realtime LTE</a:t>
            </a:r>
          </a:p>
        </p:txBody>
      </p:sp>
      <p:sp>
        <p:nvSpPr>
          <p:cNvPr id="17" name="Fact label: With LoRa backup"/>
          <p:cNvSpPr txBox="1"/>
          <p:nvPr/>
        </p:nvSpPr>
        <p:spPr>
          <a:xfrm>
            <a:off x="5227320" y="3063240"/>
            <a:ext cx="1905000" cy="182880"/>
          </a:xfrm>
          <a:prstGeom prst="rect">
            <a:avLst/>
          </a:prstGeom>
          <a:noFill/>
        </p:spPr>
        <p:txBody>
          <a:bodyPr wrap="square" lIns="0" rIns="0" tIns="0" bIns="0" anchor="t">
            <a:spAutoFit/>
          </a:bodyPr>
          <a:lstStyle/>
          <a:p>
            <a:pPr algn="l"/>
            <a:r>
              <a:rPr sz="860" b="0">
                <a:solidFill>
                  <a:srgbClr val="555555"/>
                </a:solidFill>
                <a:latin typeface="Arial"/>
              </a:rPr>
              <a:t>With LoRa backup</a:t>
            </a:r>
          </a:p>
        </p:txBody>
      </p:sp>
      <p:sp>
        <p:nvSpPr>
          <p:cNvPr id="18" name="Model card"/>
          <p:cNvSpPr/>
          <p:nvPr/>
        </p:nvSpPr>
        <p:spPr>
          <a:xfrm>
            <a:off x="502920" y="3438144"/>
            <a:ext cx="6766560" cy="960120"/>
          </a:xfrm>
          <a:prstGeom prst="roundRect">
            <a:avLst>
              <a:gd name="adj" fmla="val 15238"/>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Model title"/>
          <p:cNvSpPr txBox="1"/>
          <p:nvPr/>
        </p:nvSpPr>
        <p:spPr>
          <a:xfrm>
            <a:off x="658368" y="3529584"/>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20" name="Model text"/>
          <p:cNvSpPr txBox="1"/>
          <p:nvPr/>
        </p:nvSpPr>
        <p:spPr>
          <a:xfrm>
            <a:off x="658368" y="3785615"/>
            <a:ext cx="6455664" cy="594360"/>
          </a:xfrm>
          <a:prstGeom prst="rect">
            <a:avLst/>
          </a:prstGeom>
          <a:noFill/>
        </p:spPr>
        <p:txBody>
          <a:bodyPr wrap="square" lIns="0" rIns="0" tIns="0" bIns="0" anchor="t">
            <a:spAutoFit/>
          </a:bodyPr>
          <a:lstStyle/>
          <a:p>
            <a:pPr algn="l">
              <a:lnSpc>
                <a:spcPct val="120000"/>
              </a:lnSpc>
            </a:pPr>
            <a:r>
              <a:rPr sz="860" b="0">
                <a:solidFill>
                  <a:srgbClr val="555555"/>
                </a:solidFill>
                <a:latin typeface="Arial"/>
              </a:rPr>
              <a:t>We are building the model from first principles, mixing empirical and rule-of-thumb decisions with dynamic programming. Each constraint cuts the space of possible boats, and our model finds the fastest one based on current variables. As we build and test, we keep updating the model and adding constraints: a hybrid of simulation and empirical data.</a:t>
            </a:r>
          </a:p>
        </p:txBody>
      </p:sp>
      <p:sp>
        <p:nvSpPr>
          <p:cNvPr id="21" name="Heading: Engineers from across UW–Madison"/>
          <p:cNvSpPr txBox="1"/>
          <p:nvPr/>
        </p:nvSpPr>
        <p:spPr>
          <a:xfrm>
            <a:off x="502920" y="4553712"/>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22" name="Engineers text"/>
          <p:cNvSpPr txBox="1"/>
          <p:nvPr/>
        </p:nvSpPr>
        <p:spPr>
          <a:xfrm>
            <a:off x="502920" y="4818888"/>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23" name="Discipline: Industrial"/>
          <p:cNvSpPr txBox="1"/>
          <p:nvPr/>
        </p:nvSpPr>
        <p:spPr>
          <a:xfrm>
            <a:off x="502920" y="5047488"/>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24" name="Discipline text: Industrial"/>
          <p:cNvSpPr txBox="1"/>
          <p:nvPr/>
        </p:nvSpPr>
        <p:spPr>
          <a:xfrm>
            <a:off x="50292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25" name="Discipline: Mechanical"/>
          <p:cNvSpPr txBox="1"/>
          <p:nvPr/>
        </p:nvSpPr>
        <p:spPr>
          <a:xfrm>
            <a:off x="2251710" y="5047488"/>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26" name="Discipline text: Mechanical"/>
          <p:cNvSpPr txBox="1"/>
          <p:nvPr/>
        </p:nvSpPr>
        <p:spPr>
          <a:xfrm>
            <a:off x="225171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 fabrication</a:t>
            </a:r>
          </a:p>
        </p:txBody>
      </p:sp>
      <p:sp>
        <p:nvSpPr>
          <p:cNvPr id="27" name="Discipline: Electrical"/>
          <p:cNvSpPr txBox="1"/>
          <p:nvPr/>
        </p:nvSpPr>
        <p:spPr>
          <a:xfrm>
            <a:off x="4000500" y="5047488"/>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28" name="Discipline text: Electrical"/>
          <p:cNvSpPr txBox="1"/>
          <p:nvPr/>
        </p:nvSpPr>
        <p:spPr>
          <a:xfrm>
            <a:off x="400050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9" name="Discipline: Computer"/>
          <p:cNvSpPr txBox="1"/>
          <p:nvPr/>
        </p:nvSpPr>
        <p:spPr>
          <a:xfrm>
            <a:off x="5749290" y="5047488"/>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30" name="Discipline text: Computer"/>
          <p:cNvSpPr txBox="1"/>
          <p:nvPr/>
        </p:nvSpPr>
        <p:spPr>
          <a:xfrm>
            <a:off x="5749290" y="5230368"/>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Firmware, software, controls</a:t>
            </a:r>
          </a:p>
        </p:txBody>
      </p:sp>
      <p:sp>
        <p:nvSpPr>
          <p:cNvPr id="31" name="Heading: Our primary phases"/>
          <p:cNvSpPr txBox="1"/>
          <p:nvPr/>
        </p:nvSpPr>
        <p:spPr>
          <a:xfrm>
            <a:off x="502920" y="5641848"/>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32" name="Card: Hull"/>
          <p:cNvSpPr/>
          <p:nvPr/>
        </p:nvSpPr>
        <p:spPr>
          <a:xfrm>
            <a:off x="50292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rt: Hull"/>
          <p:cNvSpPr txBox="1"/>
          <p:nvPr/>
        </p:nvSpPr>
        <p:spPr>
          <a:xfrm>
            <a:off x="64008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34" name="Part tagline: Hull"/>
          <p:cNvSpPr txBox="1"/>
          <p:nvPr/>
        </p:nvSpPr>
        <p:spPr>
          <a:xfrm>
            <a:off x="640080" y="6254496"/>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35" name="Part points: Hull"/>
          <p:cNvSpPr txBox="1"/>
          <p:nvPr/>
        </p:nvSpPr>
        <p:spPr>
          <a:xfrm>
            <a:off x="64008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Hybrid planing composite hull</a:t>
            </a:r>
          </a:p>
          <a:p>
            <a:pPr algn="l">
              <a:lnSpc>
                <a:spcPct val="120000"/>
              </a:lnSpc>
            </a:pPr>
            <a:r>
              <a:rPr sz="819" b="0">
                <a:solidFill>
                  <a:srgbClr val="555555"/>
                </a:solidFill>
                <a:latin typeface="Arial"/>
              </a:rPr>
              <a:t>Dimensions shaped by weight</a:t>
            </a:r>
          </a:p>
          <a:p>
            <a:pPr algn="l">
              <a:lnSpc>
                <a:spcPct val="120000"/>
              </a:lnSpc>
            </a:pPr>
            <a:r>
              <a:rPr sz="819" b="0">
                <a:solidFill>
                  <a:srgbClr val="555555"/>
                </a:solidFill>
                <a:latin typeface="Arial"/>
              </a:rPr>
              <a:t>Optimization shaped by hydrodynamics</a:t>
            </a:r>
          </a:p>
        </p:txBody>
      </p:sp>
      <p:sp>
        <p:nvSpPr>
          <p:cNvPr id="36" name="Card: Electric"/>
          <p:cNvSpPr/>
          <p:nvPr/>
        </p:nvSpPr>
        <p:spPr>
          <a:xfrm>
            <a:off x="279654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rt: Electric"/>
          <p:cNvSpPr txBox="1"/>
          <p:nvPr/>
        </p:nvSpPr>
        <p:spPr>
          <a:xfrm>
            <a:off x="293370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38" name="Part tagline: Electric"/>
          <p:cNvSpPr txBox="1"/>
          <p:nvPr/>
        </p:nvSpPr>
        <p:spPr>
          <a:xfrm>
            <a:off x="2933700" y="6254496"/>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9" name="Part points: Electric"/>
          <p:cNvSpPr txBox="1"/>
          <p:nvPr/>
        </p:nvSpPr>
        <p:spPr>
          <a:xfrm>
            <a:off x="293370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High-voltage battery storage</a:t>
            </a:r>
          </a:p>
          <a:p>
            <a:pPr algn="l">
              <a:lnSpc>
                <a:spcPct val="120000"/>
              </a:lnSpc>
            </a:pPr>
            <a:r>
              <a:rPr sz="819" b="0">
                <a:solidFill>
                  <a:srgbClr val="555555"/>
                </a:solidFill>
                <a:latin typeface="Arial"/>
              </a:rPr>
              <a:t>Propulsion sized by the model</a:t>
            </a:r>
          </a:p>
          <a:p>
            <a:pPr algn="l">
              <a:lnSpc>
                <a:spcPct val="120000"/>
              </a:lnSpc>
            </a:pPr>
            <a:r>
              <a:rPr sz="819" b="0">
                <a:solidFill>
                  <a:srgbClr val="555555"/>
                </a:solidFill>
                <a:latin typeface="Arial"/>
              </a:rPr>
              <a:t>Propulsion and cooling co-designed</a:t>
            </a:r>
          </a:p>
        </p:txBody>
      </p:sp>
      <p:sp>
        <p:nvSpPr>
          <p:cNvPr id="40" name="Card: Autonomous"/>
          <p:cNvSpPr/>
          <p:nvPr/>
        </p:nvSpPr>
        <p:spPr>
          <a:xfrm>
            <a:off x="5090160" y="5897880"/>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rt: Autonomous"/>
          <p:cNvSpPr txBox="1"/>
          <p:nvPr/>
        </p:nvSpPr>
        <p:spPr>
          <a:xfrm>
            <a:off x="5227320" y="6044184"/>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42" name="Part tagline: Autonomous"/>
          <p:cNvSpPr txBox="1"/>
          <p:nvPr/>
        </p:nvSpPr>
        <p:spPr>
          <a:xfrm>
            <a:off x="5227320" y="6254496"/>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43" name="Part points: Autonomous"/>
          <p:cNvSpPr txBox="1"/>
          <p:nvPr/>
        </p:nvSpPr>
        <p:spPr>
          <a:xfrm>
            <a:off x="5227320" y="6492240"/>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GPS, IMU and LIDAR sensing</a:t>
            </a:r>
          </a:p>
          <a:p>
            <a:pPr algn="l">
              <a:lnSpc>
                <a:spcPct val="120000"/>
              </a:lnSpc>
            </a:pPr>
            <a:r>
              <a:rPr sz="819" b="0">
                <a:solidFill>
                  <a:srgbClr val="555555"/>
                </a:solidFill>
                <a:latin typeface="Arial"/>
              </a:rPr>
              <a:t>Fundamental feedback protocols</a:t>
            </a:r>
          </a:p>
          <a:p>
            <a:pPr algn="l">
              <a:lnSpc>
                <a:spcPct val="120000"/>
              </a:lnSpc>
            </a:pPr>
            <a:r>
              <a:rPr sz="819" b="0">
                <a:solidFill>
                  <a:srgbClr val="555555"/>
                </a:solidFill>
                <a:latin typeface="Arial"/>
              </a:rPr>
              <a:t>Software plans the route</a:t>
            </a:r>
          </a:p>
        </p:txBody>
      </p:sp>
      <p:sp>
        <p:nvSpPr>
          <p:cNvPr id="44" name="Heading: Timeline"/>
          <p:cNvSpPr txBox="1"/>
          <p:nvPr/>
        </p:nvSpPr>
        <p:spPr>
          <a:xfrm>
            <a:off x="502920" y="7251192"/>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45" name="Timeline date: Hull design frozen"/>
          <p:cNvSpPr txBox="1"/>
          <p:nvPr/>
        </p:nvSpPr>
        <p:spPr>
          <a:xfrm>
            <a:off x="502920" y="7534656"/>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46" name="Timeline label: Hull design frozen"/>
          <p:cNvSpPr txBox="1"/>
          <p:nvPr/>
        </p:nvSpPr>
        <p:spPr>
          <a:xfrm>
            <a:off x="1600200" y="7534656"/>
            <a:ext cx="2133752" cy="162763"/>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47" name="Timeline date: Preliminary design review"/>
          <p:cNvSpPr txBox="1"/>
          <p:nvPr/>
        </p:nvSpPr>
        <p:spPr>
          <a:xfrm>
            <a:off x="502920" y="7697419"/>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48" name="Timeline label: Preliminary design review"/>
          <p:cNvSpPr txBox="1"/>
          <p:nvPr/>
        </p:nvSpPr>
        <p:spPr>
          <a:xfrm>
            <a:off x="1600200" y="7697419"/>
            <a:ext cx="2133752" cy="162763"/>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9" name="Timeline date: Critical and long-lead parts are ordered"/>
          <p:cNvSpPr txBox="1"/>
          <p:nvPr/>
        </p:nvSpPr>
        <p:spPr>
          <a:xfrm>
            <a:off x="502920" y="7860182"/>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50" name="Timeline label: Critical and long-lead parts are ordered"/>
          <p:cNvSpPr txBox="1"/>
          <p:nvPr/>
        </p:nvSpPr>
        <p:spPr>
          <a:xfrm>
            <a:off x="1600200" y="7860182"/>
            <a:ext cx="2133752" cy="162763"/>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51" name="Timeline date: Mechanical and electrical design frozen"/>
          <p:cNvSpPr txBox="1"/>
          <p:nvPr/>
        </p:nvSpPr>
        <p:spPr>
          <a:xfrm>
            <a:off x="502920" y="8022945"/>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52" name="Timeline label: Mechanical and electrical design frozen"/>
          <p:cNvSpPr txBox="1"/>
          <p:nvPr/>
        </p:nvSpPr>
        <p:spPr>
          <a:xfrm>
            <a:off x="1600200" y="8022945"/>
            <a:ext cx="2133752" cy="162763"/>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53" name="Timeline date: Build the hull, composite parts and any custom-milled parts"/>
          <p:cNvSpPr txBox="1"/>
          <p:nvPr/>
        </p:nvSpPr>
        <p:spPr>
          <a:xfrm>
            <a:off x="502920" y="8185708"/>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54" name="Timeline label: Build the hull, composite parts and any custom-milled parts"/>
          <p:cNvSpPr txBox="1"/>
          <p:nvPr/>
        </p:nvSpPr>
        <p:spPr>
          <a:xfrm>
            <a:off x="1600200" y="8185708"/>
            <a:ext cx="2133752" cy="277063"/>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55" name="Timeline date: First float and tow test"/>
          <p:cNvSpPr txBox="1"/>
          <p:nvPr/>
        </p:nvSpPr>
        <p:spPr>
          <a:xfrm>
            <a:off x="502920" y="8462772"/>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56" name="Timeline label: First float and tow test"/>
          <p:cNvSpPr txBox="1"/>
          <p:nvPr/>
        </p:nvSpPr>
        <p:spPr>
          <a:xfrm>
            <a:off x="1600200" y="8462772"/>
            <a:ext cx="2133752" cy="162763"/>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57" name="Timeline date: Manufacture and assemble everything"/>
          <p:cNvSpPr txBox="1"/>
          <p:nvPr/>
        </p:nvSpPr>
        <p:spPr>
          <a:xfrm>
            <a:off x="4038447" y="7534656"/>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8" name="Timeline label: Manufacture and assemble everything"/>
          <p:cNvSpPr txBox="1"/>
          <p:nvPr/>
        </p:nvSpPr>
        <p:spPr>
          <a:xfrm>
            <a:off x="5135727" y="7534656"/>
            <a:ext cx="2133752" cy="162763"/>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9" name="Timeline date: Build likely spare parts, in parallel"/>
          <p:cNvSpPr txBox="1"/>
          <p:nvPr/>
        </p:nvSpPr>
        <p:spPr>
          <a:xfrm>
            <a:off x="4038447" y="7697419"/>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60" name="Timeline label: Build likely spare parts, in parallel"/>
          <p:cNvSpPr txBox="1"/>
          <p:nvPr/>
        </p:nvSpPr>
        <p:spPr>
          <a:xfrm>
            <a:off x="5135727" y="7697419"/>
            <a:ext cx="2133752" cy="162763"/>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61" name="Timeline date: First nautical mile"/>
          <p:cNvSpPr txBox="1"/>
          <p:nvPr/>
        </p:nvSpPr>
        <p:spPr>
          <a:xfrm>
            <a:off x="4038447" y="7860182"/>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62" name="Timeline label: First nautical mile"/>
          <p:cNvSpPr txBox="1"/>
          <p:nvPr/>
        </p:nvSpPr>
        <p:spPr>
          <a:xfrm>
            <a:off x="5135727" y="7860182"/>
            <a:ext cx="2133752" cy="162763"/>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63" name="Timeline date: Slow drives on the water"/>
          <p:cNvSpPr txBox="1"/>
          <p:nvPr/>
        </p:nvSpPr>
        <p:spPr>
          <a:xfrm>
            <a:off x="4038447" y="8022945"/>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64" name="Timeline label: Slow drives on the water"/>
          <p:cNvSpPr txBox="1"/>
          <p:nvPr/>
        </p:nvSpPr>
        <p:spPr>
          <a:xfrm>
            <a:off x="5135727" y="8022945"/>
            <a:ext cx="2133752" cy="162763"/>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65" name="Timeline date: Start increasing speed"/>
          <p:cNvSpPr txBox="1"/>
          <p:nvPr/>
        </p:nvSpPr>
        <p:spPr>
          <a:xfrm>
            <a:off x="4038447" y="8185708"/>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66" name="Timeline label: Start increasing speed"/>
          <p:cNvSpPr txBox="1"/>
          <p:nvPr/>
        </p:nvSpPr>
        <p:spPr>
          <a:xfrm>
            <a:off x="5135727" y="8185708"/>
            <a:ext cx="2133752" cy="162763"/>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67" name="Timeline date: Testing / Tuning"/>
          <p:cNvSpPr txBox="1"/>
          <p:nvPr/>
        </p:nvSpPr>
        <p:spPr>
          <a:xfrm>
            <a:off x="4038447" y="8348472"/>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68" name="Timeline label: Testing / Tuning"/>
          <p:cNvSpPr txBox="1"/>
          <p:nvPr/>
        </p:nvSpPr>
        <p:spPr>
          <a:xfrm>
            <a:off x="5135727" y="8348472"/>
            <a:ext cx="2133752" cy="162763"/>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9"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71"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72"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73"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74"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