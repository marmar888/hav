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Manage drift and controls.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779068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Current hull design frozen"/>
          <p:cNvSpPr/>
          <p:nvPr/>
        </p:nvSpPr>
        <p:spPr>
          <a:xfrm>
            <a:off x="384048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Current hull design frozen"/>
          <p:cNvSpPr txBox="1"/>
          <p:nvPr/>
        </p:nvSpPr>
        <p:spPr>
          <a:xfrm>
            <a:off x="384048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Current hull design frozen"/>
          <p:cNvSpPr txBox="1"/>
          <p:nvPr/>
        </p:nvSpPr>
        <p:spPr>
          <a:xfrm>
            <a:off x="1481328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Current hull design frozen</a:t>
            </a:r>
          </a:p>
        </p:txBody>
      </p:sp>
      <p:sp>
        <p:nvSpPr>
          <p:cNvPr id="48" name="Timeline rule: Preliminary design review"/>
          <p:cNvSpPr/>
          <p:nvPr/>
        </p:nvSpPr>
        <p:spPr>
          <a:xfrm>
            <a:off x="384048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Preliminary design review"/>
          <p:cNvSpPr txBox="1"/>
          <p:nvPr/>
        </p:nvSpPr>
        <p:spPr>
          <a:xfrm>
            <a:off x="384048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Nov 15</a:t>
            </a:r>
          </a:p>
        </p:txBody>
      </p:sp>
      <p:sp>
        <p:nvSpPr>
          <p:cNvPr id="50" name="Timeline label: Preliminary design review"/>
          <p:cNvSpPr txBox="1"/>
          <p:nvPr/>
        </p:nvSpPr>
        <p:spPr>
          <a:xfrm>
            <a:off x="1481328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Preliminary design review</a:t>
            </a:r>
          </a:p>
        </p:txBody>
      </p:sp>
      <p:sp>
        <p:nvSpPr>
          <p:cNvPr id="51" name="Timeline rule: Mechanical and electrical design frozen"/>
          <p:cNvSpPr/>
          <p:nvPr/>
        </p:nvSpPr>
        <p:spPr>
          <a:xfrm>
            <a:off x="384048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Mechanical and electrical design frozen"/>
          <p:cNvSpPr txBox="1"/>
          <p:nvPr/>
        </p:nvSpPr>
        <p:spPr>
          <a:xfrm>
            <a:off x="384048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</a:t>
            </a:r>
          </a:p>
        </p:txBody>
      </p:sp>
      <p:sp>
        <p:nvSpPr>
          <p:cNvPr id="53" name="Timeline label: Mechanical and electrical design frozen"/>
          <p:cNvSpPr txBox="1"/>
          <p:nvPr/>
        </p:nvSpPr>
        <p:spPr>
          <a:xfrm>
            <a:off x="1481328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Mechanical and electrical design frozen</a:t>
            </a:r>
          </a:p>
        </p:txBody>
      </p:sp>
      <p:sp>
        <p:nvSpPr>
          <p:cNvPr id="54" name="Timeline rule: Build the hull and composite parts"/>
          <p:cNvSpPr/>
          <p:nvPr/>
        </p:nvSpPr>
        <p:spPr>
          <a:xfrm>
            <a:off x="384048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Build the hull and composite parts"/>
          <p:cNvSpPr txBox="1"/>
          <p:nvPr/>
        </p:nvSpPr>
        <p:spPr>
          <a:xfrm>
            <a:off x="384048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Dec 1–31</a:t>
            </a:r>
          </a:p>
        </p:txBody>
      </p:sp>
      <p:sp>
        <p:nvSpPr>
          <p:cNvPr id="56" name="Timeline label: Build the hull and composite parts"/>
          <p:cNvSpPr txBox="1"/>
          <p:nvPr/>
        </p:nvSpPr>
        <p:spPr>
          <a:xfrm>
            <a:off x="1481328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the hull and composite parts</a:t>
            </a:r>
          </a:p>
        </p:txBody>
      </p:sp>
      <p:sp>
        <p:nvSpPr>
          <p:cNvPr id="57" name="Timeline rule: Manufacture and assemble everything"/>
          <p:cNvSpPr/>
          <p:nvPr/>
        </p:nvSpPr>
        <p:spPr>
          <a:xfrm>
            <a:off x="384048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Manufacture and assemble everything"/>
          <p:cNvSpPr txBox="1"/>
          <p:nvPr/>
        </p:nvSpPr>
        <p:spPr>
          <a:xfrm>
            <a:off x="384048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11–28</a:t>
            </a:r>
          </a:p>
        </p:txBody>
      </p:sp>
      <p:sp>
        <p:nvSpPr>
          <p:cNvPr id="59" name="Timeline label: Manufacture and assemble everything"/>
          <p:cNvSpPr txBox="1"/>
          <p:nvPr/>
        </p:nvSpPr>
        <p:spPr>
          <a:xfrm>
            <a:off x="1481328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Manufacture and assemble everything</a:t>
            </a:r>
          </a:p>
        </p:txBody>
      </p:sp>
      <p:sp>
        <p:nvSpPr>
          <p:cNvPr id="60" name="Timeline rule: Build likely spare parts, in parallel"/>
          <p:cNvSpPr/>
          <p:nvPr/>
        </p:nvSpPr>
        <p:spPr>
          <a:xfrm>
            <a:off x="384048" y="901598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Build likely spare parts, in parallel"/>
          <p:cNvSpPr txBox="1"/>
          <p:nvPr/>
        </p:nvSpPr>
        <p:spPr>
          <a:xfrm>
            <a:off x="384048" y="905713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11–Feb 26</a:t>
            </a:r>
          </a:p>
        </p:txBody>
      </p:sp>
      <p:sp>
        <p:nvSpPr>
          <p:cNvPr id="62" name="Timeline label: Build likely spare parts, in parallel"/>
          <p:cNvSpPr txBox="1"/>
          <p:nvPr/>
        </p:nvSpPr>
        <p:spPr>
          <a:xfrm>
            <a:off x="1481328" y="905713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Build likely spare parts, in parallel</a:t>
            </a:r>
          </a:p>
        </p:txBody>
      </p:sp>
      <p:sp>
        <p:nvSpPr>
          <p:cNvPr id="63" name="Timeline rule: First float and tow test"/>
          <p:cNvSpPr/>
          <p:nvPr/>
        </p:nvSpPr>
        <p:spPr>
          <a:xfrm>
            <a:off x="4023360" y="8010144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imeline date: First float and tow test"/>
          <p:cNvSpPr txBox="1"/>
          <p:nvPr/>
        </p:nvSpPr>
        <p:spPr>
          <a:xfrm>
            <a:off x="4023360" y="8051292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22</a:t>
            </a:r>
          </a:p>
        </p:txBody>
      </p:sp>
      <p:sp>
        <p:nvSpPr>
          <p:cNvPr id="65" name="Timeline label: First float and tow test"/>
          <p:cNvSpPr txBox="1"/>
          <p:nvPr/>
        </p:nvSpPr>
        <p:spPr>
          <a:xfrm>
            <a:off x="5120640" y="8051292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First float and tow test</a:t>
            </a:r>
          </a:p>
        </p:txBody>
      </p:sp>
      <p:sp>
        <p:nvSpPr>
          <p:cNvPr id="66" name="Timeline rule: Zeroth nautical mile"/>
          <p:cNvSpPr/>
          <p:nvPr/>
        </p:nvSpPr>
        <p:spPr>
          <a:xfrm>
            <a:off x="4023360" y="8211312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imeline date: Zeroth nautical mile"/>
          <p:cNvSpPr txBox="1"/>
          <p:nvPr/>
        </p:nvSpPr>
        <p:spPr>
          <a:xfrm>
            <a:off x="4023360" y="8252460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Jan 29</a:t>
            </a:r>
          </a:p>
        </p:txBody>
      </p:sp>
      <p:sp>
        <p:nvSpPr>
          <p:cNvPr id="68" name="Timeline label: Zeroth nautical mile"/>
          <p:cNvSpPr txBox="1"/>
          <p:nvPr/>
        </p:nvSpPr>
        <p:spPr>
          <a:xfrm>
            <a:off x="5120640" y="8252460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Zeroth nautical mile</a:t>
            </a:r>
          </a:p>
        </p:txBody>
      </p:sp>
      <p:sp>
        <p:nvSpPr>
          <p:cNvPr id="69" name="Timeline rule: Slow drives on the water"/>
          <p:cNvSpPr/>
          <p:nvPr/>
        </p:nvSpPr>
        <p:spPr>
          <a:xfrm>
            <a:off x="4023360" y="8412480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imeline date: Slow drives on the water"/>
          <p:cNvSpPr txBox="1"/>
          <p:nvPr/>
        </p:nvSpPr>
        <p:spPr>
          <a:xfrm>
            <a:off x="4023360" y="8453628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1–14</a:t>
            </a:r>
          </a:p>
        </p:txBody>
      </p:sp>
      <p:sp>
        <p:nvSpPr>
          <p:cNvPr id="71" name="Timeline label: Slow drives on the water"/>
          <p:cNvSpPr txBox="1"/>
          <p:nvPr/>
        </p:nvSpPr>
        <p:spPr>
          <a:xfrm>
            <a:off x="5120640" y="8453628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Slow drives on the water</a:t>
            </a:r>
          </a:p>
        </p:txBody>
      </p:sp>
      <p:sp>
        <p:nvSpPr>
          <p:cNvPr id="72" name="Timeline rule: Start increasing speed"/>
          <p:cNvSpPr/>
          <p:nvPr/>
        </p:nvSpPr>
        <p:spPr>
          <a:xfrm>
            <a:off x="4023360" y="8613648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imeline date: Start increasing speed"/>
          <p:cNvSpPr txBox="1"/>
          <p:nvPr/>
        </p:nvSpPr>
        <p:spPr>
          <a:xfrm>
            <a:off x="4023360" y="8654796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Feb 15</a:t>
            </a:r>
          </a:p>
        </p:txBody>
      </p:sp>
      <p:sp>
        <p:nvSpPr>
          <p:cNvPr id="74" name="Timeline label: Start increasing speed"/>
          <p:cNvSpPr txBox="1"/>
          <p:nvPr/>
        </p:nvSpPr>
        <p:spPr>
          <a:xfrm>
            <a:off x="5120640" y="8654796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Start increasing speed</a:t>
            </a:r>
          </a:p>
        </p:txBody>
      </p:sp>
      <p:sp>
        <p:nvSpPr>
          <p:cNvPr id="75" name="Timeline rule: Test as much as possible"/>
          <p:cNvSpPr/>
          <p:nvPr/>
        </p:nvSpPr>
        <p:spPr>
          <a:xfrm>
            <a:off x="4023360" y="8814816"/>
            <a:ext cx="3364992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imeline date: Test as much as possible"/>
          <p:cNvSpPr txBox="1"/>
          <p:nvPr/>
        </p:nvSpPr>
        <p:spPr>
          <a:xfrm>
            <a:off x="4023360" y="8855964"/>
            <a:ext cx="1051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5050C"/>
                </a:solidFill>
                <a:latin typeface="Arial"/>
              </a:rPr>
              <a:t>From Feb 15</a:t>
            </a:r>
          </a:p>
        </p:txBody>
      </p:sp>
      <p:sp>
        <p:nvSpPr>
          <p:cNvPr id="77" name="Timeline label: Test as much as possible"/>
          <p:cNvSpPr txBox="1"/>
          <p:nvPr/>
        </p:nvSpPr>
        <p:spPr>
          <a:xfrm>
            <a:off x="5120640" y="8855964"/>
            <a:ext cx="2267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3F3F46"/>
                </a:solidFill>
                <a:latin typeface="Arial"/>
              </a:rPr>
              <a:t>Test as much as possible</a:t>
            </a:r>
          </a:p>
        </p:txBody>
      </p:sp>
      <p:sp>
        <p:nvSpPr>
          <p:cNvPr id="78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80" name="Footer tagline"/>
          <p:cNvSpPr txBox="1"/>
          <p:nvPr/>
        </p:nvSpPr>
        <p:spPr>
          <a:xfrm>
            <a:off x="384048" y="96926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parts, advisors and people to build our BOM as we design.</a:t>
            </a:r>
          </a:p>
        </p:txBody>
      </p:sp>
      <p:sp>
        <p:nvSpPr>
          <p:cNvPr id="81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82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83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84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85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