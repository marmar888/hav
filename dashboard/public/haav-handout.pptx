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 band"/>
          <p:cNvSpPr/>
          <p:nvPr/>
        </p:nvSpPr>
        <p:spPr>
          <a:xfrm>
            <a:off x="0" y="0"/>
            <a:ext cx="7772400" cy="91440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384048" y="1463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84048" y="65836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Logo plate"/>
          <p:cNvSpPr/>
          <p:nvPr/>
        </p:nvSpPr>
        <p:spPr>
          <a:xfrm>
            <a:off x="5522976" y="109728"/>
            <a:ext cx="186537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"/>
            <a:ext cx="1765850" cy="603504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384048" y="11155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8181B"/>
                </a:solidFill>
                <a:latin typeface="Arial"/>
              </a:rPr>
              <a:t>A student team building an autonomous boat from the ground up.</a:t>
            </a:r>
          </a:p>
        </p:txBody>
      </p:sp>
      <p:sp>
        <p:nvSpPr>
          <p:cNvPr id="8" name="Hull frame"/>
          <p:cNvSpPr/>
          <p:nvPr/>
        </p:nvSpPr>
        <p:spPr>
          <a:xfrm>
            <a:off x="4663440" y="1069848"/>
            <a:ext cx="2724912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Hull render" descr="h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97280"/>
            <a:ext cx="1526540" cy="1280160"/>
          </a:xfrm>
          <a:prstGeom prst="rect">
            <a:avLst/>
          </a:prstGeom>
        </p:spPr>
      </p:pic>
      <p:sp>
        <p:nvSpPr>
          <p:cNvPr id="10" name="Label: How we model it"/>
          <p:cNvSpPr txBox="1"/>
          <p:nvPr/>
        </p:nvSpPr>
        <p:spPr>
          <a:xfrm>
            <a:off x="384048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HOW WE MODEL IT</a:t>
            </a:r>
          </a:p>
        </p:txBody>
      </p:sp>
      <p:sp>
        <p:nvSpPr>
          <p:cNvPr id="11" name="Model panel"/>
          <p:cNvSpPr/>
          <p:nvPr/>
        </p:nvSpPr>
        <p:spPr>
          <a:xfrm>
            <a:off x="384048" y="2852928"/>
            <a:ext cx="7004304" cy="1216152"/>
          </a:xfrm>
          <a:prstGeom prst="roundRect">
            <a:avLst>
              <a:gd name="adj" fmla="val 751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del title"/>
          <p:cNvSpPr txBox="1"/>
          <p:nvPr/>
        </p:nvSpPr>
        <p:spPr>
          <a:xfrm>
            <a:off x="548640" y="299008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3" name="Model text"/>
          <p:cNvSpPr txBox="1"/>
          <p:nvPr/>
        </p:nvSpPr>
        <p:spPr>
          <a:xfrm>
            <a:off x="548640" y="3310128"/>
            <a:ext cx="6675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F3F46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1000" b="1">
                <a:solidFill>
                  <a:srgbClr val="3F3F46"/>
                </a:solidFill>
                <a:latin typeface="Arial"/>
              </a:rPr>
              <a:t>Savitsky's planing-hull model</a:t>
            </a:r>
            <a:r>
              <a:rPr sz="1000" b="0">
                <a:solidFill>
                  <a:srgbClr val="3F3F46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4" name="Label: Engineers from across UW–Madison"/>
          <p:cNvSpPr txBox="1"/>
          <p:nvPr/>
        </p:nvSpPr>
        <p:spPr>
          <a:xfrm>
            <a:off x="384048" y="438912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5" name="Engineers text"/>
          <p:cNvSpPr txBox="1"/>
          <p:nvPr/>
        </p:nvSpPr>
        <p:spPr>
          <a:xfrm>
            <a:off x="384048" y="4572000"/>
            <a:ext cx="7004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6" name="Tile: Industrial"/>
          <p:cNvSpPr/>
          <p:nvPr/>
        </p:nvSpPr>
        <p:spPr>
          <a:xfrm>
            <a:off x="384048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ile title: Industrial"/>
          <p:cNvSpPr txBox="1"/>
          <p:nvPr/>
        </p:nvSpPr>
        <p:spPr>
          <a:xfrm>
            <a:off x="484632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Industrial</a:t>
            </a:r>
          </a:p>
        </p:txBody>
      </p:sp>
      <p:sp>
        <p:nvSpPr>
          <p:cNvPr id="18" name="Tile text: Industrial"/>
          <p:cNvSpPr txBox="1"/>
          <p:nvPr/>
        </p:nvSpPr>
        <p:spPr>
          <a:xfrm>
            <a:off x="484632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19" name="Tile: Mechanical"/>
          <p:cNvSpPr/>
          <p:nvPr/>
        </p:nvSpPr>
        <p:spPr>
          <a:xfrm>
            <a:off x="2157984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ile title: Mechanical"/>
          <p:cNvSpPr txBox="1"/>
          <p:nvPr/>
        </p:nvSpPr>
        <p:spPr>
          <a:xfrm>
            <a:off x="2258568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Mechanical</a:t>
            </a:r>
          </a:p>
        </p:txBody>
      </p:sp>
      <p:sp>
        <p:nvSpPr>
          <p:cNvPr id="21" name="Tile text: Mechanical"/>
          <p:cNvSpPr txBox="1"/>
          <p:nvPr/>
        </p:nvSpPr>
        <p:spPr>
          <a:xfrm>
            <a:off x="2258568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22" name="Tile: Electrical"/>
          <p:cNvSpPr/>
          <p:nvPr/>
        </p:nvSpPr>
        <p:spPr>
          <a:xfrm>
            <a:off x="3931920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le title: Electrical"/>
          <p:cNvSpPr txBox="1"/>
          <p:nvPr/>
        </p:nvSpPr>
        <p:spPr>
          <a:xfrm>
            <a:off x="4032504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Electrical</a:t>
            </a:r>
          </a:p>
        </p:txBody>
      </p:sp>
      <p:sp>
        <p:nvSpPr>
          <p:cNvPr id="24" name="Tile text: Electrical"/>
          <p:cNvSpPr txBox="1"/>
          <p:nvPr/>
        </p:nvSpPr>
        <p:spPr>
          <a:xfrm>
            <a:off x="4032504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5" name="Tile: Computer"/>
          <p:cNvSpPr/>
          <p:nvPr/>
        </p:nvSpPr>
        <p:spPr>
          <a:xfrm>
            <a:off x="5705856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ile title: Computer"/>
          <p:cNvSpPr txBox="1"/>
          <p:nvPr/>
        </p:nvSpPr>
        <p:spPr>
          <a:xfrm>
            <a:off x="5806440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Computer</a:t>
            </a:r>
          </a:p>
        </p:txBody>
      </p:sp>
      <p:sp>
        <p:nvSpPr>
          <p:cNvPr id="27" name="Tile text: Computer"/>
          <p:cNvSpPr txBox="1"/>
          <p:nvPr/>
        </p:nvSpPr>
        <p:spPr>
          <a:xfrm>
            <a:off x="5806440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28" name="Label: Our approach"/>
          <p:cNvSpPr txBox="1"/>
          <p:nvPr/>
        </p:nvSpPr>
        <p:spPr>
          <a:xfrm>
            <a:off x="384048" y="58521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OUR APPROACH</a:t>
            </a:r>
          </a:p>
        </p:txBody>
      </p:sp>
      <p:sp>
        <p:nvSpPr>
          <p:cNvPr id="29" name="Card: Hull"/>
          <p:cNvSpPr/>
          <p:nvPr/>
        </p:nvSpPr>
        <p:spPr>
          <a:xfrm>
            <a:off x="384048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 title: Hull"/>
          <p:cNvSpPr txBox="1"/>
          <p:nvPr/>
        </p:nvSpPr>
        <p:spPr>
          <a:xfrm>
            <a:off x="521207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Hull</a:t>
            </a:r>
          </a:p>
        </p:txBody>
      </p:sp>
      <p:sp>
        <p:nvSpPr>
          <p:cNvPr id="31" name="Card strategy: Hull"/>
          <p:cNvSpPr txBox="1"/>
          <p:nvPr/>
        </p:nvSpPr>
        <p:spPr>
          <a:xfrm>
            <a:off x="521207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Plane well and stay light.</a:t>
            </a:r>
          </a:p>
        </p:txBody>
      </p:sp>
      <p:sp>
        <p:nvSpPr>
          <p:cNvPr id="32" name="Card rule: Hull"/>
          <p:cNvSpPr/>
          <p:nvPr/>
        </p:nvSpPr>
        <p:spPr>
          <a:xfrm>
            <a:off x="521207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rd points: Hull"/>
          <p:cNvSpPr txBox="1"/>
          <p:nvPr/>
        </p:nvSpPr>
        <p:spPr>
          <a:xfrm>
            <a:off x="521207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34" name="Card: Electric"/>
          <p:cNvSpPr/>
          <p:nvPr/>
        </p:nvSpPr>
        <p:spPr>
          <a:xfrm>
            <a:off x="2743200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rd title: Electric"/>
          <p:cNvSpPr txBox="1"/>
          <p:nvPr/>
        </p:nvSpPr>
        <p:spPr>
          <a:xfrm>
            <a:off x="2880360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Electric</a:t>
            </a:r>
          </a:p>
        </p:txBody>
      </p:sp>
      <p:sp>
        <p:nvSpPr>
          <p:cNvPr id="36" name="Card strategy: Electric"/>
          <p:cNvSpPr txBox="1"/>
          <p:nvPr/>
        </p:nvSpPr>
        <p:spPr>
          <a:xfrm>
            <a:off x="2880360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Every watt-hour to speed.</a:t>
            </a:r>
          </a:p>
        </p:txBody>
      </p:sp>
      <p:sp>
        <p:nvSpPr>
          <p:cNvPr id="37" name="Card rule: Electric"/>
          <p:cNvSpPr/>
          <p:nvPr/>
        </p:nvSpPr>
        <p:spPr>
          <a:xfrm>
            <a:off x="2880360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rd points: Electric"/>
          <p:cNvSpPr txBox="1"/>
          <p:nvPr/>
        </p:nvSpPr>
        <p:spPr>
          <a:xfrm>
            <a:off x="2880360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39" name="Card: Autonomous"/>
          <p:cNvSpPr/>
          <p:nvPr/>
        </p:nvSpPr>
        <p:spPr>
          <a:xfrm>
            <a:off x="5102352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rd title: Autonomous"/>
          <p:cNvSpPr txBox="1"/>
          <p:nvPr/>
        </p:nvSpPr>
        <p:spPr>
          <a:xfrm>
            <a:off x="5239512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Autonomous</a:t>
            </a:r>
          </a:p>
        </p:txBody>
      </p:sp>
      <p:sp>
        <p:nvSpPr>
          <p:cNvPr id="41" name="Card strategy: Autonomous"/>
          <p:cNvSpPr txBox="1"/>
          <p:nvPr/>
        </p:nvSpPr>
        <p:spPr>
          <a:xfrm>
            <a:off x="5239512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Manage drift and controls.</a:t>
            </a:r>
          </a:p>
        </p:txBody>
      </p:sp>
      <p:sp>
        <p:nvSpPr>
          <p:cNvPr id="42" name="Card rule: Autonomous"/>
          <p:cNvSpPr/>
          <p:nvPr/>
        </p:nvSpPr>
        <p:spPr>
          <a:xfrm>
            <a:off x="5239512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rd points: Autonomous"/>
          <p:cNvSpPr txBox="1"/>
          <p:nvPr/>
        </p:nvSpPr>
        <p:spPr>
          <a:xfrm>
            <a:off x="5239512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Software plans the route</a:t>
            </a:r>
          </a:p>
        </p:txBody>
      </p:sp>
      <p:sp>
        <p:nvSpPr>
          <p:cNvPr id="44" name="Label: Timeline"/>
          <p:cNvSpPr txBox="1"/>
          <p:nvPr/>
        </p:nvSpPr>
        <p:spPr>
          <a:xfrm>
            <a:off x="384048" y="779068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TIMELINE</a:t>
            </a:r>
          </a:p>
        </p:txBody>
      </p:sp>
      <p:sp>
        <p:nvSpPr>
          <p:cNvPr id="45" name="Timeline rule: Current hull design frozen"/>
          <p:cNvSpPr/>
          <p:nvPr/>
        </p:nvSpPr>
        <p:spPr>
          <a:xfrm>
            <a:off x="384048" y="801014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imeline date: Current hull design frozen"/>
          <p:cNvSpPr txBox="1"/>
          <p:nvPr/>
        </p:nvSpPr>
        <p:spPr>
          <a:xfrm>
            <a:off x="384048" y="805129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Oct 25</a:t>
            </a:r>
          </a:p>
        </p:txBody>
      </p:sp>
      <p:sp>
        <p:nvSpPr>
          <p:cNvPr id="47" name="Timeline label: Current hull design frozen"/>
          <p:cNvSpPr txBox="1"/>
          <p:nvPr/>
        </p:nvSpPr>
        <p:spPr>
          <a:xfrm>
            <a:off x="1481328" y="805129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Current hull design frozen</a:t>
            </a:r>
          </a:p>
        </p:txBody>
      </p:sp>
      <p:sp>
        <p:nvSpPr>
          <p:cNvPr id="48" name="Timeline rule: Preliminary design review"/>
          <p:cNvSpPr/>
          <p:nvPr/>
        </p:nvSpPr>
        <p:spPr>
          <a:xfrm>
            <a:off x="384048" y="8211312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imeline date: Preliminary design review"/>
          <p:cNvSpPr txBox="1"/>
          <p:nvPr/>
        </p:nvSpPr>
        <p:spPr>
          <a:xfrm>
            <a:off x="384048" y="8252460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15</a:t>
            </a:r>
          </a:p>
        </p:txBody>
      </p:sp>
      <p:sp>
        <p:nvSpPr>
          <p:cNvPr id="50" name="Timeline label: Preliminary design review"/>
          <p:cNvSpPr txBox="1"/>
          <p:nvPr/>
        </p:nvSpPr>
        <p:spPr>
          <a:xfrm>
            <a:off x="1481328" y="8252460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Preliminary design review</a:t>
            </a:r>
          </a:p>
        </p:txBody>
      </p:sp>
      <p:sp>
        <p:nvSpPr>
          <p:cNvPr id="51" name="Timeline rule: Mechanical and electrical design frozen"/>
          <p:cNvSpPr/>
          <p:nvPr/>
        </p:nvSpPr>
        <p:spPr>
          <a:xfrm>
            <a:off x="384048" y="8412480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imeline date: Mechanical and electrical design frozen"/>
          <p:cNvSpPr txBox="1"/>
          <p:nvPr/>
        </p:nvSpPr>
        <p:spPr>
          <a:xfrm>
            <a:off x="384048" y="8453628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Dec 1</a:t>
            </a:r>
          </a:p>
        </p:txBody>
      </p:sp>
      <p:sp>
        <p:nvSpPr>
          <p:cNvPr id="53" name="Timeline label: Mechanical and electrical design frozen"/>
          <p:cNvSpPr txBox="1"/>
          <p:nvPr/>
        </p:nvSpPr>
        <p:spPr>
          <a:xfrm>
            <a:off x="1481328" y="8453628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Mechanical and electrical design frozen</a:t>
            </a:r>
          </a:p>
        </p:txBody>
      </p:sp>
      <p:sp>
        <p:nvSpPr>
          <p:cNvPr id="54" name="Timeline rule: Build the hull and composite parts"/>
          <p:cNvSpPr/>
          <p:nvPr/>
        </p:nvSpPr>
        <p:spPr>
          <a:xfrm>
            <a:off x="384048" y="861364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imeline date: Build the hull and composite parts"/>
          <p:cNvSpPr txBox="1"/>
          <p:nvPr/>
        </p:nvSpPr>
        <p:spPr>
          <a:xfrm>
            <a:off x="384048" y="8654796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Dec 1–31</a:t>
            </a:r>
          </a:p>
        </p:txBody>
      </p:sp>
      <p:sp>
        <p:nvSpPr>
          <p:cNvPr id="56" name="Timeline label: Build the hull and composite parts"/>
          <p:cNvSpPr txBox="1"/>
          <p:nvPr/>
        </p:nvSpPr>
        <p:spPr>
          <a:xfrm>
            <a:off x="1481328" y="8654796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Build the hull and composite parts</a:t>
            </a:r>
          </a:p>
        </p:txBody>
      </p:sp>
      <p:sp>
        <p:nvSpPr>
          <p:cNvPr id="57" name="Timeline rule: Manufacture and assemble everything"/>
          <p:cNvSpPr/>
          <p:nvPr/>
        </p:nvSpPr>
        <p:spPr>
          <a:xfrm>
            <a:off x="384048" y="8814816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imeline date: Manufacture and assemble everything"/>
          <p:cNvSpPr txBox="1"/>
          <p:nvPr/>
        </p:nvSpPr>
        <p:spPr>
          <a:xfrm>
            <a:off x="384048" y="8855964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11–28</a:t>
            </a:r>
          </a:p>
        </p:txBody>
      </p:sp>
      <p:sp>
        <p:nvSpPr>
          <p:cNvPr id="59" name="Timeline label: Manufacture and assemble everything"/>
          <p:cNvSpPr txBox="1"/>
          <p:nvPr/>
        </p:nvSpPr>
        <p:spPr>
          <a:xfrm>
            <a:off x="1481328" y="8855964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Manufacture and assemble everything</a:t>
            </a:r>
          </a:p>
        </p:txBody>
      </p:sp>
      <p:sp>
        <p:nvSpPr>
          <p:cNvPr id="60" name="Timeline rule: Build likely spare parts, in parallel"/>
          <p:cNvSpPr/>
          <p:nvPr/>
        </p:nvSpPr>
        <p:spPr>
          <a:xfrm>
            <a:off x="4023360" y="801014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imeline date: Build likely spare parts, in parallel"/>
          <p:cNvSpPr txBox="1"/>
          <p:nvPr/>
        </p:nvSpPr>
        <p:spPr>
          <a:xfrm>
            <a:off x="4023360" y="805129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11–Feb 26</a:t>
            </a:r>
          </a:p>
        </p:txBody>
      </p:sp>
      <p:sp>
        <p:nvSpPr>
          <p:cNvPr id="62" name="Timeline label: Build likely spare parts, in parallel"/>
          <p:cNvSpPr txBox="1"/>
          <p:nvPr/>
        </p:nvSpPr>
        <p:spPr>
          <a:xfrm>
            <a:off x="5120640" y="805129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Build likely spare parts, in parallel</a:t>
            </a:r>
          </a:p>
        </p:txBody>
      </p:sp>
      <p:sp>
        <p:nvSpPr>
          <p:cNvPr id="63" name="Timeline rule: Zeroth nautical mile"/>
          <p:cNvSpPr/>
          <p:nvPr/>
        </p:nvSpPr>
        <p:spPr>
          <a:xfrm>
            <a:off x="4023360" y="8211312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imeline date: Zeroth nautical mile"/>
          <p:cNvSpPr txBox="1"/>
          <p:nvPr/>
        </p:nvSpPr>
        <p:spPr>
          <a:xfrm>
            <a:off x="4023360" y="8252460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29</a:t>
            </a:r>
          </a:p>
        </p:txBody>
      </p:sp>
      <p:sp>
        <p:nvSpPr>
          <p:cNvPr id="65" name="Timeline label: Zeroth nautical mile"/>
          <p:cNvSpPr txBox="1"/>
          <p:nvPr/>
        </p:nvSpPr>
        <p:spPr>
          <a:xfrm>
            <a:off x="5120640" y="8252460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Zeroth nautical mile</a:t>
            </a:r>
          </a:p>
        </p:txBody>
      </p:sp>
      <p:sp>
        <p:nvSpPr>
          <p:cNvPr id="66" name="Timeline rule: Slow drives on the water"/>
          <p:cNvSpPr/>
          <p:nvPr/>
        </p:nvSpPr>
        <p:spPr>
          <a:xfrm>
            <a:off x="4023360" y="8412480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imeline date: Slow drives on the water"/>
          <p:cNvSpPr txBox="1"/>
          <p:nvPr/>
        </p:nvSpPr>
        <p:spPr>
          <a:xfrm>
            <a:off x="4023360" y="8453628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Feb 1–14</a:t>
            </a:r>
          </a:p>
        </p:txBody>
      </p:sp>
      <p:sp>
        <p:nvSpPr>
          <p:cNvPr id="68" name="Timeline label: Slow drives on the water"/>
          <p:cNvSpPr txBox="1"/>
          <p:nvPr/>
        </p:nvSpPr>
        <p:spPr>
          <a:xfrm>
            <a:off x="5120640" y="8453628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Slow drives on the water</a:t>
            </a:r>
          </a:p>
        </p:txBody>
      </p:sp>
      <p:sp>
        <p:nvSpPr>
          <p:cNvPr id="69" name="Timeline rule: Start increasing speed"/>
          <p:cNvSpPr/>
          <p:nvPr/>
        </p:nvSpPr>
        <p:spPr>
          <a:xfrm>
            <a:off x="4023360" y="861364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imeline date: Start increasing speed"/>
          <p:cNvSpPr txBox="1"/>
          <p:nvPr/>
        </p:nvSpPr>
        <p:spPr>
          <a:xfrm>
            <a:off x="4023360" y="8654796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Feb 15</a:t>
            </a:r>
          </a:p>
        </p:txBody>
      </p:sp>
      <p:sp>
        <p:nvSpPr>
          <p:cNvPr id="71" name="Timeline label: Start increasing speed"/>
          <p:cNvSpPr txBox="1"/>
          <p:nvPr/>
        </p:nvSpPr>
        <p:spPr>
          <a:xfrm>
            <a:off x="5120640" y="8654796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Start increasing speed</a:t>
            </a:r>
          </a:p>
        </p:txBody>
      </p:sp>
      <p:sp>
        <p:nvSpPr>
          <p:cNvPr id="72" name="Timeline rule: Test as much as possible until the competition"/>
          <p:cNvSpPr/>
          <p:nvPr/>
        </p:nvSpPr>
        <p:spPr>
          <a:xfrm>
            <a:off x="4023360" y="8814816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imeline date: Test as much as possible until the competition"/>
          <p:cNvSpPr txBox="1"/>
          <p:nvPr/>
        </p:nvSpPr>
        <p:spPr>
          <a:xfrm>
            <a:off x="4023360" y="8855964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From Feb 15</a:t>
            </a:r>
          </a:p>
        </p:txBody>
      </p:sp>
      <p:sp>
        <p:nvSpPr>
          <p:cNvPr id="74" name="Timeline label: Test as much as possible until the competition"/>
          <p:cNvSpPr txBox="1"/>
          <p:nvPr/>
        </p:nvSpPr>
        <p:spPr>
          <a:xfrm>
            <a:off x="5120640" y="8855964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Test as much as possible until the competition</a:t>
            </a:r>
          </a:p>
        </p:txBody>
      </p:sp>
      <p:sp>
        <p:nvSpPr>
          <p:cNvPr id="75" name="Footer band"/>
          <p:cNvSpPr/>
          <p:nvPr/>
        </p:nvSpPr>
        <p:spPr>
          <a:xfrm>
            <a:off x="0" y="9299448"/>
            <a:ext cx="7772400" cy="758952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ooter title"/>
          <p:cNvSpPr txBox="1"/>
          <p:nvPr/>
        </p:nvSpPr>
        <p:spPr>
          <a:xfrm>
            <a:off x="384048" y="94457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Sponsor the build</a:t>
            </a:r>
          </a:p>
        </p:txBody>
      </p:sp>
      <p:sp>
        <p:nvSpPr>
          <p:cNvPr id="77" name="Footer tagline"/>
          <p:cNvSpPr txBox="1"/>
          <p:nvPr/>
        </p:nvSpPr>
        <p:spPr>
          <a:xfrm>
            <a:off x="384048" y="96926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5B5BB"/>
                </a:solidFill>
                <a:latin typeface="Arial"/>
              </a:rPr>
              <a:t>We are looking for funds, parts, advisors and people to build our BOM as we design.</a:t>
            </a:r>
          </a:p>
        </p:txBody>
      </p:sp>
      <p:sp>
        <p:nvSpPr>
          <p:cNvPr id="78" name="Footer link label"/>
          <p:cNvSpPr txBox="1"/>
          <p:nvPr/>
        </p:nvSpPr>
        <p:spPr>
          <a:xfrm>
            <a:off x="2971800" y="941832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9A9AA2"/>
                </a:solidFill>
                <a:latin typeface="Arial"/>
              </a:rPr>
              <a:t>LEARN MORE</a:t>
            </a:r>
          </a:p>
        </p:txBody>
      </p:sp>
      <p:sp>
        <p:nvSpPr>
          <p:cNvPr id="79" name="Footer link"/>
          <p:cNvSpPr txBox="1"/>
          <p:nvPr/>
        </p:nvSpPr>
        <p:spPr>
          <a:xfrm>
            <a:off x="2971800" y="9601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bit.ly/haav</a:t>
            </a:r>
          </a:p>
        </p:txBody>
      </p:sp>
      <p:sp>
        <p:nvSpPr>
          <p:cNvPr id="80" name="Footer contact label"/>
          <p:cNvSpPr txBox="1"/>
          <p:nvPr/>
        </p:nvSpPr>
        <p:spPr>
          <a:xfrm>
            <a:off x="4846320" y="9390888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A9AA2"/>
                </a:solidFill>
                <a:latin typeface="Arial"/>
              </a:rPr>
              <a:t>CONTACT</a:t>
            </a:r>
          </a:p>
        </p:txBody>
      </p:sp>
      <p:sp>
        <p:nvSpPr>
          <p:cNvPr id="81" name="Footer contact name"/>
          <p:cNvSpPr txBox="1"/>
          <p:nvPr/>
        </p:nvSpPr>
        <p:spPr>
          <a:xfrm>
            <a:off x="4846320" y="9555480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82" name="Footer contact email"/>
          <p:cNvSpPr txBox="1"/>
          <p:nvPr/>
        </p:nvSpPr>
        <p:spPr>
          <a:xfrm>
            <a:off x="4846320" y="976579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D4D4D8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