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Current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Current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Current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Current 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Mechanical and electrical design frozen"/>
          <p:cNvSpPr/>
          <p:nvPr/>
        </p:nvSpPr>
        <p:spPr>
          <a:xfrm>
            <a:off x="384048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anical and electrical design frozen"/>
          <p:cNvSpPr txBox="1"/>
          <p:nvPr/>
        </p:nvSpPr>
        <p:spPr>
          <a:xfrm>
            <a:off x="384048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</a:t>
            </a:r>
          </a:p>
        </p:txBody>
      </p:sp>
      <p:sp>
        <p:nvSpPr>
          <p:cNvPr id="53" name="Timeline label: Mechanical and electrical design frozen"/>
          <p:cNvSpPr txBox="1"/>
          <p:nvPr/>
        </p:nvSpPr>
        <p:spPr>
          <a:xfrm>
            <a:off x="1481328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4" name="Timeline rule: Build the hull and composite parts"/>
          <p:cNvSpPr/>
          <p:nvPr/>
        </p:nvSpPr>
        <p:spPr>
          <a:xfrm>
            <a:off x="384048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Build the hull and composite parts"/>
          <p:cNvSpPr txBox="1"/>
          <p:nvPr/>
        </p:nvSpPr>
        <p:spPr>
          <a:xfrm>
            <a:off x="384048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December</a:t>
            </a:r>
          </a:p>
        </p:txBody>
      </p:sp>
      <p:sp>
        <p:nvSpPr>
          <p:cNvPr id="56" name="Timeline label: Build the hull and composite parts"/>
          <p:cNvSpPr txBox="1"/>
          <p:nvPr/>
        </p:nvSpPr>
        <p:spPr>
          <a:xfrm>
            <a:off x="1481328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 and composite parts</a:t>
            </a:r>
          </a:p>
        </p:txBody>
      </p:sp>
      <p:sp>
        <p:nvSpPr>
          <p:cNvPr id="57" name="Timeline rule: First float and tow test"/>
          <p:cNvSpPr/>
          <p:nvPr/>
        </p:nvSpPr>
        <p:spPr>
          <a:xfrm>
            <a:off x="384048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First float and tow test"/>
          <p:cNvSpPr txBox="1"/>
          <p:nvPr/>
        </p:nvSpPr>
        <p:spPr>
          <a:xfrm>
            <a:off x="384048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Early January</a:t>
            </a:r>
          </a:p>
        </p:txBody>
      </p:sp>
      <p:sp>
        <p:nvSpPr>
          <p:cNvPr id="59" name="Timeline label: First float and tow test"/>
          <p:cNvSpPr txBox="1"/>
          <p:nvPr/>
        </p:nvSpPr>
        <p:spPr>
          <a:xfrm>
            <a:off x="1481328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float and tow test</a:t>
            </a:r>
          </a:p>
        </p:txBody>
      </p:sp>
      <p:sp>
        <p:nvSpPr>
          <p:cNvPr id="60" name="Timeline rule: Manufacture and assemble everything"/>
          <p:cNvSpPr/>
          <p:nvPr/>
        </p:nvSpPr>
        <p:spPr>
          <a:xfrm>
            <a:off x="384048" y="901598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Manufacture and assemble everything"/>
          <p:cNvSpPr txBox="1"/>
          <p:nvPr/>
        </p:nvSpPr>
        <p:spPr>
          <a:xfrm>
            <a:off x="384048" y="905713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January</a:t>
            </a:r>
          </a:p>
        </p:txBody>
      </p:sp>
      <p:sp>
        <p:nvSpPr>
          <p:cNvPr id="62" name="Timeline label: Manufacture and assemble everything"/>
          <p:cNvSpPr txBox="1"/>
          <p:nvPr/>
        </p:nvSpPr>
        <p:spPr>
          <a:xfrm>
            <a:off x="1481328" y="905713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3" name="Timeline rule: Build likely spare parts, in parallel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Build likely spare parts, in parallel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Jan–Feb</a:t>
            </a:r>
          </a:p>
        </p:txBody>
      </p:sp>
      <p:sp>
        <p:nvSpPr>
          <p:cNvPr id="65" name="Timeline label: Build likely spare parts, in parallel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6" name="Timeline rule: Zeroth nautical mile"/>
          <p:cNvSpPr/>
          <p:nvPr/>
        </p:nvSpPr>
        <p:spPr>
          <a:xfrm>
            <a:off x="4023360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Zeroth nautical mile"/>
          <p:cNvSpPr txBox="1"/>
          <p:nvPr/>
        </p:nvSpPr>
        <p:spPr>
          <a:xfrm>
            <a:off x="4023360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End of January</a:t>
            </a:r>
          </a:p>
        </p:txBody>
      </p:sp>
      <p:sp>
        <p:nvSpPr>
          <p:cNvPr id="68" name="Timeline label: Zeroth nautical mile"/>
          <p:cNvSpPr txBox="1"/>
          <p:nvPr/>
        </p:nvSpPr>
        <p:spPr>
          <a:xfrm>
            <a:off x="5120640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Zeroth nautical mile</a:t>
            </a:r>
          </a:p>
        </p:txBody>
      </p:sp>
      <p:sp>
        <p:nvSpPr>
          <p:cNvPr id="69" name="Timeline rule: Slow drives on the water"/>
          <p:cNvSpPr/>
          <p:nvPr/>
        </p:nvSpPr>
        <p:spPr>
          <a:xfrm>
            <a:off x="4023360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Slow drives on the water"/>
          <p:cNvSpPr txBox="1"/>
          <p:nvPr/>
        </p:nvSpPr>
        <p:spPr>
          <a:xfrm>
            <a:off x="4023360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Early February</a:t>
            </a:r>
          </a:p>
        </p:txBody>
      </p:sp>
      <p:sp>
        <p:nvSpPr>
          <p:cNvPr id="71" name="Timeline label: Slow drives on the water"/>
          <p:cNvSpPr txBox="1"/>
          <p:nvPr/>
        </p:nvSpPr>
        <p:spPr>
          <a:xfrm>
            <a:off x="5120640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72" name="Timeline rule: Start increasing speed"/>
          <p:cNvSpPr/>
          <p:nvPr/>
        </p:nvSpPr>
        <p:spPr>
          <a:xfrm>
            <a:off x="4023360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tart increasing speed"/>
          <p:cNvSpPr txBox="1"/>
          <p:nvPr/>
        </p:nvSpPr>
        <p:spPr>
          <a:xfrm>
            <a:off x="4023360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Mid February</a:t>
            </a:r>
          </a:p>
        </p:txBody>
      </p:sp>
      <p:sp>
        <p:nvSpPr>
          <p:cNvPr id="74" name="Timeline label: Start increasing speed"/>
          <p:cNvSpPr txBox="1"/>
          <p:nvPr/>
        </p:nvSpPr>
        <p:spPr>
          <a:xfrm>
            <a:off x="5120640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5" name="Timeline rule: Test as much as possible"/>
          <p:cNvSpPr/>
          <p:nvPr/>
        </p:nvSpPr>
        <p:spPr>
          <a:xfrm>
            <a:off x="4023360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Test as much as possible"/>
          <p:cNvSpPr txBox="1"/>
          <p:nvPr/>
        </p:nvSpPr>
        <p:spPr>
          <a:xfrm>
            <a:off x="4023360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Until competition</a:t>
            </a:r>
          </a:p>
        </p:txBody>
      </p:sp>
      <p:sp>
        <p:nvSpPr>
          <p:cNvPr id="77" name="Timeline label: Test as much as possible"/>
          <p:cNvSpPr txBox="1"/>
          <p:nvPr/>
        </p:nvSpPr>
        <p:spPr>
          <a:xfrm>
            <a:off x="5120640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Test as much as possible</a:t>
            </a:r>
          </a:p>
        </p:txBody>
      </p:sp>
      <p:sp>
        <p:nvSpPr>
          <p:cNvPr id="78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0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1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2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3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4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5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