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 band"/>
          <p:cNvSpPr/>
          <p:nvPr/>
        </p:nvSpPr>
        <p:spPr>
          <a:xfrm>
            <a:off x="0" y="0"/>
            <a:ext cx="7772400" cy="91440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384048" y="14630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Haav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84048" y="658368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HIGHLY AMPHIBIOUS / AUTONOMOUS VEHICLE</a:t>
            </a:r>
          </a:p>
        </p:txBody>
      </p:sp>
      <p:sp>
        <p:nvSpPr>
          <p:cNvPr id="5" name="Logo plate"/>
          <p:cNvSpPr/>
          <p:nvPr/>
        </p:nvSpPr>
        <p:spPr>
          <a:xfrm>
            <a:off x="5522976" y="109728"/>
            <a:ext cx="1865376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UW-Madison logo" descr="uw-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55448"/>
            <a:ext cx="1765850" cy="603504"/>
          </a:xfrm>
          <a:prstGeom prst="rect">
            <a:avLst/>
          </a:prstGeom>
        </p:spPr>
      </p:pic>
      <p:sp>
        <p:nvSpPr>
          <p:cNvPr id="7" name="Headline"/>
          <p:cNvSpPr txBox="1"/>
          <p:nvPr/>
        </p:nvSpPr>
        <p:spPr>
          <a:xfrm>
            <a:off x="384048" y="1115568"/>
            <a:ext cx="4023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>
                <a:solidFill>
                  <a:srgbClr val="18181B"/>
                </a:solidFill>
                <a:latin typeface="Arial"/>
              </a:rPr>
              <a:t>A student team building an autonomous boat from the ground up.</a:t>
            </a:r>
          </a:p>
        </p:txBody>
      </p:sp>
      <p:sp>
        <p:nvSpPr>
          <p:cNvPr id="8" name="Hull frame"/>
          <p:cNvSpPr/>
          <p:nvPr/>
        </p:nvSpPr>
        <p:spPr>
          <a:xfrm>
            <a:off x="4663440" y="1069848"/>
            <a:ext cx="2724912" cy="1335024"/>
          </a:xfrm>
          <a:prstGeom prst="roundRect">
            <a:avLst>
              <a:gd name="adj" fmla="val 6849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Hull render" descr="h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097280"/>
            <a:ext cx="1526540" cy="1280160"/>
          </a:xfrm>
          <a:prstGeom prst="rect">
            <a:avLst/>
          </a:prstGeom>
        </p:spPr>
      </p:pic>
      <p:sp>
        <p:nvSpPr>
          <p:cNvPr id="10" name="Label: How we model it"/>
          <p:cNvSpPr txBox="1"/>
          <p:nvPr/>
        </p:nvSpPr>
        <p:spPr>
          <a:xfrm>
            <a:off x="384048" y="265176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HOW WE MODEL IT</a:t>
            </a:r>
          </a:p>
        </p:txBody>
      </p:sp>
      <p:sp>
        <p:nvSpPr>
          <p:cNvPr id="11" name="Model panel"/>
          <p:cNvSpPr/>
          <p:nvPr/>
        </p:nvSpPr>
        <p:spPr>
          <a:xfrm>
            <a:off x="384048" y="2852928"/>
            <a:ext cx="7004304" cy="1216152"/>
          </a:xfrm>
          <a:prstGeom prst="roundRect">
            <a:avLst>
              <a:gd name="adj" fmla="val 7518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Model title"/>
          <p:cNvSpPr txBox="1"/>
          <p:nvPr/>
        </p:nvSpPr>
        <p:spPr>
          <a:xfrm>
            <a:off x="548640" y="2990088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8181B"/>
                </a:solidFill>
                <a:latin typeface="Arial"/>
              </a:rPr>
              <a:t>First-principles mixed-integer linear programming</a:t>
            </a:r>
          </a:p>
        </p:txBody>
      </p:sp>
      <p:sp>
        <p:nvSpPr>
          <p:cNvPr id="13" name="Model text"/>
          <p:cNvSpPr txBox="1"/>
          <p:nvPr/>
        </p:nvSpPr>
        <p:spPr>
          <a:xfrm>
            <a:off x="548640" y="3310128"/>
            <a:ext cx="6675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F3F46"/>
                </a:solidFill>
                <a:latin typeface="Arial"/>
              </a:rPr>
              <a:t>We build the model from physics up. Each constraint cuts the space of possible boats, and the optimizer finds the fastest one left. Hull resistance comes from </a:t>
            </a:r>
            <a:r>
              <a:rPr sz="1000" b="1">
                <a:solidFill>
                  <a:srgbClr val="3F3F46"/>
                </a:solidFill>
                <a:latin typeface="Arial"/>
              </a:rPr>
              <a:t>Savitsky's planing-hull model</a:t>
            </a:r>
            <a:r>
              <a:rPr sz="1000" b="0">
                <a:solidFill>
                  <a:srgbClr val="3F3F46"/>
                </a:solidFill>
                <a:latin typeface="Arial"/>
              </a:rPr>
              <a:t>. As we build and test, we keep updating the model and adding constraints: a hybrid of simulation and empirical data.</a:t>
            </a:r>
          </a:p>
        </p:txBody>
      </p:sp>
      <p:sp>
        <p:nvSpPr>
          <p:cNvPr id="14" name="Label: Engineers from across UW–Madison"/>
          <p:cNvSpPr txBox="1"/>
          <p:nvPr/>
        </p:nvSpPr>
        <p:spPr>
          <a:xfrm>
            <a:off x="384048" y="438912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ENGINEERS FROM ACROSS UW–MADISON</a:t>
            </a:r>
          </a:p>
        </p:txBody>
      </p:sp>
      <p:sp>
        <p:nvSpPr>
          <p:cNvPr id="15" name="Engineers text"/>
          <p:cNvSpPr txBox="1"/>
          <p:nvPr/>
        </p:nvSpPr>
        <p:spPr>
          <a:xfrm>
            <a:off x="384048" y="4572000"/>
            <a:ext cx="7004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Each segment of the boat is covered, and members have worked at Tesla, Northrop Grumman, Xcel Energy and Milwaukee Tool.</a:t>
            </a:r>
          </a:p>
        </p:txBody>
      </p:sp>
      <p:sp>
        <p:nvSpPr>
          <p:cNvPr id="16" name="Tile: Industrial"/>
          <p:cNvSpPr/>
          <p:nvPr/>
        </p:nvSpPr>
        <p:spPr>
          <a:xfrm>
            <a:off x="384048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ile title: Industrial"/>
          <p:cNvSpPr txBox="1"/>
          <p:nvPr/>
        </p:nvSpPr>
        <p:spPr>
          <a:xfrm>
            <a:off x="484632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Industrial</a:t>
            </a:r>
          </a:p>
        </p:txBody>
      </p:sp>
      <p:sp>
        <p:nvSpPr>
          <p:cNvPr id="18" name="Tile text: Industrial"/>
          <p:cNvSpPr txBox="1"/>
          <p:nvPr/>
        </p:nvSpPr>
        <p:spPr>
          <a:xfrm>
            <a:off x="484632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Optimization, composites and manufacturing</a:t>
            </a:r>
          </a:p>
        </p:txBody>
      </p:sp>
      <p:sp>
        <p:nvSpPr>
          <p:cNvPr id="19" name="Tile: Mechanical"/>
          <p:cNvSpPr/>
          <p:nvPr/>
        </p:nvSpPr>
        <p:spPr>
          <a:xfrm>
            <a:off x="2157984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ile title: Mechanical"/>
          <p:cNvSpPr txBox="1"/>
          <p:nvPr/>
        </p:nvSpPr>
        <p:spPr>
          <a:xfrm>
            <a:off x="2258568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Mechanical</a:t>
            </a:r>
          </a:p>
        </p:txBody>
      </p:sp>
      <p:sp>
        <p:nvSpPr>
          <p:cNvPr id="21" name="Tile text: Mechanical"/>
          <p:cNvSpPr txBox="1"/>
          <p:nvPr/>
        </p:nvSpPr>
        <p:spPr>
          <a:xfrm>
            <a:off x="2258568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Structures, CAD and fabrication</a:t>
            </a:r>
          </a:p>
        </p:txBody>
      </p:sp>
      <p:sp>
        <p:nvSpPr>
          <p:cNvPr id="22" name="Tile: Electrical"/>
          <p:cNvSpPr/>
          <p:nvPr/>
        </p:nvSpPr>
        <p:spPr>
          <a:xfrm>
            <a:off x="3931920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ile title: Electrical"/>
          <p:cNvSpPr txBox="1"/>
          <p:nvPr/>
        </p:nvSpPr>
        <p:spPr>
          <a:xfrm>
            <a:off x="4032504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Electrical</a:t>
            </a:r>
          </a:p>
        </p:txBody>
      </p:sp>
      <p:sp>
        <p:nvSpPr>
          <p:cNvPr id="24" name="Tile text: Electrical"/>
          <p:cNvSpPr txBox="1"/>
          <p:nvPr/>
        </p:nvSpPr>
        <p:spPr>
          <a:xfrm>
            <a:off x="4032504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Power, battery and high voltage</a:t>
            </a:r>
          </a:p>
        </p:txBody>
      </p:sp>
      <p:sp>
        <p:nvSpPr>
          <p:cNvPr id="25" name="Tile: Computer"/>
          <p:cNvSpPr/>
          <p:nvPr/>
        </p:nvSpPr>
        <p:spPr>
          <a:xfrm>
            <a:off x="5705856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ile title: Computer"/>
          <p:cNvSpPr txBox="1"/>
          <p:nvPr/>
        </p:nvSpPr>
        <p:spPr>
          <a:xfrm>
            <a:off x="5806440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Computer</a:t>
            </a:r>
          </a:p>
        </p:txBody>
      </p:sp>
      <p:sp>
        <p:nvSpPr>
          <p:cNvPr id="27" name="Tile text: Computer"/>
          <p:cNvSpPr txBox="1"/>
          <p:nvPr/>
        </p:nvSpPr>
        <p:spPr>
          <a:xfrm>
            <a:off x="5806440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Embedded, firmware and software</a:t>
            </a:r>
          </a:p>
        </p:txBody>
      </p:sp>
      <p:sp>
        <p:nvSpPr>
          <p:cNvPr id="28" name="Label: Our approach"/>
          <p:cNvSpPr txBox="1"/>
          <p:nvPr/>
        </p:nvSpPr>
        <p:spPr>
          <a:xfrm>
            <a:off x="384048" y="585216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OUR APPROACH</a:t>
            </a:r>
          </a:p>
        </p:txBody>
      </p:sp>
      <p:sp>
        <p:nvSpPr>
          <p:cNvPr id="29" name="Card: Hull"/>
          <p:cNvSpPr/>
          <p:nvPr/>
        </p:nvSpPr>
        <p:spPr>
          <a:xfrm>
            <a:off x="384048" y="6062472"/>
            <a:ext cx="22402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ard title: Hull"/>
          <p:cNvSpPr txBox="1"/>
          <p:nvPr/>
        </p:nvSpPr>
        <p:spPr>
          <a:xfrm>
            <a:off x="521207" y="61722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Hull</a:t>
            </a:r>
          </a:p>
        </p:txBody>
      </p:sp>
      <p:sp>
        <p:nvSpPr>
          <p:cNvPr id="31" name="Card strategy: Hull"/>
          <p:cNvSpPr txBox="1"/>
          <p:nvPr/>
        </p:nvSpPr>
        <p:spPr>
          <a:xfrm>
            <a:off x="521207" y="65105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Plane well and stay light.</a:t>
            </a:r>
          </a:p>
        </p:txBody>
      </p:sp>
      <p:sp>
        <p:nvSpPr>
          <p:cNvPr id="32" name="Card rule: Hull"/>
          <p:cNvSpPr/>
          <p:nvPr/>
        </p:nvSpPr>
        <p:spPr>
          <a:xfrm>
            <a:off x="521207" y="6821424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ard points: Hull"/>
          <p:cNvSpPr txBox="1"/>
          <p:nvPr/>
        </p:nvSpPr>
        <p:spPr>
          <a:xfrm>
            <a:off x="521207" y="6931152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Hybrid planing composite hull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Shape tuned by optimization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Resistance checked in CFD first</a:t>
            </a:r>
          </a:p>
        </p:txBody>
      </p:sp>
      <p:sp>
        <p:nvSpPr>
          <p:cNvPr id="34" name="Card: Electric"/>
          <p:cNvSpPr/>
          <p:nvPr/>
        </p:nvSpPr>
        <p:spPr>
          <a:xfrm>
            <a:off x="2743200" y="6062472"/>
            <a:ext cx="22402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ard title: Electric"/>
          <p:cNvSpPr txBox="1"/>
          <p:nvPr/>
        </p:nvSpPr>
        <p:spPr>
          <a:xfrm>
            <a:off x="2880360" y="61722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Electric</a:t>
            </a:r>
          </a:p>
        </p:txBody>
      </p:sp>
      <p:sp>
        <p:nvSpPr>
          <p:cNvPr id="36" name="Card strategy: Electric"/>
          <p:cNvSpPr txBox="1"/>
          <p:nvPr/>
        </p:nvSpPr>
        <p:spPr>
          <a:xfrm>
            <a:off x="2880360" y="65105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Every watt-hour to speed.</a:t>
            </a:r>
          </a:p>
        </p:txBody>
      </p:sp>
      <p:sp>
        <p:nvSpPr>
          <p:cNvPr id="37" name="Card rule: Electric"/>
          <p:cNvSpPr/>
          <p:nvPr/>
        </p:nvSpPr>
        <p:spPr>
          <a:xfrm>
            <a:off x="2880360" y="6821424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ard points: Electric"/>
          <p:cNvSpPr txBox="1"/>
          <p:nvPr/>
        </p:nvSpPr>
        <p:spPr>
          <a:xfrm>
            <a:off x="2880360" y="6931152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High-voltage battery storage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Propulsion sized by the model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Propulsion and cooling co-designed</a:t>
            </a:r>
          </a:p>
        </p:txBody>
      </p:sp>
      <p:sp>
        <p:nvSpPr>
          <p:cNvPr id="39" name="Card: Autonomous"/>
          <p:cNvSpPr/>
          <p:nvPr/>
        </p:nvSpPr>
        <p:spPr>
          <a:xfrm>
            <a:off x="5102352" y="6062472"/>
            <a:ext cx="22402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ard title: Autonomous"/>
          <p:cNvSpPr txBox="1"/>
          <p:nvPr/>
        </p:nvSpPr>
        <p:spPr>
          <a:xfrm>
            <a:off x="5239512" y="61722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Autonomous</a:t>
            </a:r>
          </a:p>
        </p:txBody>
      </p:sp>
      <p:sp>
        <p:nvSpPr>
          <p:cNvPr id="41" name="Card strategy: Autonomous"/>
          <p:cNvSpPr txBox="1"/>
          <p:nvPr/>
        </p:nvSpPr>
        <p:spPr>
          <a:xfrm>
            <a:off x="5239512" y="65105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Manage drift and controls.</a:t>
            </a:r>
          </a:p>
        </p:txBody>
      </p:sp>
      <p:sp>
        <p:nvSpPr>
          <p:cNvPr id="42" name="Card rule: Autonomous"/>
          <p:cNvSpPr/>
          <p:nvPr/>
        </p:nvSpPr>
        <p:spPr>
          <a:xfrm>
            <a:off x="5239512" y="6821424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rd points: Autonomous"/>
          <p:cNvSpPr txBox="1"/>
          <p:nvPr/>
        </p:nvSpPr>
        <p:spPr>
          <a:xfrm>
            <a:off x="5239512" y="6931152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GPS, IMU and LIDAR sensing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Firmware protects the battery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Software plans the route</a:t>
            </a:r>
          </a:p>
        </p:txBody>
      </p:sp>
      <p:sp>
        <p:nvSpPr>
          <p:cNvPr id="44" name="Label: Timeline"/>
          <p:cNvSpPr txBox="1"/>
          <p:nvPr/>
        </p:nvSpPr>
        <p:spPr>
          <a:xfrm>
            <a:off x="384048" y="7790688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TIMELINE</a:t>
            </a:r>
          </a:p>
        </p:txBody>
      </p:sp>
      <p:sp>
        <p:nvSpPr>
          <p:cNvPr id="45" name="Timeline rule: Hull design frozen"/>
          <p:cNvSpPr/>
          <p:nvPr/>
        </p:nvSpPr>
        <p:spPr>
          <a:xfrm>
            <a:off x="384048" y="8010144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imeline date: Hull design frozen"/>
          <p:cNvSpPr txBox="1"/>
          <p:nvPr/>
        </p:nvSpPr>
        <p:spPr>
          <a:xfrm>
            <a:off x="384048" y="8051292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Oct 25</a:t>
            </a:r>
          </a:p>
        </p:txBody>
      </p:sp>
      <p:sp>
        <p:nvSpPr>
          <p:cNvPr id="47" name="Timeline label: Hull design frozen"/>
          <p:cNvSpPr txBox="1"/>
          <p:nvPr/>
        </p:nvSpPr>
        <p:spPr>
          <a:xfrm>
            <a:off x="1481328" y="8051292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Hull design frozen</a:t>
            </a:r>
          </a:p>
        </p:txBody>
      </p:sp>
      <p:sp>
        <p:nvSpPr>
          <p:cNvPr id="48" name="Timeline rule: Preliminary design review"/>
          <p:cNvSpPr/>
          <p:nvPr/>
        </p:nvSpPr>
        <p:spPr>
          <a:xfrm>
            <a:off x="384048" y="8193023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imeline date: Preliminary design review"/>
          <p:cNvSpPr txBox="1"/>
          <p:nvPr/>
        </p:nvSpPr>
        <p:spPr>
          <a:xfrm>
            <a:off x="384048" y="8234171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Nov 1</a:t>
            </a:r>
          </a:p>
        </p:txBody>
      </p:sp>
      <p:sp>
        <p:nvSpPr>
          <p:cNvPr id="50" name="Timeline label: Preliminary design review"/>
          <p:cNvSpPr txBox="1"/>
          <p:nvPr/>
        </p:nvSpPr>
        <p:spPr>
          <a:xfrm>
            <a:off x="1481328" y="8234171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Preliminary design review</a:t>
            </a:r>
          </a:p>
        </p:txBody>
      </p:sp>
      <p:sp>
        <p:nvSpPr>
          <p:cNvPr id="51" name="Timeline rule: Critical and long-lead parts are ordered"/>
          <p:cNvSpPr/>
          <p:nvPr/>
        </p:nvSpPr>
        <p:spPr>
          <a:xfrm>
            <a:off x="384048" y="8375903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imeline date: Critical and long-lead parts are ordered"/>
          <p:cNvSpPr txBox="1"/>
          <p:nvPr/>
        </p:nvSpPr>
        <p:spPr>
          <a:xfrm>
            <a:off x="384048" y="8417051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Nov 10</a:t>
            </a:r>
          </a:p>
        </p:txBody>
      </p:sp>
      <p:sp>
        <p:nvSpPr>
          <p:cNvPr id="53" name="Timeline label: Critical and long-lead parts are ordered"/>
          <p:cNvSpPr txBox="1"/>
          <p:nvPr/>
        </p:nvSpPr>
        <p:spPr>
          <a:xfrm>
            <a:off x="1481328" y="8417051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Critical and long-lead parts are ordered</a:t>
            </a:r>
          </a:p>
        </p:txBody>
      </p:sp>
      <p:sp>
        <p:nvSpPr>
          <p:cNvPr id="54" name="Timeline rule: Mechanical and electrical design frozen"/>
          <p:cNvSpPr/>
          <p:nvPr/>
        </p:nvSpPr>
        <p:spPr>
          <a:xfrm>
            <a:off x="384048" y="8558783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imeline date: Mechanical and electrical design frozen"/>
          <p:cNvSpPr txBox="1"/>
          <p:nvPr/>
        </p:nvSpPr>
        <p:spPr>
          <a:xfrm>
            <a:off x="384048" y="8599931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Nov 20</a:t>
            </a:r>
          </a:p>
        </p:txBody>
      </p:sp>
      <p:sp>
        <p:nvSpPr>
          <p:cNvPr id="56" name="Timeline label: Mechanical and electrical design frozen"/>
          <p:cNvSpPr txBox="1"/>
          <p:nvPr/>
        </p:nvSpPr>
        <p:spPr>
          <a:xfrm>
            <a:off x="1481328" y="8599931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Mechanical and electrical design frozen</a:t>
            </a:r>
          </a:p>
        </p:txBody>
      </p:sp>
      <p:sp>
        <p:nvSpPr>
          <p:cNvPr id="57" name="Timeline rule: Build the hull, composite parts and any custom-milled parts"/>
          <p:cNvSpPr/>
          <p:nvPr/>
        </p:nvSpPr>
        <p:spPr>
          <a:xfrm>
            <a:off x="384048" y="8741663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imeline date: Build the hull, composite parts and any custom-milled parts"/>
          <p:cNvSpPr txBox="1"/>
          <p:nvPr/>
        </p:nvSpPr>
        <p:spPr>
          <a:xfrm>
            <a:off x="384048" y="8782811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Nov 20–Dec 20</a:t>
            </a:r>
          </a:p>
        </p:txBody>
      </p:sp>
      <p:sp>
        <p:nvSpPr>
          <p:cNvPr id="59" name="Timeline label: Build the hull, composite parts and any custom-milled parts"/>
          <p:cNvSpPr txBox="1"/>
          <p:nvPr/>
        </p:nvSpPr>
        <p:spPr>
          <a:xfrm>
            <a:off x="1481328" y="8782811"/>
            <a:ext cx="2267712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Build the hull, composite parts and any custom-milled parts</a:t>
            </a:r>
          </a:p>
        </p:txBody>
      </p:sp>
      <p:sp>
        <p:nvSpPr>
          <p:cNvPr id="60" name="Timeline rule: First float and tow test"/>
          <p:cNvSpPr/>
          <p:nvPr/>
        </p:nvSpPr>
        <p:spPr>
          <a:xfrm>
            <a:off x="384048" y="9043415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imeline date: First float and tow test"/>
          <p:cNvSpPr txBox="1"/>
          <p:nvPr/>
        </p:nvSpPr>
        <p:spPr>
          <a:xfrm>
            <a:off x="384048" y="9084563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Jan 8</a:t>
            </a:r>
          </a:p>
        </p:txBody>
      </p:sp>
      <p:sp>
        <p:nvSpPr>
          <p:cNvPr id="62" name="Timeline label: First float and tow test"/>
          <p:cNvSpPr txBox="1"/>
          <p:nvPr/>
        </p:nvSpPr>
        <p:spPr>
          <a:xfrm>
            <a:off x="1481328" y="9084563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First float and tow test</a:t>
            </a:r>
          </a:p>
        </p:txBody>
      </p:sp>
      <p:sp>
        <p:nvSpPr>
          <p:cNvPr id="63" name="Timeline rule: Manufacture and assemble everything"/>
          <p:cNvSpPr/>
          <p:nvPr/>
        </p:nvSpPr>
        <p:spPr>
          <a:xfrm>
            <a:off x="4023360" y="8010144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imeline date: Manufacture and assemble everything"/>
          <p:cNvSpPr txBox="1"/>
          <p:nvPr/>
        </p:nvSpPr>
        <p:spPr>
          <a:xfrm>
            <a:off x="4023360" y="8051292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Jan 8–30</a:t>
            </a:r>
          </a:p>
        </p:txBody>
      </p:sp>
      <p:sp>
        <p:nvSpPr>
          <p:cNvPr id="65" name="Timeline label: Manufacture and assemble everything"/>
          <p:cNvSpPr txBox="1"/>
          <p:nvPr/>
        </p:nvSpPr>
        <p:spPr>
          <a:xfrm>
            <a:off x="5120640" y="8051292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Manufacture and assemble everything</a:t>
            </a:r>
          </a:p>
        </p:txBody>
      </p:sp>
      <p:sp>
        <p:nvSpPr>
          <p:cNvPr id="66" name="Timeline rule: Build likely spare parts, in parallel"/>
          <p:cNvSpPr/>
          <p:nvPr/>
        </p:nvSpPr>
        <p:spPr>
          <a:xfrm>
            <a:off x="4023360" y="8193023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imeline date: Build likely spare parts, in parallel"/>
          <p:cNvSpPr txBox="1"/>
          <p:nvPr/>
        </p:nvSpPr>
        <p:spPr>
          <a:xfrm>
            <a:off x="4023360" y="8234171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Jan 8–30</a:t>
            </a:r>
          </a:p>
        </p:txBody>
      </p:sp>
      <p:sp>
        <p:nvSpPr>
          <p:cNvPr id="68" name="Timeline label: Build likely spare parts, in parallel"/>
          <p:cNvSpPr txBox="1"/>
          <p:nvPr/>
        </p:nvSpPr>
        <p:spPr>
          <a:xfrm>
            <a:off x="5120640" y="8234171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Build likely spare parts, in parallel</a:t>
            </a:r>
          </a:p>
        </p:txBody>
      </p:sp>
      <p:sp>
        <p:nvSpPr>
          <p:cNvPr id="69" name="Timeline rule: First nautical mile"/>
          <p:cNvSpPr/>
          <p:nvPr/>
        </p:nvSpPr>
        <p:spPr>
          <a:xfrm>
            <a:off x="4023360" y="8375903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imeline date: First nautical mile"/>
          <p:cNvSpPr txBox="1"/>
          <p:nvPr/>
        </p:nvSpPr>
        <p:spPr>
          <a:xfrm>
            <a:off x="4023360" y="8417051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Jan 31</a:t>
            </a:r>
          </a:p>
        </p:txBody>
      </p:sp>
      <p:sp>
        <p:nvSpPr>
          <p:cNvPr id="71" name="Timeline label: First nautical mile"/>
          <p:cNvSpPr txBox="1"/>
          <p:nvPr/>
        </p:nvSpPr>
        <p:spPr>
          <a:xfrm>
            <a:off x="5120640" y="8417051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First nautical mile</a:t>
            </a:r>
          </a:p>
        </p:txBody>
      </p:sp>
      <p:sp>
        <p:nvSpPr>
          <p:cNvPr id="72" name="Timeline rule: Slow drives on the water"/>
          <p:cNvSpPr/>
          <p:nvPr/>
        </p:nvSpPr>
        <p:spPr>
          <a:xfrm>
            <a:off x="4023360" y="8558783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imeline date: Slow drives on the water"/>
          <p:cNvSpPr txBox="1"/>
          <p:nvPr/>
        </p:nvSpPr>
        <p:spPr>
          <a:xfrm>
            <a:off x="4023360" y="8599931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Feb 1–14</a:t>
            </a:r>
          </a:p>
        </p:txBody>
      </p:sp>
      <p:sp>
        <p:nvSpPr>
          <p:cNvPr id="74" name="Timeline label: Slow drives on the water"/>
          <p:cNvSpPr txBox="1"/>
          <p:nvPr/>
        </p:nvSpPr>
        <p:spPr>
          <a:xfrm>
            <a:off x="5120640" y="8599931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Slow drives on the water</a:t>
            </a:r>
          </a:p>
        </p:txBody>
      </p:sp>
      <p:sp>
        <p:nvSpPr>
          <p:cNvPr id="75" name="Timeline rule: Start increasing speed"/>
          <p:cNvSpPr/>
          <p:nvPr/>
        </p:nvSpPr>
        <p:spPr>
          <a:xfrm>
            <a:off x="4023360" y="8741663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imeline date: Start increasing speed"/>
          <p:cNvSpPr txBox="1"/>
          <p:nvPr/>
        </p:nvSpPr>
        <p:spPr>
          <a:xfrm>
            <a:off x="4023360" y="8782811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Feb 15</a:t>
            </a:r>
          </a:p>
        </p:txBody>
      </p:sp>
      <p:sp>
        <p:nvSpPr>
          <p:cNvPr id="77" name="Timeline label: Start increasing speed"/>
          <p:cNvSpPr txBox="1"/>
          <p:nvPr/>
        </p:nvSpPr>
        <p:spPr>
          <a:xfrm>
            <a:off x="5120640" y="8782811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Start increasing speed</a:t>
            </a:r>
          </a:p>
        </p:txBody>
      </p:sp>
      <p:sp>
        <p:nvSpPr>
          <p:cNvPr id="78" name="Timeline rule: Testing / Tuning"/>
          <p:cNvSpPr/>
          <p:nvPr/>
        </p:nvSpPr>
        <p:spPr>
          <a:xfrm>
            <a:off x="4023360" y="8924543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imeline date: Testing / Tuning"/>
          <p:cNvSpPr txBox="1"/>
          <p:nvPr/>
        </p:nvSpPr>
        <p:spPr>
          <a:xfrm>
            <a:off x="4023360" y="8965691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Until April</a:t>
            </a:r>
          </a:p>
        </p:txBody>
      </p:sp>
      <p:sp>
        <p:nvSpPr>
          <p:cNvPr id="80" name="Timeline label: Testing / Tuning"/>
          <p:cNvSpPr txBox="1"/>
          <p:nvPr/>
        </p:nvSpPr>
        <p:spPr>
          <a:xfrm>
            <a:off x="5120640" y="8965691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Testing / Tuning</a:t>
            </a:r>
          </a:p>
        </p:txBody>
      </p:sp>
      <p:sp>
        <p:nvSpPr>
          <p:cNvPr id="81" name="Footer band"/>
          <p:cNvSpPr/>
          <p:nvPr/>
        </p:nvSpPr>
        <p:spPr>
          <a:xfrm>
            <a:off x="0" y="9299448"/>
            <a:ext cx="7772400" cy="758952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ooter title"/>
          <p:cNvSpPr txBox="1"/>
          <p:nvPr/>
        </p:nvSpPr>
        <p:spPr>
          <a:xfrm>
            <a:off x="384048" y="94457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Sponsor the build</a:t>
            </a:r>
          </a:p>
        </p:txBody>
      </p:sp>
      <p:sp>
        <p:nvSpPr>
          <p:cNvPr id="83" name="Footer tagline"/>
          <p:cNvSpPr txBox="1"/>
          <p:nvPr/>
        </p:nvSpPr>
        <p:spPr>
          <a:xfrm>
            <a:off x="384048" y="96926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5B5BB"/>
                </a:solidFill>
                <a:latin typeface="Arial"/>
              </a:rPr>
              <a:t>We are looking for funds, parts, advisors and people to build our BOM as we design.</a:t>
            </a:r>
          </a:p>
        </p:txBody>
      </p:sp>
      <p:sp>
        <p:nvSpPr>
          <p:cNvPr id="84" name="Footer link label"/>
          <p:cNvSpPr txBox="1"/>
          <p:nvPr/>
        </p:nvSpPr>
        <p:spPr>
          <a:xfrm>
            <a:off x="2971800" y="9418320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9A9AA2"/>
                </a:solidFill>
                <a:latin typeface="Arial"/>
              </a:rPr>
              <a:t>LEARN MORE</a:t>
            </a:r>
          </a:p>
        </p:txBody>
      </p:sp>
      <p:sp>
        <p:nvSpPr>
          <p:cNvPr id="85" name="Footer link"/>
          <p:cNvSpPr txBox="1"/>
          <p:nvPr/>
        </p:nvSpPr>
        <p:spPr>
          <a:xfrm>
            <a:off x="2971800" y="9601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bit.ly/haav</a:t>
            </a:r>
          </a:p>
        </p:txBody>
      </p:sp>
      <p:sp>
        <p:nvSpPr>
          <p:cNvPr id="86" name="Footer contact label"/>
          <p:cNvSpPr txBox="1"/>
          <p:nvPr/>
        </p:nvSpPr>
        <p:spPr>
          <a:xfrm>
            <a:off x="4846320" y="9390888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A9AA2"/>
                </a:solidFill>
                <a:latin typeface="Arial"/>
              </a:rPr>
              <a:t>CONTACT</a:t>
            </a:r>
          </a:p>
        </p:txBody>
      </p:sp>
      <p:sp>
        <p:nvSpPr>
          <p:cNvPr id="87" name="Footer contact name"/>
          <p:cNvSpPr txBox="1"/>
          <p:nvPr/>
        </p:nvSpPr>
        <p:spPr>
          <a:xfrm>
            <a:off x="4846320" y="9555480"/>
            <a:ext cx="2542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FFFFFF"/>
                </a:solidFill>
                <a:latin typeface="Arial"/>
              </a:rPr>
              <a:t>Marley Barrett, Project lead</a:t>
            </a:r>
          </a:p>
        </p:txBody>
      </p:sp>
      <p:sp>
        <p:nvSpPr>
          <p:cNvPr id="88" name="Footer contact email"/>
          <p:cNvSpPr txBox="1"/>
          <p:nvPr/>
        </p:nvSpPr>
        <p:spPr>
          <a:xfrm>
            <a:off x="4846320" y="9765792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D4D4D8"/>
                </a:solidFill>
                <a:latin typeface="Arial"/>
              </a:rPr>
              <a:t>mhbarrett@wisc.edu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