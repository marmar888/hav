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7772400" cy="91440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384048" y="146304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Haav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84048" y="6583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HIGHLY AMPHIBIOUS / AUTONOMOUS VEHICLE</a:t>
            </a:r>
          </a:p>
        </p:txBody>
      </p:sp>
      <p:sp>
        <p:nvSpPr>
          <p:cNvPr id="5" name="Logo plate"/>
          <p:cNvSpPr/>
          <p:nvPr/>
        </p:nvSpPr>
        <p:spPr>
          <a:xfrm>
            <a:off x="5522976" y="109728"/>
            <a:ext cx="186537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UW-Madison logo" descr="uw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55448"/>
            <a:ext cx="1765850" cy="603504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384048" y="11155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8181B"/>
                </a:solidFill>
                <a:latin typeface="Arial"/>
              </a:rPr>
              <a:t>A student team building an autonomous boat from the ground up.</a:t>
            </a:r>
          </a:p>
        </p:txBody>
      </p:sp>
      <p:sp>
        <p:nvSpPr>
          <p:cNvPr id="8" name="Hull frame"/>
          <p:cNvSpPr/>
          <p:nvPr/>
        </p:nvSpPr>
        <p:spPr>
          <a:xfrm>
            <a:off x="4663440" y="1069848"/>
            <a:ext cx="2724912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Hull render" descr="h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1526540" cy="1280160"/>
          </a:xfrm>
          <a:prstGeom prst="rect">
            <a:avLst/>
          </a:prstGeom>
        </p:spPr>
      </p:pic>
      <p:sp>
        <p:nvSpPr>
          <p:cNvPr id="10" name="Label: How we model it"/>
          <p:cNvSpPr txBox="1"/>
          <p:nvPr/>
        </p:nvSpPr>
        <p:spPr>
          <a:xfrm>
            <a:off x="384048" y="26517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Arial"/>
              </a:rPr>
              <a:t>HOW WE MODEL IT</a:t>
            </a:r>
          </a:p>
        </p:txBody>
      </p:sp>
      <p:sp>
        <p:nvSpPr>
          <p:cNvPr id="11" name="Model panel"/>
          <p:cNvSpPr/>
          <p:nvPr/>
        </p:nvSpPr>
        <p:spPr>
          <a:xfrm>
            <a:off x="384048" y="2852928"/>
            <a:ext cx="7004304" cy="2057400"/>
          </a:xfrm>
          <a:prstGeom prst="roundRect">
            <a:avLst>
              <a:gd name="adj" fmla="val 444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odel title"/>
          <p:cNvSpPr txBox="1"/>
          <p:nvPr/>
        </p:nvSpPr>
        <p:spPr>
          <a:xfrm>
            <a:off x="512064" y="30175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Arial"/>
              </a:rPr>
              <a:t>First-principles mixed-integer linear programming</a:t>
            </a:r>
          </a:p>
        </p:txBody>
      </p:sp>
      <p:sp>
        <p:nvSpPr>
          <p:cNvPr id="13" name="Model text"/>
          <p:cNvSpPr txBox="1"/>
          <p:nvPr/>
        </p:nvSpPr>
        <p:spPr>
          <a:xfrm>
            <a:off x="512064" y="3529584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F3F46"/>
                </a:solidFill>
                <a:latin typeface="Arial"/>
              </a:rPr>
              <a:t>We build the model from physics up. Each constraint cuts the space of possible boats, and the optimizer finds the fastest one left. Hull resistance comes from </a:t>
            </a:r>
            <a:r>
              <a:rPr sz="850" b="1">
                <a:solidFill>
                  <a:srgbClr val="3F3F46"/>
                </a:solidFill>
                <a:latin typeface="Arial"/>
              </a:rPr>
              <a:t>Savitsky's planing-hull model</a:t>
            </a:r>
            <a:r>
              <a:rPr sz="850" b="0">
                <a:solidFill>
                  <a:srgbClr val="3F3F46"/>
                </a:solidFill>
                <a:latin typeface="Arial"/>
              </a:rPr>
              <a:t>. As we build and test, we keep updating the model and adding constraints: a hybrid of simulation and empirical data.</a:t>
            </a:r>
          </a:p>
        </p:txBody>
      </p:sp>
      <p:sp>
        <p:nvSpPr>
          <p:cNvPr id="14" name="Model note"/>
          <p:cNvSpPr txBox="1"/>
          <p:nvPr/>
        </p:nvSpPr>
        <p:spPr>
          <a:xfrm>
            <a:off x="512064" y="45720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1717A"/>
                </a:solidFill>
                <a:latin typeface="Arial"/>
              </a:rPr>
              <a:t>Illustrative: lines are constraints, dots are integer choices, red is what the 6 kW drive adds.</a:t>
            </a:r>
          </a:p>
        </p:txBody>
      </p:sp>
      <p:sp>
        <p:nvSpPr>
          <p:cNvPr id="15" name="Graph plate"/>
          <p:cNvSpPr/>
          <p:nvPr/>
        </p:nvSpPr>
        <p:spPr>
          <a:xfrm>
            <a:off x="3355848" y="2953512"/>
            <a:ext cx="3913632" cy="1856231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Feasible-region graph" descr="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017520"/>
            <a:ext cx="3730752" cy="1667866"/>
          </a:xfrm>
          <a:prstGeom prst="rect">
            <a:avLst/>
          </a:prstGeom>
        </p:spPr>
      </p:pic>
      <p:sp>
        <p:nvSpPr>
          <p:cNvPr id="17" name="Label: Engineers from across UW–Madison"/>
          <p:cNvSpPr txBox="1"/>
          <p:nvPr/>
        </p:nvSpPr>
        <p:spPr>
          <a:xfrm>
            <a:off x="384048" y="51389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Arial"/>
              </a:rPr>
              <a:t>ENGINEERS FROM ACROSS UW–MADISON</a:t>
            </a:r>
          </a:p>
        </p:txBody>
      </p:sp>
      <p:sp>
        <p:nvSpPr>
          <p:cNvPr id="18" name="Engineers text"/>
          <p:cNvSpPr txBox="1"/>
          <p:nvPr/>
        </p:nvSpPr>
        <p:spPr>
          <a:xfrm>
            <a:off x="384048" y="5321808"/>
            <a:ext cx="7004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Each segment of the boat is covered, and members have worked at Tesla, Northrop Grumman, Xcel Energy and Milwaukee Tool.</a:t>
            </a:r>
          </a:p>
        </p:txBody>
      </p:sp>
      <p:sp>
        <p:nvSpPr>
          <p:cNvPr id="19" name="Tile: Industrial"/>
          <p:cNvSpPr/>
          <p:nvPr/>
        </p:nvSpPr>
        <p:spPr>
          <a:xfrm>
            <a:off x="384048" y="5577840"/>
            <a:ext cx="1655064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le title: Industrial"/>
          <p:cNvSpPr txBox="1"/>
          <p:nvPr/>
        </p:nvSpPr>
        <p:spPr>
          <a:xfrm>
            <a:off x="484632" y="5641848"/>
            <a:ext cx="1472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5050C"/>
                </a:solidFill>
                <a:latin typeface="Arial"/>
              </a:rPr>
              <a:t>Industrial</a:t>
            </a:r>
          </a:p>
        </p:txBody>
      </p:sp>
      <p:sp>
        <p:nvSpPr>
          <p:cNvPr id="21" name="Tile text: Industrial"/>
          <p:cNvSpPr txBox="1"/>
          <p:nvPr/>
        </p:nvSpPr>
        <p:spPr>
          <a:xfrm>
            <a:off x="484632" y="5852160"/>
            <a:ext cx="1472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F3F46"/>
                </a:solidFill>
                <a:latin typeface="Arial"/>
              </a:rPr>
              <a:t>Optimization, composites and manufacturing</a:t>
            </a:r>
          </a:p>
        </p:txBody>
      </p:sp>
      <p:sp>
        <p:nvSpPr>
          <p:cNvPr id="22" name="Tile: Mechanical"/>
          <p:cNvSpPr/>
          <p:nvPr/>
        </p:nvSpPr>
        <p:spPr>
          <a:xfrm>
            <a:off x="2157984" y="5577840"/>
            <a:ext cx="1655064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le title: Mechanical"/>
          <p:cNvSpPr txBox="1"/>
          <p:nvPr/>
        </p:nvSpPr>
        <p:spPr>
          <a:xfrm>
            <a:off x="2258568" y="5641848"/>
            <a:ext cx="1472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5050C"/>
                </a:solidFill>
                <a:latin typeface="Arial"/>
              </a:rPr>
              <a:t>Mechanical</a:t>
            </a:r>
          </a:p>
        </p:txBody>
      </p:sp>
      <p:sp>
        <p:nvSpPr>
          <p:cNvPr id="24" name="Tile text: Mechanical"/>
          <p:cNvSpPr txBox="1"/>
          <p:nvPr/>
        </p:nvSpPr>
        <p:spPr>
          <a:xfrm>
            <a:off x="2258568" y="5852160"/>
            <a:ext cx="1472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F3F46"/>
                </a:solidFill>
                <a:latin typeface="Arial"/>
              </a:rPr>
              <a:t>Structures, CAD and fabrication</a:t>
            </a:r>
          </a:p>
        </p:txBody>
      </p:sp>
      <p:sp>
        <p:nvSpPr>
          <p:cNvPr id="25" name="Tile: Electrical"/>
          <p:cNvSpPr/>
          <p:nvPr/>
        </p:nvSpPr>
        <p:spPr>
          <a:xfrm>
            <a:off x="3931920" y="5577840"/>
            <a:ext cx="1655064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le title: Electrical"/>
          <p:cNvSpPr txBox="1"/>
          <p:nvPr/>
        </p:nvSpPr>
        <p:spPr>
          <a:xfrm>
            <a:off x="4032504" y="5641848"/>
            <a:ext cx="1472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5050C"/>
                </a:solidFill>
                <a:latin typeface="Arial"/>
              </a:rPr>
              <a:t>Electrical</a:t>
            </a:r>
          </a:p>
        </p:txBody>
      </p:sp>
      <p:sp>
        <p:nvSpPr>
          <p:cNvPr id="27" name="Tile text: Electrical"/>
          <p:cNvSpPr txBox="1"/>
          <p:nvPr/>
        </p:nvSpPr>
        <p:spPr>
          <a:xfrm>
            <a:off x="4032504" y="5852160"/>
            <a:ext cx="1472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F3F46"/>
                </a:solidFill>
                <a:latin typeface="Arial"/>
              </a:rPr>
              <a:t>Power, battery and high voltage</a:t>
            </a:r>
          </a:p>
        </p:txBody>
      </p:sp>
      <p:sp>
        <p:nvSpPr>
          <p:cNvPr id="28" name="Tile: Computer"/>
          <p:cNvSpPr/>
          <p:nvPr/>
        </p:nvSpPr>
        <p:spPr>
          <a:xfrm>
            <a:off x="5705856" y="5577840"/>
            <a:ext cx="1655064" cy="713232"/>
          </a:xfrm>
          <a:prstGeom prst="roundRect">
            <a:avLst>
              <a:gd name="adj" fmla="val 897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ile title: Computer"/>
          <p:cNvSpPr txBox="1"/>
          <p:nvPr/>
        </p:nvSpPr>
        <p:spPr>
          <a:xfrm>
            <a:off x="5806440" y="5641848"/>
            <a:ext cx="1472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5050C"/>
                </a:solidFill>
                <a:latin typeface="Arial"/>
              </a:rPr>
              <a:t>Computer</a:t>
            </a:r>
          </a:p>
        </p:txBody>
      </p:sp>
      <p:sp>
        <p:nvSpPr>
          <p:cNvPr id="30" name="Tile text: Computer"/>
          <p:cNvSpPr txBox="1"/>
          <p:nvPr/>
        </p:nvSpPr>
        <p:spPr>
          <a:xfrm>
            <a:off x="5806440" y="5852160"/>
            <a:ext cx="1472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3F3F46"/>
                </a:solidFill>
                <a:latin typeface="Arial"/>
              </a:rPr>
              <a:t>Embedded, firmware and software</a:t>
            </a:r>
          </a:p>
        </p:txBody>
      </p:sp>
      <p:sp>
        <p:nvSpPr>
          <p:cNvPr id="31" name="Label: Our approach"/>
          <p:cNvSpPr txBox="1"/>
          <p:nvPr/>
        </p:nvSpPr>
        <p:spPr>
          <a:xfrm>
            <a:off x="384048" y="65562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Arial"/>
              </a:rPr>
              <a:t>OUR APPROACH</a:t>
            </a:r>
          </a:p>
        </p:txBody>
      </p:sp>
      <p:sp>
        <p:nvSpPr>
          <p:cNvPr id="32" name="Card: Hull"/>
          <p:cNvSpPr/>
          <p:nvPr/>
        </p:nvSpPr>
        <p:spPr>
          <a:xfrm>
            <a:off x="384048" y="6766560"/>
            <a:ext cx="224028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rd title: Hull"/>
          <p:cNvSpPr txBox="1"/>
          <p:nvPr/>
        </p:nvSpPr>
        <p:spPr>
          <a:xfrm>
            <a:off x="521207" y="685800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Arial"/>
              </a:rPr>
              <a:t>Hull</a:t>
            </a:r>
          </a:p>
        </p:txBody>
      </p:sp>
      <p:sp>
        <p:nvSpPr>
          <p:cNvPr id="34" name="Card strategy: Hull"/>
          <p:cNvSpPr txBox="1"/>
          <p:nvPr/>
        </p:nvSpPr>
        <p:spPr>
          <a:xfrm>
            <a:off x="521207" y="7187184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8181B"/>
                </a:solidFill>
                <a:latin typeface="Arial"/>
              </a:rPr>
              <a:t>Plane well and stay light.</a:t>
            </a:r>
          </a:p>
        </p:txBody>
      </p:sp>
      <p:sp>
        <p:nvSpPr>
          <p:cNvPr id="35" name="Card rule: Hull"/>
          <p:cNvSpPr/>
          <p:nvPr/>
        </p:nvSpPr>
        <p:spPr>
          <a:xfrm>
            <a:off x="521207" y="7479792"/>
            <a:ext cx="1965960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rd points: Hull"/>
          <p:cNvSpPr txBox="1"/>
          <p:nvPr/>
        </p:nvSpPr>
        <p:spPr>
          <a:xfrm>
            <a:off x="521207" y="75620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Hybrid planing composite hull</a:t>
            </a:r>
          </a:p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Shape tuned by optimization</a:t>
            </a:r>
          </a:p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Resistance checked in CFD first</a:t>
            </a:r>
          </a:p>
        </p:txBody>
      </p:sp>
      <p:sp>
        <p:nvSpPr>
          <p:cNvPr id="37" name="Card: Electric"/>
          <p:cNvSpPr/>
          <p:nvPr/>
        </p:nvSpPr>
        <p:spPr>
          <a:xfrm>
            <a:off x="2743200" y="6766560"/>
            <a:ext cx="224028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rd title: Electric"/>
          <p:cNvSpPr txBox="1"/>
          <p:nvPr/>
        </p:nvSpPr>
        <p:spPr>
          <a:xfrm>
            <a:off x="2880360" y="685800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Arial"/>
              </a:rPr>
              <a:t>Electric</a:t>
            </a:r>
          </a:p>
        </p:txBody>
      </p:sp>
      <p:sp>
        <p:nvSpPr>
          <p:cNvPr id="39" name="Card strategy: Electric"/>
          <p:cNvSpPr txBox="1"/>
          <p:nvPr/>
        </p:nvSpPr>
        <p:spPr>
          <a:xfrm>
            <a:off x="2880360" y="7187184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8181B"/>
                </a:solidFill>
                <a:latin typeface="Arial"/>
              </a:rPr>
              <a:t>Every watt-hour to speed.</a:t>
            </a:r>
          </a:p>
        </p:txBody>
      </p:sp>
      <p:sp>
        <p:nvSpPr>
          <p:cNvPr id="40" name="Card rule: Electric"/>
          <p:cNvSpPr/>
          <p:nvPr/>
        </p:nvSpPr>
        <p:spPr>
          <a:xfrm>
            <a:off x="2880360" y="7479792"/>
            <a:ext cx="1965960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rd points: Electric"/>
          <p:cNvSpPr txBox="1"/>
          <p:nvPr/>
        </p:nvSpPr>
        <p:spPr>
          <a:xfrm>
            <a:off x="2880360" y="75620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High-voltage battery storage</a:t>
            </a:r>
          </a:p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Propulsion sized by the model</a:t>
            </a:r>
          </a:p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Propulsion and cooling co-designed</a:t>
            </a:r>
          </a:p>
        </p:txBody>
      </p:sp>
      <p:sp>
        <p:nvSpPr>
          <p:cNvPr id="42" name="Card: Autonomous"/>
          <p:cNvSpPr/>
          <p:nvPr/>
        </p:nvSpPr>
        <p:spPr>
          <a:xfrm>
            <a:off x="5102352" y="6766560"/>
            <a:ext cx="224028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rd title: Autonomous"/>
          <p:cNvSpPr txBox="1"/>
          <p:nvPr/>
        </p:nvSpPr>
        <p:spPr>
          <a:xfrm>
            <a:off x="5239512" y="685800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Arial"/>
              </a:rPr>
              <a:t>Autonomous</a:t>
            </a:r>
          </a:p>
        </p:txBody>
      </p:sp>
      <p:sp>
        <p:nvSpPr>
          <p:cNvPr id="44" name="Card strategy: Autonomous"/>
          <p:cNvSpPr txBox="1"/>
          <p:nvPr/>
        </p:nvSpPr>
        <p:spPr>
          <a:xfrm>
            <a:off x="5239512" y="7187184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8181B"/>
                </a:solidFill>
                <a:latin typeface="Arial"/>
              </a:rPr>
              <a:t>Find the way, unaided.</a:t>
            </a:r>
          </a:p>
        </p:txBody>
      </p:sp>
      <p:sp>
        <p:nvSpPr>
          <p:cNvPr id="45" name="Card rule: Autonomous"/>
          <p:cNvSpPr/>
          <p:nvPr/>
        </p:nvSpPr>
        <p:spPr>
          <a:xfrm>
            <a:off x="5239512" y="7479792"/>
            <a:ext cx="1965960" cy="9144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rd points: Autonomous"/>
          <p:cNvSpPr txBox="1"/>
          <p:nvPr/>
        </p:nvSpPr>
        <p:spPr>
          <a:xfrm>
            <a:off x="5239512" y="7562088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GPS, IMU and LIDAR sensing</a:t>
            </a:r>
          </a:p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Firmware protects the battery</a:t>
            </a:r>
          </a:p>
          <a:p>
            <a:pPr algn="l">
              <a:lnSpc>
                <a:spcPct val="145000"/>
              </a:lnSpc>
            </a:pPr>
            <a:r>
              <a:rPr sz="600" b="0">
                <a:solidFill>
                  <a:srgbClr val="C5050C"/>
                </a:solidFill>
                <a:latin typeface="Arial"/>
              </a:rPr>
              <a:t>●  </a:t>
            </a:r>
            <a:r>
              <a:rPr sz="900" b="0">
                <a:solidFill>
                  <a:srgbClr val="3F3F46"/>
                </a:solidFill>
                <a:latin typeface="Arial"/>
              </a:rPr>
              <a:t>Software plans the route</a:t>
            </a:r>
          </a:p>
        </p:txBody>
      </p:sp>
      <p:sp>
        <p:nvSpPr>
          <p:cNvPr id="47" name="Label: Timeline"/>
          <p:cNvSpPr txBox="1"/>
          <p:nvPr/>
        </p:nvSpPr>
        <p:spPr>
          <a:xfrm>
            <a:off x="384048" y="84124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Arial"/>
              </a:rPr>
              <a:t>TIMELINE</a:t>
            </a:r>
          </a:p>
        </p:txBody>
      </p:sp>
      <p:sp>
        <p:nvSpPr>
          <p:cNvPr id="48" name="Timeline rule: Hull design"/>
          <p:cNvSpPr/>
          <p:nvPr/>
        </p:nvSpPr>
        <p:spPr>
          <a:xfrm>
            <a:off x="384048" y="8668512"/>
            <a:ext cx="1075944" cy="2286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imeline date: Hull design"/>
          <p:cNvSpPr txBox="1"/>
          <p:nvPr/>
        </p:nvSpPr>
        <p:spPr>
          <a:xfrm>
            <a:off x="384048" y="8732520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8181B"/>
                </a:solidFill>
                <a:latin typeface="Arial"/>
              </a:rPr>
              <a:t>Oct 25</a:t>
            </a:r>
          </a:p>
        </p:txBody>
      </p:sp>
      <p:sp>
        <p:nvSpPr>
          <p:cNvPr id="50" name="Timeline label: Hull design"/>
          <p:cNvSpPr txBox="1"/>
          <p:nvPr/>
        </p:nvSpPr>
        <p:spPr>
          <a:xfrm>
            <a:off x="384048" y="8906256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Hull design</a:t>
            </a:r>
          </a:p>
        </p:txBody>
      </p:sp>
      <p:sp>
        <p:nvSpPr>
          <p:cNvPr id="51" name="Timeline rule: Electrical design"/>
          <p:cNvSpPr/>
          <p:nvPr/>
        </p:nvSpPr>
        <p:spPr>
          <a:xfrm>
            <a:off x="1569720" y="8668512"/>
            <a:ext cx="1075944" cy="2286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imeline date: Electrical design"/>
          <p:cNvSpPr txBox="1"/>
          <p:nvPr/>
        </p:nvSpPr>
        <p:spPr>
          <a:xfrm>
            <a:off x="1569720" y="8732520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8181B"/>
                </a:solidFill>
                <a:latin typeface="Arial"/>
              </a:rPr>
              <a:t>Nov 15</a:t>
            </a:r>
          </a:p>
        </p:txBody>
      </p:sp>
      <p:sp>
        <p:nvSpPr>
          <p:cNvPr id="53" name="Timeline label: Electrical design"/>
          <p:cNvSpPr txBox="1"/>
          <p:nvPr/>
        </p:nvSpPr>
        <p:spPr>
          <a:xfrm>
            <a:off x="1569720" y="8906256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Electrical design</a:t>
            </a:r>
          </a:p>
        </p:txBody>
      </p:sp>
      <p:sp>
        <p:nvSpPr>
          <p:cNvPr id="54" name="Timeline rule: Hull built"/>
          <p:cNvSpPr/>
          <p:nvPr/>
        </p:nvSpPr>
        <p:spPr>
          <a:xfrm>
            <a:off x="2755392" y="8668512"/>
            <a:ext cx="1075944" cy="2286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imeline date: Hull built"/>
          <p:cNvSpPr txBox="1"/>
          <p:nvPr/>
        </p:nvSpPr>
        <p:spPr>
          <a:xfrm>
            <a:off x="2755392" y="8732520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8181B"/>
                </a:solidFill>
                <a:latin typeface="Arial"/>
              </a:rPr>
              <a:t>Nov 25</a:t>
            </a:r>
          </a:p>
        </p:txBody>
      </p:sp>
      <p:sp>
        <p:nvSpPr>
          <p:cNvPr id="56" name="Timeline label: Hull built"/>
          <p:cNvSpPr txBox="1"/>
          <p:nvPr/>
        </p:nvSpPr>
        <p:spPr>
          <a:xfrm>
            <a:off x="2755392" y="8906256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Hull built</a:t>
            </a:r>
          </a:p>
        </p:txBody>
      </p:sp>
      <p:sp>
        <p:nvSpPr>
          <p:cNvPr id="57" name="Timeline rule: First drive"/>
          <p:cNvSpPr/>
          <p:nvPr/>
        </p:nvSpPr>
        <p:spPr>
          <a:xfrm>
            <a:off x="3941064" y="8668512"/>
            <a:ext cx="1075944" cy="2286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imeline date: First drive"/>
          <p:cNvSpPr txBox="1"/>
          <p:nvPr/>
        </p:nvSpPr>
        <p:spPr>
          <a:xfrm>
            <a:off x="3941064" y="8732520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8181B"/>
                </a:solidFill>
                <a:latin typeface="Arial"/>
              </a:rPr>
              <a:t>Jan 25</a:t>
            </a:r>
          </a:p>
        </p:txBody>
      </p:sp>
      <p:sp>
        <p:nvSpPr>
          <p:cNvPr id="59" name="Timeline label: First drive"/>
          <p:cNvSpPr txBox="1"/>
          <p:nvPr/>
        </p:nvSpPr>
        <p:spPr>
          <a:xfrm>
            <a:off x="3941064" y="8906256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First drive</a:t>
            </a:r>
          </a:p>
        </p:txBody>
      </p:sp>
      <p:sp>
        <p:nvSpPr>
          <p:cNvPr id="60" name="Timeline rule: First fast drive"/>
          <p:cNvSpPr/>
          <p:nvPr/>
        </p:nvSpPr>
        <p:spPr>
          <a:xfrm>
            <a:off x="5126736" y="8668512"/>
            <a:ext cx="1075944" cy="2286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imeline date: First fast drive"/>
          <p:cNvSpPr txBox="1"/>
          <p:nvPr/>
        </p:nvSpPr>
        <p:spPr>
          <a:xfrm>
            <a:off x="5126736" y="8732520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8181B"/>
                </a:solidFill>
                <a:latin typeface="Arial"/>
              </a:rPr>
              <a:t>Feb 15</a:t>
            </a:r>
          </a:p>
        </p:txBody>
      </p:sp>
      <p:sp>
        <p:nvSpPr>
          <p:cNvPr id="62" name="Timeline label: First fast drive"/>
          <p:cNvSpPr txBox="1"/>
          <p:nvPr/>
        </p:nvSpPr>
        <p:spPr>
          <a:xfrm>
            <a:off x="5126736" y="8906256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First fast drive</a:t>
            </a:r>
          </a:p>
        </p:txBody>
      </p:sp>
      <p:sp>
        <p:nvSpPr>
          <p:cNvPr id="63" name="Timeline rule: Tuning and testing"/>
          <p:cNvSpPr/>
          <p:nvPr/>
        </p:nvSpPr>
        <p:spPr>
          <a:xfrm>
            <a:off x="6312408" y="8668512"/>
            <a:ext cx="1075944" cy="22860"/>
          </a:xfrm>
          <a:prstGeom prst="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imeline date: Tuning and testing"/>
          <p:cNvSpPr txBox="1"/>
          <p:nvPr/>
        </p:nvSpPr>
        <p:spPr>
          <a:xfrm>
            <a:off x="6312408" y="8732520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8181B"/>
                </a:solidFill>
                <a:latin typeface="Arial"/>
              </a:rPr>
              <a:t>Mar 15</a:t>
            </a:r>
          </a:p>
        </p:txBody>
      </p:sp>
      <p:sp>
        <p:nvSpPr>
          <p:cNvPr id="65" name="Timeline label: Tuning and testing"/>
          <p:cNvSpPr txBox="1"/>
          <p:nvPr/>
        </p:nvSpPr>
        <p:spPr>
          <a:xfrm>
            <a:off x="6312408" y="8906256"/>
            <a:ext cx="1075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F3F46"/>
                </a:solidFill>
                <a:latin typeface="Arial"/>
              </a:rPr>
              <a:t>Tuning and testing</a:t>
            </a:r>
          </a:p>
        </p:txBody>
      </p:sp>
      <p:sp>
        <p:nvSpPr>
          <p:cNvPr id="66" name="Footer band"/>
          <p:cNvSpPr/>
          <p:nvPr/>
        </p:nvSpPr>
        <p:spPr>
          <a:xfrm>
            <a:off x="0" y="9299448"/>
            <a:ext cx="7772400" cy="758952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ooter title"/>
          <p:cNvSpPr txBox="1"/>
          <p:nvPr/>
        </p:nvSpPr>
        <p:spPr>
          <a:xfrm>
            <a:off x="384048" y="94457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Sponsor the build</a:t>
            </a:r>
          </a:p>
        </p:txBody>
      </p:sp>
      <p:sp>
        <p:nvSpPr>
          <p:cNvPr id="68" name="Footer tagline"/>
          <p:cNvSpPr txBox="1"/>
          <p:nvPr/>
        </p:nvSpPr>
        <p:spPr>
          <a:xfrm>
            <a:off x="384048" y="97109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5B5BB"/>
                </a:solidFill>
                <a:latin typeface="Arial"/>
              </a:rPr>
              <a:t>We are looking for funds, parts and advisors.</a:t>
            </a:r>
          </a:p>
        </p:txBody>
      </p:sp>
      <p:sp>
        <p:nvSpPr>
          <p:cNvPr id="69" name="Footer link label"/>
          <p:cNvSpPr txBox="1"/>
          <p:nvPr/>
        </p:nvSpPr>
        <p:spPr>
          <a:xfrm>
            <a:off x="2971800" y="94183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rial"/>
              </a:rPr>
              <a:t>LEARN MORE</a:t>
            </a:r>
          </a:p>
        </p:txBody>
      </p:sp>
      <p:sp>
        <p:nvSpPr>
          <p:cNvPr id="70" name="Footer link"/>
          <p:cNvSpPr txBox="1"/>
          <p:nvPr/>
        </p:nvSpPr>
        <p:spPr>
          <a:xfrm>
            <a:off x="2971800" y="9601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bit.ly/haav</a:t>
            </a:r>
          </a:p>
        </p:txBody>
      </p:sp>
      <p:sp>
        <p:nvSpPr>
          <p:cNvPr id="71" name="Footer contact label"/>
          <p:cNvSpPr txBox="1"/>
          <p:nvPr/>
        </p:nvSpPr>
        <p:spPr>
          <a:xfrm>
            <a:off x="4846320" y="93908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rial"/>
              </a:rPr>
              <a:t>CONTACT</a:t>
            </a:r>
          </a:p>
        </p:txBody>
      </p:sp>
      <p:sp>
        <p:nvSpPr>
          <p:cNvPr id="72" name="Footer contact name"/>
          <p:cNvSpPr txBox="1"/>
          <p:nvPr/>
        </p:nvSpPr>
        <p:spPr>
          <a:xfrm>
            <a:off x="4846320" y="955548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Arial"/>
              </a:rPr>
              <a:t>Marley Barrett, Project lead</a:t>
            </a:r>
          </a:p>
        </p:txBody>
      </p:sp>
      <p:sp>
        <p:nvSpPr>
          <p:cNvPr id="73" name="Footer contact email"/>
          <p:cNvSpPr txBox="1"/>
          <p:nvPr/>
        </p:nvSpPr>
        <p:spPr>
          <a:xfrm>
            <a:off x="4846320" y="9765792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D4D4D8"/>
                </a:solidFill>
                <a:latin typeface="Arial"/>
              </a:rPr>
              <a:t>mhbarrett@wisc.edu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