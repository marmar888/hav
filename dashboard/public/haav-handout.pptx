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 band"/>
          <p:cNvSpPr/>
          <p:nvPr/>
        </p:nvSpPr>
        <p:spPr>
          <a:xfrm>
            <a:off x="0" y="0"/>
            <a:ext cx="7772400" cy="91440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384048" y="14630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Haav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84048" y="65836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  <a:latin typeface="Arial"/>
              </a:rPr>
              <a:t>HIGHLY AMPHIBIOUS / AUTONOMOUS VEHICLE</a:t>
            </a:r>
          </a:p>
        </p:txBody>
      </p:sp>
      <p:sp>
        <p:nvSpPr>
          <p:cNvPr id="5" name="Logo plate"/>
          <p:cNvSpPr/>
          <p:nvPr/>
        </p:nvSpPr>
        <p:spPr>
          <a:xfrm>
            <a:off x="5522976" y="109728"/>
            <a:ext cx="1865376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UW-Madison logo" descr="uw-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"/>
            <a:ext cx="1765850" cy="603504"/>
          </a:xfrm>
          <a:prstGeom prst="rect">
            <a:avLst/>
          </a:prstGeom>
        </p:spPr>
      </p:pic>
      <p:sp>
        <p:nvSpPr>
          <p:cNvPr id="7" name="Headline"/>
          <p:cNvSpPr txBox="1"/>
          <p:nvPr/>
        </p:nvSpPr>
        <p:spPr>
          <a:xfrm>
            <a:off x="384048" y="11155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>
                <a:solidFill>
                  <a:srgbClr val="18181B"/>
                </a:solidFill>
                <a:latin typeface="Arial"/>
              </a:rPr>
              <a:t>A student team building an autonomous boat from the ground up.</a:t>
            </a:r>
          </a:p>
        </p:txBody>
      </p:sp>
      <p:sp>
        <p:nvSpPr>
          <p:cNvPr id="8" name="Hull frame"/>
          <p:cNvSpPr/>
          <p:nvPr/>
        </p:nvSpPr>
        <p:spPr>
          <a:xfrm>
            <a:off x="4663440" y="1069848"/>
            <a:ext cx="2724912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Hull render" descr="h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097280"/>
            <a:ext cx="1526540" cy="1280160"/>
          </a:xfrm>
          <a:prstGeom prst="rect">
            <a:avLst/>
          </a:prstGeom>
        </p:spPr>
      </p:pic>
      <p:sp>
        <p:nvSpPr>
          <p:cNvPr id="10" name="Label: How we model it"/>
          <p:cNvSpPr txBox="1"/>
          <p:nvPr/>
        </p:nvSpPr>
        <p:spPr>
          <a:xfrm>
            <a:off x="384048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HOW WE MODEL IT</a:t>
            </a:r>
          </a:p>
        </p:txBody>
      </p:sp>
      <p:sp>
        <p:nvSpPr>
          <p:cNvPr id="11" name="Model panel"/>
          <p:cNvSpPr/>
          <p:nvPr/>
        </p:nvSpPr>
        <p:spPr>
          <a:xfrm>
            <a:off x="384048" y="2852928"/>
            <a:ext cx="7004304" cy="1216152"/>
          </a:xfrm>
          <a:prstGeom prst="roundRect">
            <a:avLst>
              <a:gd name="adj" fmla="val 7518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Model title"/>
          <p:cNvSpPr txBox="1"/>
          <p:nvPr/>
        </p:nvSpPr>
        <p:spPr>
          <a:xfrm>
            <a:off x="548640" y="2990088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8181B"/>
                </a:solidFill>
                <a:latin typeface="Arial"/>
              </a:rPr>
              <a:t>First-principles mixed-integer linear programming</a:t>
            </a:r>
          </a:p>
        </p:txBody>
      </p:sp>
      <p:sp>
        <p:nvSpPr>
          <p:cNvPr id="13" name="Model text"/>
          <p:cNvSpPr txBox="1"/>
          <p:nvPr/>
        </p:nvSpPr>
        <p:spPr>
          <a:xfrm>
            <a:off x="548640" y="3310128"/>
            <a:ext cx="6675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F3F46"/>
                </a:solidFill>
                <a:latin typeface="Arial"/>
              </a:rPr>
              <a:t>We build the model from physics up. Each constraint cuts the space of possible boats, and the optimizer finds the fastest one left. Hull resistance comes from </a:t>
            </a:r>
            <a:r>
              <a:rPr sz="1000" b="1">
                <a:solidFill>
                  <a:srgbClr val="3F3F46"/>
                </a:solidFill>
                <a:latin typeface="Arial"/>
              </a:rPr>
              <a:t>Savitsky's planing-hull model</a:t>
            </a:r>
            <a:r>
              <a:rPr sz="1000" b="0">
                <a:solidFill>
                  <a:srgbClr val="3F3F46"/>
                </a:solidFill>
                <a:latin typeface="Arial"/>
              </a:rPr>
              <a:t>. As we build and test, we keep updating the model and adding constraints: a hybrid of simulation and empirical data.</a:t>
            </a:r>
          </a:p>
        </p:txBody>
      </p:sp>
      <p:sp>
        <p:nvSpPr>
          <p:cNvPr id="14" name="Label: Engineers from across UW–Madison"/>
          <p:cNvSpPr txBox="1"/>
          <p:nvPr/>
        </p:nvSpPr>
        <p:spPr>
          <a:xfrm>
            <a:off x="384048" y="438912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ENGINEERS FROM ACROSS UW–MADISON</a:t>
            </a:r>
          </a:p>
        </p:txBody>
      </p:sp>
      <p:sp>
        <p:nvSpPr>
          <p:cNvPr id="15" name="Engineers text"/>
          <p:cNvSpPr txBox="1"/>
          <p:nvPr/>
        </p:nvSpPr>
        <p:spPr>
          <a:xfrm>
            <a:off x="384048" y="4572000"/>
            <a:ext cx="70043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Each segment of the boat is covered, and members have worked at Tesla, Northrop Grumman, Xcel Energy and Milwaukee Tool.</a:t>
            </a:r>
          </a:p>
        </p:txBody>
      </p:sp>
      <p:sp>
        <p:nvSpPr>
          <p:cNvPr id="16" name="Tile: Industrial"/>
          <p:cNvSpPr/>
          <p:nvPr/>
        </p:nvSpPr>
        <p:spPr>
          <a:xfrm>
            <a:off x="384048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ile title: Industrial"/>
          <p:cNvSpPr txBox="1"/>
          <p:nvPr/>
        </p:nvSpPr>
        <p:spPr>
          <a:xfrm>
            <a:off x="484632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Industrial</a:t>
            </a:r>
          </a:p>
        </p:txBody>
      </p:sp>
      <p:sp>
        <p:nvSpPr>
          <p:cNvPr id="18" name="Tile text: Industrial"/>
          <p:cNvSpPr txBox="1"/>
          <p:nvPr/>
        </p:nvSpPr>
        <p:spPr>
          <a:xfrm>
            <a:off x="484632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Optimization, composites and manufacturing</a:t>
            </a:r>
          </a:p>
        </p:txBody>
      </p:sp>
      <p:sp>
        <p:nvSpPr>
          <p:cNvPr id="19" name="Tile: Mechanical"/>
          <p:cNvSpPr/>
          <p:nvPr/>
        </p:nvSpPr>
        <p:spPr>
          <a:xfrm>
            <a:off x="2157984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ile title: Mechanical"/>
          <p:cNvSpPr txBox="1"/>
          <p:nvPr/>
        </p:nvSpPr>
        <p:spPr>
          <a:xfrm>
            <a:off x="2258568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Mechanical</a:t>
            </a:r>
          </a:p>
        </p:txBody>
      </p:sp>
      <p:sp>
        <p:nvSpPr>
          <p:cNvPr id="21" name="Tile text: Mechanical"/>
          <p:cNvSpPr txBox="1"/>
          <p:nvPr/>
        </p:nvSpPr>
        <p:spPr>
          <a:xfrm>
            <a:off x="2258568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Structures, CAD and fabrication</a:t>
            </a:r>
          </a:p>
        </p:txBody>
      </p:sp>
      <p:sp>
        <p:nvSpPr>
          <p:cNvPr id="22" name="Tile: Electrical"/>
          <p:cNvSpPr/>
          <p:nvPr/>
        </p:nvSpPr>
        <p:spPr>
          <a:xfrm>
            <a:off x="3931920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ile title: Electrical"/>
          <p:cNvSpPr txBox="1"/>
          <p:nvPr/>
        </p:nvSpPr>
        <p:spPr>
          <a:xfrm>
            <a:off x="4032504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Electrical</a:t>
            </a:r>
          </a:p>
        </p:txBody>
      </p:sp>
      <p:sp>
        <p:nvSpPr>
          <p:cNvPr id="24" name="Tile text: Electrical"/>
          <p:cNvSpPr txBox="1"/>
          <p:nvPr/>
        </p:nvSpPr>
        <p:spPr>
          <a:xfrm>
            <a:off x="4032504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Power, battery and high voltage</a:t>
            </a:r>
          </a:p>
        </p:txBody>
      </p:sp>
      <p:sp>
        <p:nvSpPr>
          <p:cNvPr id="25" name="Tile: Computer"/>
          <p:cNvSpPr/>
          <p:nvPr/>
        </p:nvSpPr>
        <p:spPr>
          <a:xfrm>
            <a:off x="5705856" y="4828032"/>
            <a:ext cx="1655064" cy="713232"/>
          </a:xfrm>
          <a:prstGeom prst="roundRect">
            <a:avLst>
              <a:gd name="adj" fmla="val 897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ile title: Computer"/>
          <p:cNvSpPr txBox="1"/>
          <p:nvPr/>
        </p:nvSpPr>
        <p:spPr>
          <a:xfrm>
            <a:off x="5806440" y="4892040"/>
            <a:ext cx="1472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5050C"/>
                </a:solidFill>
                <a:latin typeface="Arial"/>
              </a:rPr>
              <a:t>Computer</a:t>
            </a:r>
          </a:p>
        </p:txBody>
      </p:sp>
      <p:sp>
        <p:nvSpPr>
          <p:cNvPr id="27" name="Tile text: Computer"/>
          <p:cNvSpPr txBox="1"/>
          <p:nvPr/>
        </p:nvSpPr>
        <p:spPr>
          <a:xfrm>
            <a:off x="5806440" y="5102352"/>
            <a:ext cx="147218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3F3F46"/>
                </a:solidFill>
                <a:latin typeface="Arial"/>
              </a:rPr>
              <a:t>Embedded, firmware and software</a:t>
            </a:r>
          </a:p>
        </p:txBody>
      </p:sp>
      <p:sp>
        <p:nvSpPr>
          <p:cNvPr id="28" name="Label: Our approach"/>
          <p:cNvSpPr txBox="1"/>
          <p:nvPr/>
        </p:nvSpPr>
        <p:spPr>
          <a:xfrm>
            <a:off x="384048" y="58521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OUR APPROACH</a:t>
            </a:r>
          </a:p>
        </p:txBody>
      </p:sp>
      <p:sp>
        <p:nvSpPr>
          <p:cNvPr id="29" name="Card: Hull"/>
          <p:cNvSpPr/>
          <p:nvPr/>
        </p:nvSpPr>
        <p:spPr>
          <a:xfrm>
            <a:off x="384048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ard title: Hull"/>
          <p:cNvSpPr txBox="1"/>
          <p:nvPr/>
        </p:nvSpPr>
        <p:spPr>
          <a:xfrm>
            <a:off x="521207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Hull</a:t>
            </a:r>
          </a:p>
        </p:txBody>
      </p:sp>
      <p:sp>
        <p:nvSpPr>
          <p:cNvPr id="31" name="Card strategy: Hull"/>
          <p:cNvSpPr txBox="1"/>
          <p:nvPr/>
        </p:nvSpPr>
        <p:spPr>
          <a:xfrm>
            <a:off x="521207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Plane well and stay light.</a:t>
            </a:r>
          </a:p>
        </p:txBody>
      </p:sp>
      <p:sp>
        <p:nvSpPr>
          <p:cNvPr id="32" name="Card rule: Hull"/>
          <p:cNvSpPr/>
          <p:nvPr/>
        </p:nvSpPr>
        <p:spPr>
          <a:xfrm>
            <a:off x="521207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ard points: Hull"/>
          <p:cNvSpPr txBox="1"/>
          <p:nvPr/>
        </p:nvSpPr>
        <p:spPr>
          <a:xfrm>
            <a:off x="521207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Hybrid planing composite hull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Shape tuned by optimization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Resistance checked in CFD first</a:t>
            </a:r>
          </a:p>
        </p:txBody>
      </p:sp>
      <p:sp>
        <p:nvSpPr>
          <p:cNvPr id="34" name="Card: Electric"/>
          <p:cNvSpPr/>
          <p:nvPr/>
        </p:nvSpPr>
        <p:spPr>
          <a:xfrm>
            <a:off x="2743200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ard title: Electric"/>
          <p:cNvSpPr txBox="1"/>
          <p:nvPr/>
        </p:nvSpPr>
        <p:spPr>
          <a:xfrm>
            <a:off x="2880360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Electric</a:t>
            </a:r>
          </a:p>
        </p:txBody>
      </p:sp>
      <p:sp>
        <p:nvSpPr>
          <p:cNvPr id="36" name="Card strategy: Electric"/>
          <p:cNvSpPr txBox="1"/>
          <p:nvPr/>
        </p:nvSpPr>
        <p:spPr>
          <a:xfrm>
            <a:off x="2880360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Every watt-hour to speed.</a:t>
            </a:r>
          </a:p>
        </p:txBody>
      </p:sp>
      <p:sp>
        <p:nvSpPr>
          <p:cNvPr id="37" name="Card rule: Electric"/>
          <p:cNvSpPr/>
          <p:nvPr/>
        </p:nvSpPr>
        <p:spPr>
          <a:xfrm>
            <a:off x="2880360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ard points: Electric"/>
          <p:cNvSpPr txBox="1"/>
          <p:nvPr/>
        </p:nvSpPr>
        <p:spPr>
          <a:xfrm>
            <a:off x="2880360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High-voltage battery storage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sized by the model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Propulsion and cooling co-designed</a:t>
            </a:r>
          </a:p>
        </p:txBody>
      </p:sp>
      <p:sp>
        <p:nvSpPr>
          <p:cNvPr id="39" name="Card: Autonomous"/>
          <p:cNvSpPr/>
          <p:nvPr/>
        </p:nvSpPr>
        <p:spPr>
          <a:xfrm>
            <a:off x="5102352" y="6062472"/>
            <a:ext cx="22402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ard title: Autonomous"/>
          <p:cNvSpPr txBox="1"/>
          <p:nvPr/>
        </p:nvSpPr>
        <p:spPr>
          <a:xfrm>
            <a:off x="5239512" y="617220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8181B"/>
                </a:solidFill>
                <a:latin typeface="Arial"/>
              </a:rPr>
              <a:t>Autonomous</a:t>
            </a:r>
          </a:p>
        </p:txBody>
      </p:sp>
      <p:sp>
        <p:nvSpPr>
          <p:cNvPr id="41" name="Card strategy: Autonomous"/>
          <p:cNvSpPr txBox="1"/>
          <p:nvPr/>
        </p:nvSpPr>
        <p:spPr>
          <a:xfrm>
            <a:off x="5239512" y="6510528"/>
            <a:ext cx="1965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8181B"/>
                </a:solidFill>
                <a:latin typeface="Arial"/>
              </a:rPr>
              <a:t>Find the way, unaided.</a:t>
            </a:r>
          </a:p>
        </p:txBody>
      </p:sp>
      <p:sp>
        <p:nvSpPr>
          <p:cNvPr id="42" name="Card rule: Autonomous"/>
          <p:cNvSpPr/>
          <p:nvPr/>
        </p:nvSpPr>
        <p:spPr>
          <a:xfrm>
            <a:off x="5239512" y="6821424"/>
            <a:ext cx="1965960" cy="9144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ard points: Autonomous"/>
          <p:cNvSpPr txBox="1"/>
          <p:nvPr/>
        </p:nvSpPr>
        <p:spPr>
          <a:xfrm>
            <a:off x="5239512" y="6931152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GPS, IMU and LIDAR sensing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Firmware protects the battery</a:t>
            </a:r>
          </a:p>
          <a:p>
            <a:pPr algn="l">
              <a:lnSpc>
                <a:spcPct val="175000"/>
              </a:lnSpc>
            </a:pPr>
            <a:r>
              <a:rPr sz="600" b="0">
                <a:solidFill>
                  <a:srgbClr val="C5050C"/>
                </a:solidFill>
                <a:latin typeface="Arial"/>
              </a:rPr>
              <a:t>●  </a:t>
            </a:r>
            <a:r>
              <a:rPr sz="900" b="0">
                <a:solidFill>
                  <a:srgbClr val="3F3F46"/>
                </a:solidFill>
                <a:latin typeface="Arial"/>
              </a:rPr>
              <a:t>Software plans the route</a:t>
            </a:r>
          </a:p>
        </p:txBody>
      </p:sp>
      <p:sp>
        <p:nvSpPr>
          <p:cNvPr id="44" name="Label: Timeline"/>
          <p:cNvSpPr txBox="1"/>
          <p:nvPr/>
        </p:nvSpPr>
        <p:spPr>
          <a:xfrm>
            <a:off x="384048" y="8183879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71717A"/>
                </a:solidFill>
                <a:latin typeface="Arial"/>
              </a:rPr>
              <a:t>TIMELINE</a:t>
            </a:r>
          </a:p>
        </p:txBody>
      </p:sp>
      <p:sp>
        <p:nvSpPr>
          <p:cNvPr id="45" name="Timeline rule: Hull design"/>
          <p:cNvSpPr/>
          <p:nvPr/>
        </p:nvSpPr>
        <p:spPr>
          <a:xfrm>
            <a:off x="38404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imeline date: Hull design"/>
          <p:cNvSpPr txBox="1"/>
          <p:nvPr/>
        </p:nvSpPr>
        <p:spPr>
          <a:xfrm>
            <a:off x="38404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Oct 25</a:t>
            </a:r>
          </a:p>
        </p:txBody>
      </p:sp>
      <p:sp>
        <p:nvSpPr>
          <p:cNvPr id="47" name="Timeline label: Hull design"/>
          <p:cNvSpPr txBox="1"/>
          <p:nvPr/>
        </p:nvSpPr>
        <p:spPr>
          <a:xfrm>
            <a:off x="38404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design</a:t>
            </a:r>
          </a:p>
        </p:txBody>
      </p:sp>
      <p:sp>
        <p:nvSpPr>
          <p:cNvPr id="48" name="Timeline rule: Electrical design"/>
          <p:cNvSpPr/>
          <p:nvPr/>
        </p:nvSpPr>
        <p:spPr>
          <a:xfrm>
            <a:off x="1569720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imeline date: Electrical design"/>
          <p:cNvSpPr txBox="1"/>
          <p:nvPr/>
        </p:nvSpPr>
        <p:spPr>
          <a:xfrm>
            <a:off x="1569720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15</a:t>
            </a:r>
          </a:p>
        </p:txBody>
      </p:sp>
      <p:sp>
        <p:nvSpPr>
          <p:cNvPr id="50" name="Timeline label: Electrical design"/>
          <p:cNvSpPr txBox="1"/>
          <p:nvPr/>
        </p:nvSpPr>
        <p:spPr>
          <a:xfrm>
            <a:off x="1569720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Electrical design</a:t>
            </a:r>
          </a:p>
        </p:txBody>
      </p:sp>
      <p:sp>
        <p:nvSpPr>
          <p:cNvPr id="51" name="Timeline rule: Hull built"/>
          <p:cNvSpPr/>
          <p:nvPr/>
        </p:nvSpPr>
        <p:spPr>
          <a:xfrm>
            <a:off x="2755392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imeline date: Hull built"/>
          <p:cNvSpPr txBox="1"/>
          <p:nvPr/>
        </p:nvSpPr>
        <p:spPr>
          <a:xfrm>
            <a:off x="2755392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Nov 25</a:t>
            </a:r>
          </a:p>
        </p:txBody>
      </p:sp>
      <p:sp>
        <p:nvSpPr>
          <p:cNvPr id="53" name="Timeline label: Hull built"/>
          <p:cNvSpPr txBox="1"/>
          <p:nvPr/>
        </p:nvSpPr>
        <p:spPr>
          <a:xfrm>
            <a:off x="2755392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Hull built</a:t>
            </a:r>
          </a:p>
        </p:txBody>
      </p:sp>
      <p:sp>
        <p:nvSpPr>
          <p:cNvPr id="54" name="Timeline rule: First drive"/>
          <p:cNvSpPr/>
          <p:nvPr/>
        </p:nvSpPr>
        <p:spPr>
          <a:xfrm>
            <a:off x="3941064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imeline date: First drive"/>
          <p:cNvSpPr txBox="1"/>
          <p:nvPr/>
        </p:nvSpPr>
        <p:spPr>
          <a:xfrm>
            <a:off x="3941064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Jan 25</a:t>
            </a:r>
          </a:p>
        </p:txBody>
      </p:sp>
      <p:sp>
        <p:nvSpPr>
          <p:cNvPr id="56" name="Timeline label: First drive"/>
          <p:cNvSpPr txBox="1"/>
          <p:nvPr/>
        </p:nvSpPr>
        <p:spPr>
          <a:xfrm>
            <a:off x="3941064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drive</a:t>
            </a:r>
          </a:p>
        </p:txBody>
      </p:sp>
      <p:sp>
        <p:nvSpPr>
          <p:cNvPr id="57" name="Timeline rule: First fast drive"/>
          <p:cNvSpPr/>
          <p:nvPr/>
        </p:nvSpPr>
        <p:spPr>
          <a:xfrm>
            <a:off x="5126736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imeline date: First fast drive"/>
          <p:cNvSpPr txBox="1"/>
          <p:nvPr/>
        </p:nvSpPr>
        <p:spPr>
          <a:xfrm>
            <a:off x="5126736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Feb 15</a:t>
            </a:r>
          </a:p>
        </p:txBody>
      </p:sp>
      <p:sp>
        <p:nvSpPr>
          <p:cNvPr id="59" name="Timeline label: First fast drive"/>
          <p:cNvSpPr txBox="1"/>
          <p:nvPr/>
        </p:nvSpPr>
        <p:spPr>
          <a:xfrm>
            <a:off x="5126736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First fast drive</a:t>
            </a:r>
          </a:p>
        </p:txBody>
      </p:sp>
      <p:sp>
        <p:nvSpPr>
          <p:cNvPr id="60" name="Timeline rule: Tuning and testing"/>
          <p:cNvSpPr/>
          <p:nvPr/>
        </p:nvSpPr>
        <p:spPr>
          <a:xfrm>
            <a:off x="6312408" y="8439912"/>
            <a:ext cx="1075944" cy="22860"/>
          </a:xfrm>
          <a:prstGeom prst="rect">
            <a:avLst/>
          </a:prstGeom>
          <a:solidFill>
            <a:srgbClr val="C505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imeline date: Tuning and testing"/>
          <p:cNvSpPr txBox="1"/>
          <p:nvPr/>
        </p:nvSpPr>
        <p:spPr>
          <a:xfrm>
            <a:off x="6312408" y="8503920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8181B"/>
                </a:solidFill>
                <a:latin typeface="Arial"/>
              </a:rPr>
              <a:t>Mar 15</a:t>
            </a:r>
          </a:p>
        </p:txBody>
      </p:sp>
      <p:sp>
        <p:nvSpPr>
          <p:cNvPr id="62" name="Timeline label: Tuning and testing"/>
          <p:cNvSpPr txBox="1"/>
          <p:nvPr/>
        </p:nvSpPr>
        <p:spPr>
          <a:xfrm>
            <a:off x="6312408" y="8677656"/>
            <a:ext cx="10759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3F3F46"/>
                </a:solidFill>
                <a:latin typeface="Arial"/>
              </a:rPr>
              <a:t>Tuning and testing</a:t>
            </a:r>
          </a:p>
        </p:txBody>
      </p:sp>
      <p:sp>
        <p:nvSpPr>
          <p:cNvPr id="63" name="Footer band"/>
          <p:cNvSpPr/>
          <p:nvPr/>
        </p:nvSpPr>
        <p:spPr>
          <a:xfrm>
            <a:off x="0" y="9299448"/>
            <a:ext cx="7772400" cy="758952"/>
          </a:xfrm>
          <a:prstGeom prst="rect">
            <a:avLst/>
          </a:prstGeom>
          <a:solidFill>
            <a:srgbClr val="18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ooter title"/>
          <p:cNvSpPr txBox="1"/>
          <p:nvPr/>
        </p:nvSpPr>
        <p:spPr>
          <a:xfrm>
            <a:off x="384048" y="944575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Sponsor the build</a:t>
            </a:r>
          </a:p>
        </p:txBody>
      </p:sp>
      <p:sp>
        <p:nvSpPr>
          <p:cNvPr id="65" name="Footer tagline"/>
          <p:cNvSpPr txBox="1"/>
          <p:nvPr/>
        </p:nvSpPr>
        <p:spPr>
          <a:xfrm>
            <a:off x="384048" y="9710928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5B5BB"/>
                </a:solidFill>
                <a:latin typeface="Arial"/>
              </a:rPr>
              <a:t>We are looking for funds, parts and advisors.</a:t>
            </a:r>
          </a:p>
        </p:txBody>
      </p:sp>
      <p:sp>
        <p:nvSpPr>
          <p:cNvPr id="66" name="Footer link label"/>
          <p:cNvSpPr txBox="1"/>
          <p:nvPr/>
        </p:nvSpPr>
        <p:spPr>
          <a:xfrm>
            <a:off x="2971800" y="941832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9A9AA2"/>
                </a:solidFill>
                <a:latin typeface="Arial"/>
              </a:rPr>
              <a:t>LEARN MORE</a:t>
            </a:r>
          </a:p>
        </p:txBody>
      </p:sp>
      <p:sp>
        <p:nvSpPr>
          <p:cNvPr id="67" name="Footer link"/>
          <p:cNvSpPr txBox="1"/>
          <p:nvPr/>
        </p:nvSpPr>
        <p:spPr>
          <a:xfrm>
            <a:off x="2971800" y="9601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bit.ly/haav</a:t>
            </a:r>
          </a:p>
        </p:txBody>
      </p:sp>
      <p:sp>
        <p:nvSpPr>
          <p:cNvPr id="68" name="Footer contact label"/>
          <p:cNvSpPr txBox="1"/>
          <p:nvPr/>
        </p:nvSpPr>
        <p:spPr>
          <a:xfrm>
            <a:off x="4846320" y="9390888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A9AA2"/>
                </a:solidFill>
                <a:latin typeface="Arial"/>
              </a:rPr>
              <a:t>CONTACT</a:t>
            </a:r>
          </a:p>
        </p:txBody>
      </p:sp>
      <p:sp>
        <p:nvSpPr>
          <p:cNvPr id="69" name="Footer contact name"/>
          <p:cNvSpPr txBox="1"/>
          <p:nvPr/>
        </p:nvSpPr>
        <p:spPr>
          <a:xfrm>
            <a:off x="4846320" y="9555480"/>
            <a:ext cx="25420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Arial"/>
              </a:rPr>
              <a:t>Marley Barrett, Project lead</a:t>
            </a:r>
          </a:p>
        </p:txBody>
      </p:sp>
      <p:sp>
        <p:nvSpPr>
          <p:cNvPr id="70" name="Footer contact email"/>
          <p:cNvSpPr txBox="1"/>
          <p:nvPr/>
        </p:nvSpPr>
        <p:spPr>
          <a:xfrm>
            <a:off x="4846320" y="9765792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D4D4D8"/>
                </a:solidFill>
                <a:latin typeface="Arial"/>
              </a:rPr>
              <a:t>mhbarrett@wisc.edu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