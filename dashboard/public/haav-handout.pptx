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per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02920" y="329184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B2620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2920" y="950976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5A5249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UW-Madison"/>
          <p:cNvSpPr txBox="1"/>
          <p:nvPr/>
        </p:nvSpPr>
        <p:spPr>
          <a:xfrm>
            <a:off x="4069080" y="365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>
                <a:solidFill>
                  <a:srgbClr val="C5050C"/>
                </a:solidFill>
                <a:latin typeface="Arial"/>
              </a:rPr>
              <a:t>UW–Madison</a:t>
            </a:r>
          </a:p>
        </p:txBody>
      </p:sp>
      <p:sp>
        <p:nvSpPr>
          <p:cNvPr id="6" name="College of Engineering"/>
          <p:cNvSpPr txBox="1"/>
          <p:nvPr/>
        </p:nvSpPr>
        <p:spPr>
          <a:xfrm>
            <a:off x="4069080" y="7315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>
                <a:solidFill>
                  <a:srgbClr val="5A5249"/>
                </a:solidFill>
                <a:latin typeface="Arial"/>
              </a:rPr>
              <a:t>College of Engineering</a:t>
            </a:r>
          </a:p>
        </p:txBody>
      </p:sp>
      <p:sp>
        <p:nvSpPr>
          <p:cNvPr id="7" name="Headline"/>
          <p:cNvSpPr txBox="1"/>
          <p:nvPr/>
        </p:nvSpPr>
        <p:spPr>
          <a:xfrm>
            <a:off x="502920" y="15727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2620"/>
                </a:solidFill>
                <a:latin typeface="Arial"/>
              </a:rPr>
              <a:t>A student team building an autonomous boat from the ground up.</a:t>
            </a:r>
          </a:p>
        </p:txBody>
      </p:sp>
      <p:pic>
        <p:nvPicPr>
          <p:cNvPr id="8" name="Hull render" descr="haav-hull-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20000">
            <a:off x="4983480" y="1298448"/>
            <a:ext cx="2286000" cy="1917045"/>
          </a:xfrm>
          <a:prstGeom prst="rect">
            <a:avLst/>
          </a:prstGeom>
        </p:spPr>
      </p:pic>
      <p:sp>
        <p:nvSpPr>
          <p:cNvPr id="9" name="Model card"/>
          <p:cNvSpPr/>
          <p:nvPr/>
        </p:nvSpPr>
        <p:spPr>
          <a:xfrm>
            <a:off x="502920" y="3227832"/>
            <a:ext cx="6766560" cy="978408"/>
          </a:xfrm>
          <a:prstGeom prst="roundRect">
            <a:avLst>
              <a:gd name="adj" fmla="val 14953"/>
            </a:avLst>
          </a:prstGeom>
          <a:solidFill>
            <a:srgbClr val="FFFDF8"/>
          </a:solidFill>
          <a:ln w="9525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odel title"/>
          <p:cNvSpPr txBox="1"/>
          <p:nvPr/>
        </p:nvSpPr>
        <p:spPr>
          <a:xfrm>
            <a:off x="658368" y="3319272"/>
            <a:ext cx="6455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5" b="1">
                <a:solidFill>
                  <a:srgbClr val="2B2620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1" name="Model text"/>
          <p:cNvSpPr txBox="1"/>
          <p:nvPr/>
        </p:nvSpPr>
        <p:spPr>
          <a:xfrm>
            <a:off x="658368" y="3584448"/>
            <a:ext cx="645566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900" b="1">
                <a:solidFill>
                  <a:srgbClr val="2B2620"/>
                </a:solidFill>
                <a:latin typeface="Arial"/>
              </a:rPr>
              <a:t>Savitsky's planing-hull model</a:t>
            </a:r>
            <a:r>
              <a:rPr sz="900" b="0">
                <a:solidFill>
                  <a:srgbClr val="5A5249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2" name="Heading: Engineers from across UW–Madison"/>
          <p:cNvSpPr txBox="1"/>
          <p:nvPr/>
        </p:nvSpPr>
        <p:spPr>
          <a:xfrm>
            <a:off x="502920" y="443484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5" b="1">
                <a:solidFill>
                  <a:srgbClr val="2B2620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3" name="Engineers text"/>
          <p:cNvSpPr txBox="1"/>
          <p:nvPr/>
        </p:nvSpPr>
        <p:spPr>
          <a:xfrm>
            <a:off x="502920" y="4690872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A5249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4" name="Discipline: Industrial"/>
          <p:cNvSpPr txBox="1"/>
          <p:nvPr/>
        </p:nvSpPr>
        <p:spPr>
          <a:xfrm>
            <a:off x="502920" y="4937760"/>
            <a:ext cx="156591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Industrial</a:t>
            </a:r>
          </a:p>
        </p:txBody>
      </p:sp>
      <p:sp>
        <p:nvSpPr>
          <p:cNvPr id="15" name="Discipline text: Industrial"/>
          <p:cNvSpPr txBox="1"/>
          <p:nvPr/>
        </p:nvSpPr>
        <p:spPr>
          <a:xfrm>
            <a:off x="502920" y="5120640"/>
            <a:ext cx="14744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6" name="Discipline: Mechanical"/>
          <p:cNvSpPr txBox="1"/>
          <p:nvPr/>
        </p:nvSpPr>
        <p:spPr>
          <a:xfrm>
            <a:off x="2251710" y="4937760"/>
            <a:ext cx="156591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Mechanical</a:t>
            </a:r>
          </a:p>
        </p:txBody>
      </p:sp>
      <p:sp>
        <p:nvSpPr>
          <p:cNvPr id="17" name="Discipline text: Mechanical"/>
          <p:cNvSpPr txBox="1"/>
          <p:nvPr/>
        </p:nvSpPr>
        <p:spPr>
          <a:xfrm>
            <a:off x="2251710" y="5120640"/>
            <a:ext cx="14744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18" name="Discipline: Electrical"/>
          <p:cNvSpPr txBox="1"/>
          <p:nvPr/>
        </p:nvSpPr>
        <p:spPr>
          <a:xfrm>
            <a:off x="4000500" y="4937760"/>
            <a:ext cx="156591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Electrical</a:t>
            </a:r>
          </a:p>
        </p:txBody>
      </p:sp>
      <p:sp>
        <p:nvSpPr>
          <p:cNvPr id="19" name="Discipline text: Electrical"/>
          <p:cNvSpPr txBox="1"/>
          <p:nvPr/>
        </p:nvSpPr>
        <p:spPr>
          <a:xfrm>
            <a:off x="4000500" y="5120640"/>
            <a:ext cx="14744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0" name="Discipline: Computer"/>
          <p:cNvSpPr txBox="1"/>
          <p:nvPr/>
        </p:nvSpPr>
        <p:spPr>
          <a:xfrm>
            <a:off x="5749290" y="4937760"/>
            <a:ext cx="156591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Computer</a:t>
            </a:r>
          </a:p>
        </p:txBody>
      </p:sp>
      <p:sp>
        <p:nvSpPr>
          <p:cNvPr id="21" name="Discipline text: Computer"/>
          <p:cNvSpPr txBox="1"/>
          <p:nvPr/>
        </p:nvSpPr>
        <p:spPr>
          <a:xfrm>
            <a:off x="5749290" y="5120640"/>
            <a:ext cx="14744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2" name="Heading: Our approach"/>
          <p:cNvSpPr txBox="1"/>
          <p:nvPr/>
        </p:nvSpPr>
        <p:spPr>
          <a:xfrm>
            <a:off x="502920" y="557784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5" b="1">
                <a:solidFill>
                  <a:srgbClr val="2B2620"/>
                </a:solidFill>
                <a:latin typeface="Arial"/>
              </a:rPr>
              <a:t>Our approach</a:t>
            </a:r>
          </a:p>
        </p:txBody>
      </p:sp>
      <p:sp>
        <p:nvSpPr>
          <p:cNvPr id="23" name="Card: Hull"/>
          <p:cNvSpPr/>
          <p:nvPr/>
        </p:nvSpPr>
        <p:spPr>
          <a:xfrm>
            <a:off x="502920" y="5824728"/>
            <a:ext cx="2179320" cy="1143000"/>
          </a:xfrm>
          <a:prstGeom prst="roundRect">
            <a:avLst>
              <a:gd name="adj" fmla="val 12800"/>
            </a:avLst>
          </a:prstGeom>
          <a:solidFill>
            <a:srgbClr val="FFFDF8"/>
          </a:solidFill>
          <a:ln w="9525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art: Hull"/>
          <p:cNvSpPr txBox="1"/>
          <p:nvPr/>
        </p:nvSpPr>
        <p:spPr>
          <a:xfrm>
            <a:off x="640080" y="589788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2B2620"/>
                </a:solidFill>
                <a:latin typeface="Arial"/>
              </a:rPr>
              <a:t>Hull</a:t>
            </a:r>
          </a:p>
        </p:txBody>
      </p:sp>
      <p:sp>
        <p:nvSpPr>
          <p:cNvPr id="25" name="Part tagline: Hull"/>
          <p:cNvSpPr txBox="1"/>
          <p:nvPr/>
        </p:nvSpPr>
        <p:spPr>
          <a:xfrm>
            <a:off x="640080" y="6108192"/>
            <a:ext cx="1905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5050C"/>
                </a:solidFill>
                <a:latin typeface="Arial"/>
              </a:rPr>
              <a:t>Plane well and stay light.</a:t>
            </a:r>
          </a:p>
        </p:txBody>
      </p:sp>
      <p:sp>
        <p:nvSpPr>
          <p:cNvPr id="26" name="Part points: Hull"/>
          <p:cNvSpPr txBox="1"/>
          <p:nvPr/>
        </p:nvSpPr>
        <p:spPr>
          <a:xfrm>
            <a:off x="640080" y="6327648"/>
            <a:ext cx="1905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27" name="Card: Electric"/>
          <p:cNvSpPr/>
          <p:nvPr/>
        </p:nvSpPr>
        <p:spPr>
          <a:xfrm>
            <a:off x="2796540" y="5824728"/>
            <a:ext cx="2179320" cy="1143000"/>
          </a:xfrm>
          <a:prstGeom prst="roundRect">
            <a:avLst>
              <a:gd name="adj" fmla="val 12800"/>
            </a:avLst>
          </a:prstGeom>
          <a:solidFill>
            <a:srgbClr val="FFFDF8"/>
          </a:solidFill>
          <a:ln w="9525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art: Electric"/>
          <p:cNvSpPr txBox="1"/>
          <p:nvPr/>
        </p:nvSpPr>
        <p:spPr>
          <a:xfrm>
            <a:off x="2933700" y="589788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2B2620"/>
                </a:solidFill>
                <a:latin typeface="Arial"/>
              </a:rPr>
              <a:t>Electric</a:t>
            </a:r>
          </a:p>
        </p:txBody>
      </p:sp>
      <p:sp>
        <p:nvSpPr>
          <p:cNvPr id="29" name="Part tagline: Electric"/>
          <p:cNvSpPr txBox="1"/>
          <p:nvPr/>
        </p:nvSpPr>
        <p:spPr>
          <a:xfrm>
            <a:off x="2933700" y="6108192"/>
            <a:ext cx="1905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5050C"/>
                </a:solidFill>
                <a:latin typeface="Arial"/>
              </a:rPr>
              <a:t>Every watt-hour to speed.</a:t>
            </a:r>
          </a:p>
        </p:txBody>
      </p:sp>
      <p:sp>
        <p:nvSpPr>
          <p:cNvPr id="30" name="Part points: Electric"/>
          <p:cNvSpPr txBox="1"/>
          <p:nvPr/>
        </p:nvSpPr>
        <p:spPr>
          <a:xfrm>
            <a:off x="2933700" y="6327648"/>
            <a:ext cx="1905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1" name="Card: Autonomous"/>
          <p:cNvSpPr/>
          <p:nvPr/>
        </p:nvSpPr>
        <p:spPr>
          <a:xfrm>
            <a:off x="5090160" y="5824728"/>
            <a:ext cx="2179320" cy="1143000"/>
          </a:xfrm>
          <a:prstGeom prst="roundRect">
            <a:avLst>
              <a:gd name="adj" fmla="val 12800"/>
            </a:avLst>
          </a:prstGeom>
          <a:solidFill>
            <a:srgbClr val="FFFDF8"/>
          </a:solidFill>
          <a:ln w="9525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art: Autonomous"/>
          <p:cNvSpPr txBox="1"/>
          <p:nvPr/>
        </p:nvSpPr>
        <p:spPr>
          <a:xfrm>
            <a:off x="5227320" y="589788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2B2620"/>
                </a:solidFill>
                <a:latin typeface="Arial"/>
              </a:rPr>
              <a:t>Autonomous</a:t>
            </a:r>
          </a:p>
        </p:txBody>
      </p:sp>
      <p:sp>
        <p:nvSpPr>
          <p:cNvPr id="33" name="Part tagline: Autonomous"/>
          <p:cNvSpPr txBox="1"/>
          <p:nvPr/>
        </p:nvSpPr>
        <p:spPr>
          <a:xfrm>
            <a:off x="5227320" y="6108192"/>
            <a:ext cx="1905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5050C"/>
                </a:solidFill>
                <a:latin typeface="Arial"/>
              </a:rPr>
              <a:t>Manage drift and controls.</a:t>
            </a:r>
          </a:p>
        </p:txBody>
      </p:sp>
      <p:sp>
        <p:nvSpPr>
          <p:cNvPr id="34" name="Part points: Autonomous"/>
          <p:cNvSpPr txBox="1"/>
          <p:nvPr/>
        </p:nvSpPr>
        <p:spPr>
          <a:xfrm>
            <a:off x="5227320" y="6327648"/>
            <a:ext cx="1905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15000"/>
              </a:lnSpc>
            </a:pPr>
            <a:r>
              <a:rPr sz="860" b="0">
                <a:solidFill>
                  <a:srgbClr val="5A5249"/>
                </a:solidFill>
                <a:latin typeface="Arial"/>
              </a:rPr>
              <a:t>Software plans the route</a:t>
            </a:r>
          </a:p>
        </p:txBody>
      </p:sp>
      <p:sp>
        <p:nvSpPr>
          <p:cNvPr id="35" name="Heading: Timeline"/>
          <p:cNvSpPr txBox="1"/>
          <p:nvPr/>
        </p:nvSpPr>
        <p:spPr>
          <a:xfrm>
            <a:off x="502920" y="713232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5" b="1">
                <a:solidFill>
                  <a:srgbClr val="2B2620"/>
                </a:solidFill>
                <a:latin typeface="Arial"/>
              </a:rPr>
              <a:t>Timeline</a:t>
            </a:r>
          </a:p>
        </p:txBody>
      </p:sp>
      <p:sp>
        <p:nvSpPr>
          <p:cNvPr id="36" name="Timeline date: Hull design frozen"/>
          <p:cNvSpPr txBox="1"/>
          <p:nvPr/>
        </p:nvSpPr>
        <p:spPr>
          <a:xfrm>
            <a:off x="502920" y="740664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37" name="Timeline label: Hull design frozen"/>
          <p:cNvSpPr txBox="1"/>
          <p:nvPr/>
        </p:nvSpPr>
        <p:spPr>
          <a:xfrm>
            <a:off x="1600200" y="7406640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Hull design frozen</a:t>
            </a:r>
          </a:p>
        </p:txBody>
      </p:sp>
      <p:sp>
        <p:nvSpPr>
          <p:cNvPr id="38" name="Timeline date: Preliminary design review"/>
          <p:cNvSpPr txBox="1"/>
          <p:nvPr/>
        </p:nvSpPr>
        <p:spPr>
          <a:xfrm>
            <a:off x="502920" y="757580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Nov 1</a:t>
            </a:r>
          </a:p>
        </p:txBody>
      </p:sp>
      <p:sp>
        <p:nvSpPr>
          <p:cNvPr id="39" name="Timeline label: Preliminary design review"/>
          <p:cNvSpPr txBox="1"/>
          <p:nvPr/>
        </p:nvSpPr>
        <p:spPr>
          <a:xfrm>
            <a:off x="1600200" y="7575804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Preliminary design review</a:t>
            </a:r>
          </a:p>
        </p:txBody>
      </p:sp>
      <p:sp>
        <p:nvSpPr>
          <p:cNvPr id="40" name="Timeline date: Critical and long-lead parts are ordered"/>
          <p:cNvSpPr txBox="1"/>
          <p:nvPr/>
        </p:nvSpPr>
        <p:spPr>
          <a:xfrm>
            <a:off x="502920" y="7744968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Nov 10</a:t>
            </a:r>
          </a:p>
        </p:txBody>
      </p:sp>
      <p:sp>
        <p:nvSpPr>
          <p:cNvPr id="41" name="Timeline label: Critical and long-lead parts are ordered"/>
          <p:cNvSpPr txBox="1"/>
          <p:nvPr/>
        </p:nvSpPr>
        <p:spPr>
          <a:xfrm>
            <a:off x="1600200" y="7744968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Critical and long-lead parts are ordered</a:t>
            </a:r>
          </a:p>
        </p:txBody>
      </p:sp>
      <p:sp>
        <p:nvSpPr>
          <p:cNvPr id="42" name="Timeline date: Mechanical and electrical design frozen"/>
          <p:cNvSpPr txBox="1"/>
          <p:nvPr/>
        </p:nvSpPr>
        <p:spPr>
          <a:xfrm>
            <a:off x="502920" y="7914132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Nov 20</a:t>
            </a:r>
          </a:p>
        </p:txBody>
      </p:sp>
      <p:sp>
        <p:nvSpPr>
          <p:cNvPr id="43" name="Timeline label: Mechanical and electrical design frozen"/>
          <p:cNvSpPr txBox="1"/>
          <p:nvPr/>
        </p:nvSpPr>
        <p:spPr>
          <a:xfrm>
            <a:off x="1600200" y="7914132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44" name="Timeline date: Build the hull, composite parts and any custom-milled parts"/>
          <p:cNvSpPr txBox="1"/>
          <p:nvPr/>
        </p:nvSpPr>
        <p:spPr>
          <a:xfrm>
            <a:off x="502920" y="808329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Nov 20–Dec 20</a:t>
            </a:r>
          </a:p>
        </p:txBody>
      </p:sp>
      <p:sp>
        <p:nvSpPr>
          <p:cNvPr id="45" name="Timeline label: Build the hull, composite parts and any custom-milled parts"/>
          <p:cNvSpPr txBox="1"/>
          <p:nvPr/>
        </p:nvSpPr>
        <p:spPr>
          <a:xfrm>
            <a:off x="1600200" y="8083296"/>
            <a:ext cx="213375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Build the hull, composite parts and any custom-milled parts</a:t>
            </a:r>
          </a:p>
        </p:txBody>
      </p:sp>
      <p:sp>
        <p:nvSpPr>
          <p:cNvPr id="46" name="Timeline date: First float and tow test"/>
          <p:cNvSpPr txBox="1"/>
          <p:nvPr/>
        </p:nvSpPr>
        <p:spPr>
          <a:xfrm>
            <a:off x="502920" y="8371332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Jan 8</a:t>
            </a:r>
          </a:p>
        </p:txBody>
      </p:sp>
      <p:sp>
        <p:nvSpPr>
          <p:cNvPr id="47" name="Timeline label: First float and tow test"/>
          <p:cNvSpPr txBox="1"/>
          <p:nvPr/>
        </p:nvSpPr>
        <p:spPr>
          <a:xfrm>
            <a:off x="1600200" y="8371332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First float and tow test</a:t>
            </a:r>
          </a:p>
        </p:txBody>
      </p:sp>
      <p:sp>
        <p:nvSpPr>
          <p:cNvPr id="48" name="Timeline date: Manufacture and assemble everything"/>
          <p:cNvSpPr txBox="1"/>
          <p:nvPr/>
        </p:nvSpPr>
        <p:spPr>
          <a:xfrm>
            <a:off x="4038447" y="740664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49" name="Timeline label: Manufacture and assemble everything"/>
          <p:cNvSpPr txBox="1"/>
          <p:nvPr/>
        </p:nvSpPr>
        <p:spPr>
          <a:xfrm>
            <a:off x="5135727" y="7406640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50" name="Timeline date: Build likely spare parts, in parallel"/>
          <p:cNvSpPr txBox="1"/>
          <p:nvPr/>
        </p:nvSpPr>
        <p:spPr>
          <a:xfrm>
            <a:off x="4038447" y="757580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51" name="Timeline label: Build likely spare parts, in parallel"/>
          <p:cNvSpPr txBox="1"/>
          <p:nvPr/>
        </p:nvSpPr>
        <p:spPr>
          <a:xfrm>
            <a:off x="5135727" y="7575804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52" name="Timeline date: First nautical mile"/>
          <p:cNvSpPr txBox="1"/>
          <p:nvPr/>
        </p:nvSpPr>
        <p:spPr>
          <a:xfrm>
            <a:off x="4038447" y="7744968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Jan 31</a:t>
            </a:r>
          </a:p>
        </p:txBody>
      </p:sp>
      <p:sp>
        <p:nvSpPr>
          <p:cNvPr id="53" name="Timeline label: First nautical mile"/>
          <p:cNvSpPr txBox="1"/>
          <p:nvPr/>
        </p:nvSpPr>
        <p:spPr>
          <a:xfrm>
            <a:off x="5135727" y="7744968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First nautical mile</a:t>
            </a:r>
          </a:p>
        </p:txBody>
      </p:sp>
      <p:sp>
        <p:nvSpPr>
          <p:cNvPr id="54" name="Timeline date: Slow drives on the water"/>
          <p:cNvSpPr txBox="1"/>
          <p:nvPr/>
        </p:nvSpPr>
        <p:spPr>
          <a:xfrm>
            <a:off x="4038447" y="7914132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55" name="Timeline label: Slow drives on the water"/>
          <p:cNvSpPr txBox="1"/>
          <p:nvPr/>
        </p:nvSpPr>
        <p:spPr>
          <a:xfrm>
            <a:off x="5135727" y="7914132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Slow drives on the water</a:t>
            </a:r>
          </a:p>
        </p:txBody>
      </p:sp>
      <p:sp>
        <p:nvSpPr>
          <p:cNvPr id="56" name="Timeline date: Start increasing speed"/>
          <p:cNvSpPr txBox="1"/>
          <p:nvPr/>
        </p:nvSpPr>
        <p:spPr>
          <a:xfrm>
            <a:off x="4038447" y="808329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57" name="Timeline label: Start increasing speed"/>
          <p:cNvSpPr txBox="1"/>
          <p:nvPr/>
        </p:nvSpPr>
        <p:spPr>
          <a:xfrm>
            <a:off x="5135727" y="8083296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Start increasing speed</a:t>
            </a:r>
          </a:p>
        </p:txBody>
      </p:sp>
      <p:sp>
        <p:nvSpPr>
          <p:cNvPr id="58" name="Timeline date: Testing / Tuning"/>
          <p:cNvSpPr txBox="1"/>
          <p:nvPr/>
        </p:nvSpPr>
        <p:spPr>
          <a:xfrm>
            <a:off x="4038447" y="825246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C5050C"/>
                </a:solidFill>
                <a:latin typeface="Arial"/>
              </a:rPr>
              <a:t>Until April</a:t>
            </a:r>
          </a:p>
        </p:txBody>
      </p:sp>
      <p:sp>
        <p:nvSpPr>
          <p:cNvPr id="59" name="Timeline label: Testing / Tuning"/>
          <p:cNvSpPr txBox="1"/>
          <p:nvPr/>
        </p:nvSpPr>
        <p:spPr>
          <a:xfrm>
            <a:off x="5135727" y="8252460"/>
            <a:ext cx="2133752" cy="169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>
                <a:solidFill>
                  <a:srgbClr val="5A5249"/>
                </a:solidFill>
                <a:latin typeface="Arial"/>
              </a:rPr>
              <a:t>Testing / Tuning</a:t>
            </a:r>
          </a:p>
        </p:txBody>
      </p:sp>
      <p:sp>
        <p:nvSpPr>
          <p:cNvPr id="60" name="Footer card"/>
          <p:cNvSpPr/>
          <p:nvPr/>
        </p:nvSpPr>
        <p:spPr>
          <a:xfrm>
            <a:off x="502920" y="8823960"/>
            <a:ext cx="6766560" cy="822960"/>
          </a:xfrm>
          <a:prstGeom prst="roundRect">
            <a:avLst>
              <a:gd name="adj" fmla="val 17777"/>
            </a:avLst>
          </a:prstGeom>
          <a:solidFill>
            <a:srgbClr val="2B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ooter title"/>
          <p:cNvSpPr txBox="1"/>
          <p:nvPr/>
        </p:nvSpPr>
        <p:spPr>
          <a:xfrm>
            <a:off x="685800" y="89611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1">
                <a:solidFill>
                  <a:srgbClr val="F8F3EA"/>
                </a:solidFill>
                <a:latin typeface="Arial"/>
              </a:rPr>
              <a:t>Want to help build it?</a:t>
            </a:r>
          </a:p>
        </p:txBody>
      </p:sp>
      <p:sp>
        <p:nvSpPr>
          <p:cNvPr id="62" name="Footer text"/>
          <p:cNvSpPr txBox="1"/>
          <p:nvPr/>
        </p:nvSpPr>
        <p:spPr>
          <a:xfrm>
            <a:off x="685800" y="9235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DB7AD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63" name="Footer link"/>
          <p:cNvSpPr txBox="1"/>
          <p:nvPr/>
        </p:nvSpPr>
        <p:spPr>
          <a:xfrm>
            <a:off x="4160520" y="8942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25" b="1">
                <a:solidFill>
                  <a:srgbClr val="F8F3EA"/>
                </a:solidFill>
                <a:latin typeface="Arial"/>
              </a:rPr>
              <a:t>bit.ly/haav</a:t>
            </a:r>
          </a:p>
        </p:txBody>
      </p:sp>
      <p:sp>
        <p:nvSpPr>
          <p:cNvPr id="64" name="Footer contact name"/>
          <p:cNvSpPr txBox="1"/>
          <p:nvPr/>
        </p:nvSpPr>
        <p:spPr>
          <a:xfrm>
            <a:off x="4160520" y="9235440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F8F3EA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65" name="Footer contact email"/>
          <p:cNvSpPr txBox="1"/>
          <p:nvPr/>
        </p:nvSpPr>
        <p:spPr>
          <a:xfrm>
            <a:off x="4160520" y="94000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BDB7AD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