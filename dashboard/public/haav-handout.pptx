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772400" cy="1005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7772400" cy="1005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itle"/>
          <p:cNvSpPr txBox="1"/>
          <p:nvPr/>
        </p:nvSpPr>
        <p:spPr>
          <a:xfrm>
            <a:off x="502920" y="329184"/>
            <a:ext cx="2743200" cy="640080"/>
          </a:xfrm>
          <a:prstGeom prst="rect">
            <a:avLst/>
          </a:prstGeom>
          <a:noFill/>
        </p:spPr>
        <p:txBody>
          <a:bodyPr wrap="square" lIns="0" rIns="0" tIns="0" bIns="0" anchor="t">
            <a:spAutoFit/>
          </a:bodyPr>
          <a:lstStyle/>
          <a:p>
            <a:pPr algn="l"/>
            <a:r>
              <a:rPr sz="3600" b="1">
                <a:solidFill>
                  <a:srgbClr val="111111"/>
                </a:solidFill>
                <a:latin typeface="Arial"/>
              </a:rPr>
              <a:t>HaaV</a:t>
            </a:r>
          </a:p>
        </p:txBody>
      </p:sp>
      <p:sp>
        <p:nvSpPr>
          <p:cNvPr id="4" name="Subtitle"/>
          <p:cNvSpPr txBox="1"/>
          <p:nvPr/>
        </p:nvSpPr>
        <p:spPr>
          <a:xfrm>
            <a:off x="502920" y="950976"/>
            <a:ext cx="3657600" cy="201168"/>
          </a:xfrm>
          <a:prstGeom prst="rect">
            <a:avLst/>
          </a:prstGeom>
          <a:noFill/>
        </p:spPr>
        <p:txBody>
          <a:bodyPr wrap="square" lIns="0" rIns="0" tIns="0" bIns="0" anchor="t">
            <a:spAutoFit/>
          </a:bodyPr>
          <a:lstStyle/>
          <a:p>
            <a:pPr algn="l"/>
            <a:r>
              <a:rPr sz="975" b="0">
                <a:solidFill>
                  <a:srgbClr val="555555"/>
                </a:solidFill>
                <a:latin typeface="Arial"/>
              </a:rPr>
              <a:t>Highly amphibious / autonomous Vehicle</a:t>
            </a:r>
          </a:p>
        </p:txBody>
      </p:sp>
      <p:sp>
        <p:nvSpPr>
          <p:cNvPr id="5" name="UW-Madison"/>
          <p:cNvSpPr txBox="1"/>
          <p:nvPr/>
        </p:nvSpPr>
        <p:spPr>
          <a:xfrm>
            <a:off x="4069080" y="365760"/>
            <a:ext cx="3200400" cy="365760"/>
          </a:xfrm>
          <a:prstGeom prst="rect">
            <a:avLst/>
          </a:prstGeom>
          <a:noFill/>
        </p:spPr>
        <p:txBody>
          <a:bodyPr wrap="square" lIns="0" rIns="0" tIns="0" bIns="0" anchor="t">
            <a:spAutoFit/>
          </a:bodyPr>
          <a:lstStyle/>
          <a:p>
            <a:pPr algn="r"/>
            <a:r>
              <a:rPr sz="1950" b="1">
                <a:solidFill>
                  <a:srgbClr val="C5050C"/>
                </a:solidFill>
                <a:latin typeface="Arial"/>
              </a:rPr>
              <a:t>Team: UW–Madison</a:t>
            </a:r>
          </a:p>
        </p:txBody>
      </p:sp>
      <p:sp>
        <p:nvSpPr>
          <p:cNvPr id="6" name="College of Engineering"/>
          <p:cNvSpPr txBox="1"/>
          <p:nvPr/>
        </p:nvSpPr>
        <p:spPr>
          <a:xfrm>
            <a:off x="4069080" y="731520"/>
            <a:ext cx="3200400" cy="201168"/>
          </a:xfrm>
          <a:prstGeom prst="rect">
            <a:avLst/>
          </a:prstGeom>
          <a:noFill/>
        </p:spPr>
        <p:txBody>
          <a:bodyPr wrap="square" lIns="0" rIns="0" tIns="0" bIns="0" anchor="t">
            <a:spAutoFit/>
          </a:bodyPr>
          <a:lstStyle/>
          <a:p>
            <a:pPr algn="r"/>
            <a:r>
              <a:rPr sz="975" b="0">
                <a:solidFill>
                  <a:srgbClr val="555555"/>
                </a:solidFill>
                <a:latin typeface="Arial"/>
              </a:rPr>
              <a:t>College of Engineering</a:t>
            </a:r>
          </a:p>
        </p:txBody>
      </p:sp>
      <p:sp>
        <p:nvSpPr>
          <p:cNvPr id="7" name="Headline"/>
          <p:cNvSpPr txBox="1"/>
          <p:nvPr/>
        </p:nvSpPr>
        <p:spPr>
          <a:xfrm>
            <a:off x="502920" y="1572768"/>
            <a:ext cx="3931920" cy="1188720"/>
          </a:xfrm>
          <a:prstGeom prst="rect">
            <a:avLst/>
          </a:prstGeom>
          <a:noFill/>
        </p:spPr>
        <p:txBody>
          <a:bodyPr wrap="square" lIns="0" rIns="0" tIns="0" bIns="0" anchor="t">
            <a:spAutoFit/>
          </a:bodyPr>
          <a:lstStyle/>
          <a:p>
            <a:pPr algn="l">
              <a:lnSpc>
                <a:spcPct val="100000"/>
              </a:lnSpc>
            </a:pPr>
            <a:r>
              <a:rPr sz="2400" b="1">
                <a:solidFill>
                  <a:srgbClr val="111111"/>
                </a:solidFill>
                <a:latin typeface="Arial"/>
              </a:rPr>
              <a:t>A student team building an uncrewed autonomous boat from the ground up.</a:t>
            </a:r>
          </a:p>
        </p:txBody>
      </p:sp>
      <p:pic>
        <p:nvPicPr>
          <p:cNvPr id="8" name="Hull render" descr="haav-hull-paper.png"/>
          <p:cNvPicPr>
            <a:picLocks noChangeAspect="1"/>
          </p:cNvPicPr>
          <p:nvPr/>
        </p:nvPicPr>
        <p:blipFill>
          <a:blip r:embed="rId2"/>
          <a:stretch>
            <a:fillRect/>
          </a:stretch>
        </p:blipFill>
        <p:spPr>
          <a:xfrm rot="21420000">
            <a:off x="4983480" y="1298448"/>
            <a:ext cx="2286000" cy="1917045"/>
          </a:xfrm>
          <a:prstGeom prst="rect">
            <a:avLst/>
          </a:prstGeom>
        </p:spPr>
      </p:pic>
      <p:sp>
        <p:nvSpPr>
          <p:cNvPr id="9" name="Model card"/>
          <p:cNvSpPr/>
          <p:nvPr/>
        </p:nvSpPr>
        <p:spPr>
          <a:xfrm>
            <a:off x="502920" y="3227832"/>
            <a:ext cx="6766560" cy="978408"/>
          </a:xfrm>
          <a:prstGeom prst="roundRect">
            <a:avLst>
              <a:gd name="adj" fmla="val 14953"/>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odel title"/>
          <p:cNvSpPr txBox="1"/>
          <p:nvPr/>
        </p:nvSpPr>
        <p:spPr>
          <a:xfrm>
            <a:off x="658368" y="3319272"/>
            <a:ext cx="6455664" cy="274320"/>
          </a:xfrm>
          <a:prstGeom prst="rect">
            <a:avLst/>
          </a:prstGeom>
          <a:noFill/>
        </p:spPr>
        <p:txBody>
          <a:bodyPr wrap="square" lIns="0" rIns="0" tIns="0" bIns="0" anchor="t">
            <a:spAutoFit/>
          </a:bodyPr>
          <a:lstStyle/>
          <a:p>
            <a:pPr algn="l"/>
            <a:r>
              <a:rPr sz="1275" b="1">
                <a:solidFill>
                  <a:srgbClr val="111111"/>
                </a:solidFill>
                <a:latin typeface="Arial"/>
              </a:rPr>
              <a:t>Ground up means simulation + modeling first</a:t>
            </a:r>
          </a:p>
        </p:txBody>
      </p:sp>
      <p:sp>
        <p:nvSpPr>
          <p:cNvPr id="11" name="Model text"/>
          <p:cNvSpPr txBox="1"/>
          <p:nvPr/>
        </p:nvSpPr>
        <p:spPr>
          <a:xfrm>
            <a:off x="658368" y="3584448"/>
            <a:ext cx="6455664" cy="594360"/>
          </a:xfrm>
          <a:prstGeom prst="rect">
            <a:avLst/>
          </a:prstGeom>
          <a:noFill/>
        </p:spPr>
        <p:txBody>
          <a:bodyPr wrap="square" lIns="0" rIns="0" tIns="0" bIns="0" anchor="t">
            <a:spAutoFit/>
          </a:bodyPr>
          <a:lstStyle/>
          <a:p>
            <a:pPr algn="l">
              <a:lnSpc>
                <a:spcPct val="120000"/>
              </a:lnSpc>
            </a:pPr>
            <a:r>
              <a:rPr sz="900" b="0">
                <a:solidFill>
                  <a:srgbClr val="555555"/>
                </a:solidFill>
                <a:latin typeface="Arial"/>
              </a:rPr>
              <a:t>We are building the model from first principles, mixing empirical and rule-of-thumb decisions with dynamic programming. Each constraint cuts the space of possible boats, and the optimizer finds the fastest one based on current variables. As we build and test, we keep updating the model and adding constraints: a hybrid of simulation and empirical data.</a:t>
            </a:r>
          </a:p>
        </p:txBody>
      </p:sp>
      <p:sp>
        <p:nvSpPr>
          <p:cNvPr id="12" name="Heading: Engineers from across UW–Madison"/>
          <p:cNvSpPr txBox="1"/>
          <p:nvPr/>
        </p:nvSpPr>
        <p:spPr>
          <a:xfrm>
            <a:off x="502920" y="4434840"/>
            <a:ext cx="6583680" cy="274320"/>
          </a:xfrm>
          <a:prstGeom prst="rect">
            <a:avLst/>
          </a:prstGeom>
          <a:noFill/>
        </p:spPr>
        <p:txBody>
          <a:bodyPr wrap="square" lIns="0" rIns="0" tIns="0" bIns="0" anchor="t">
            <a:spAutoFit/>
          </a:bodyPr>
          <a:lstStyle/>
          <a:p>
            <a:pPr algn="l"/>
            <a:r>
              <a:rPr sz="1275" b="1">
                <a:solidFill>
                  <a:srgbClr val="111111"/>
                </a:solidFill>
                <a:latin typeface="Arial"/>
              </a:rPr>
              <a:t>Engineers from across UW–Madison</a:t>
            </a:r>
          </a:p>
        </p:txBody>
      </p:sp>
      <p:sp>
        <p:nvSpPr>
          <p:cNvPr id="13" name="Engineers text"/>
          <p:cNvSpPr txBox="1"/>
          <p:nvPr/>
        </p:nvSpPr>
        <p:spPr>
          <a:xfrm>
            <a:off x="502920" y="4690872"/>
            <a:ext cx="6766560" cy="182880"/>
          </a:xfrm>
          <a:prstGeom prst="rect">
            <a:avLst/>
          </a:prstGeom>
          <a:noFill/>
        </p:spPr>
        <p:txBody>
          <a:bodyPr wrap="square" lIns="0" rIns="0" tIns="0" bIns="0" anchor="t">
            <a:spAutoFit/>
          </a:bodyPr>
          <a:lstStyle/>
          <a:p>
            <a:pPr algn="l"/>
            <a:r>
              <a:rPr sz="900" b="0">
                <a:solidFill>
                  <a:srgbClr val="555555"/>
                </a:solidFill>
                <a:latin typeface="Arial"/>
              </a:rPr>
              <a:t>Lead members have interned at Tesla, Northrop Grumman, Xcel Energy, Fincantieri and Milwaukee Tool.</a:t>
            </a:r>
          </a:p>
        </p:txBody>
      </p:sp>
      <p:sp>
        <p:nvSpPr>
          <p:cNvPr id="14" name="Discipline: Industrial"/>
          <p:cNvSpPr txBox="1"/>
          <p:nvPr/>
        </p:nvSpPr>
        <p:spPr>
          <a:xfrm>
            <a:off x="502920" y="4937760"/>
            <a:ext cx="1565910" cy="182880"/>
          </a:xfrm>
          <a:prstGeom prst="rect">
            <a:avLst/>
          </a:prstGeom>
          <a:noFill/>
        </p:spPr>
        <p:txBody>
          <a:bodyPr wrap="square" lIns="0" rIns="0" tIns="0" bIns="0" anchor="t">
            <a:spAutoFit/>
          </a:bodyPr>
          <a:lstStyle/>
          <a:p>
            <a:pPr algn="l"/>
            <a:r>
              <a:rPr sz="950" b="1">
                <a:solidFill>
                  <a:srgbClr val="111111"/>
                </a:solidFill>
                <a:latin typeface="Arial"/>
              </a:rPr>
              <a:t>Industrial</a:t>
            </a:r>
          </a:p>
        </p:txBody>
      </p:sp>
      <p:sp>
        <p:nvSpPr>
          <p:cNvPr id="15" name="Discipline text: Industrial"/>
          <p:cNvSpPr txBox="1"/>
          <p:nvPr/>
        </p:nvSpPr>
        <p:spPr>
          <a:xfrm>
            <a:off x="50292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optimization, composites and manufacturing</a:t>
            </a:r>
          </a:p>
        </p:txBody>
      </p:sp>
      <p:sp>
        <p:nvSpPr>
          <p:cNvPr id="16" name="Discipline: Mechanical"/>
          <p:cNvSpPr txBox="1"/>
          <p:nvPr/>
        </p:nvSpPr>
        <p:spPr>
          <a:xfrm>
            <a:off x="2251710" y="4937760"/>
            <a:ext cx="1565910" cy="182880"/>
          </a:xfrm>
          <a:prstGeom prst="rect">
            <a:avLst/>
          </a:prstGeom>
          <a:noFill/>
        </p:spPr>
        <p:txBody>
          <a:bodyPr wrap="square" lIns="0" rIns="0" tIns="0" bIns="0" anchor="t">
            <a:spAutoFit/>
          </a:bodyPr>
          <a:lstStyle/>
          <a:p>
            <a:pPr algn="l"/>
            <a:r>
              <a:rPr sz="950" b="1">
                <a:solidFill>
                  <a:srgbClr val="111111"/>
                </a:solidFill>
                <a:latin typeface="Arial"/>
              </a:rPr>
              <a:t>Mechanical</a:t>
            </a:r>
          </a:p>
        </p:txBody>
      </p:sp>
      <p:sp>
        <p:nvSpPr>
          <p:cNvPr id="17" name="Discipline text: Mechanical"/>
          <p:cNvSpPr txBox="1"/>
          <p:nvPr/>
        </p:nvSpPr>
        <p:spPr>
          <a:xfrm>
            <a:off x="225171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structures, CAD</a:t>
            </a:r>
          </a:p>
        </p:txBody>
      </p:sp>
      <p:sp>
        <p:nvSpPr>
          <p:cNvPr id="18" name="Discipline: Electrical"/>
          <p:cNvSpPr txBox="1"/>
          <p:nvPr/>
        </p:nvSpPr>
        <p:spPr>
          <a:xfrm>
            <a:off x="4000500" y="4937760"/>
            <a:ext cx="1565910" cy="182880"/>
          </a:xfrm>
          <a:prstGeom prst="rect">
            <a:avLst/>
          </a:prstGeom>
          <a:noFill/>
        </p:spPr>
        <p:txBody>
          <a:bodyPr wrap="square" lIns="0" rIns="0" tIns="0" bIns="0" anchor="t">
            <a:spAutoFit/>
          </a:bodyPr>
          <a:lstStyle/>
          <a:p>
            <a:pPr algn="l"/>
            <a:r>
              <a:rPr sz="950" b="1">
                <a:solidFill>
                  <a:srgbClr val="111111"/>
                </a:solidFill>
                <a:latin typeface="Arial"/>
              </a:rPr>
              <a:t>Electrical</a:t>
            </a:r>
          </a:p>
        </p:txBody>
      </p:sp>
      <p:sp>
        <p:nvSpPr>
          <p:cNvPr id="19" name="Discipline text: Electrical"/>
          <p:cNvSpPr txBox="1"/>
          <p:nvPr/>
        </p:nvSpPr>
        <p:spPr>
          <a:xfrm>
            <a:off x="400050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power, battery and high voltage</a:t>
            </a:r>
          </a:p>
        </p:txBody>
      </p:sp>
      <p:sp>
        <p:nvSpPr>
          <p:cNvPr id="20" name="Discipline: Computer"/>
          <p:cNvSpPr txBox="1"/>
          <p:nvPr/>
        </p:nvSpPr>
        <p:spPr>
          <a:xfrm>
            <a:off x="5749290" y="4937760"/>
            <a:ext cx="1565910" cy="182880"/>
          </a:xfrm>
          <a:prstGeom prst="rect">
            <a:avLst/>
          </a:prstGeom>
          <a:noFill/>
        </p:spPr>
        <p:txBody>
          <a:bodyPr wrap="square" lIns="0" rIns="0" tIns="0" bIns="0" anchor="t">
            <a:spAutoFit/>
          </a:bodyPr>
          <a:lstStyle/>
          <a:p>
            <a:pPr algn="l"/>
            <a:r>
              <a:rPr sz="950" b="1">
                <a:solidFill>
                  <a:srgbClr val="111111"/>
                </a:solidFill>
                <a:latin typeface="Arial"/>
              </a:rPr>
              <a:t>Computer</a:t>
            </a:r>
          </a:p>
        </p:txBody>
      </p:sp>
      <p:sp>
        <p:nvSpPr>
          <p:cNvPr id="21" name="Discipline text: Computer"/>
          <p:cNvSpPr txBox="1"/>
          <p:nvPr/>
        </p:nvSpPr>
        <p:spPr>
          <a:xfrm>
            <a:off x="574929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embedded, firmware and software</a:t>
            </a:r>
          </a:p>
        </p:txBody>
      </p:sp>
      <p:sp>
        <p:nvSpPr>
          <p:cNvPr id="22" name="Heading: Our primary phases"/>
          <p:cNvSpPr txBox="1"/>
          <p:nvPr/>
        </p:nvSpPr>
        <p:spPr>
          <a:xfrm>
            <a:off x="502920" y="5577840"/>
            <a:ext cx="6583680" cy="274320"/>
          </a:xfrm>
          <a:prstGeom prst="rect">
            <a:avLst/>
          </a:prstGeom>
          <a:noFill/>
        </p:spPr>
        <p:txBody>
          <a:bodyPr wrap="square" lIns="0" rIns="0" tIns="0" bIns="0" anchor="t">
            <a:spAutoFit/>
          </a:bodyPr>
          <a:lstStyle/>
          <a:p>
            <a:pPr algn="l"/>
            <a:r>
              <a:rPr sz="1275" b="1">
                <a:solidFill>
                  <a:srgbClr val="111111"/>
                </a:solidFill>
                <a:latin typeface="Arial"/>
              </a:rPr>
              <a:t>Our primary phases</a:t>
            </a:r>
          </a:p>
        </p:txBody>
      </p:sp>
      <p:sp>
        <p:nvSpPr>
          <p:cNvPr id="23" name="Card: Hull"/>
          <p:cNvSpPr/>
          <p:nvPr/>
        </p:nvSpPr>
        <p:spPr>
          <a:xfrm>
            <a:off x="502920" y="5824728"/>
            <a:ext cx="2179320" cy="1143000"/>
          </a:xfrm>
          <a:prstGeom prst="roundRect">
            <a:avLst>
              <a:gd name="adj" fmla="val 12800"/>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art: Hull"/>
          <p:cNvSpPr txBox="1"/>
          <p:nvPr/>
        </p:nvSpPr>
        <p:spPr>
          <a:xfrm>
            <a:off x="640080" y="5897880"/>
            <a:ext cx="1905000" cy="228600"/>
          </a:xfrm>
          <a:prstGeom prst="rect">
            <a:avLst/>
          </a:prstGeom>
          <a:noFill/>
        </p:spPr>
        <p:txBody>
          <a:bodyPr wrap="square" lIns="0" rIns="0" tIns="0" bIns="0" anchor="t">
            <a:spAutoFit/>
          </a:bodyPr>
          <a:lstStyle/>
          <a:p>
            <a:pPr algn="l"/>
            <a:r>
              <a:rPr sz="1125" b="1">
                <a:solidFill>
                  <a:srgbClr val="111111"/>
                </a:solidFill>
                <a:latin typeface="Arial"/>
              </a:rPr>
              <a:t>Hull</a:t>
            </a:r>
          </a:p>
        </p:txBody>
      </p:sp>
      <p:sp>
        <p:nvSpPr>
          <p:cNvPr id="25" name="Part tagline: Hull"/>
          <p:cNvSpPr txBox="1"/>
          <p:nvPr/>
        </p:nvSpPr>
        <p:spPr>
          <a:xfrm>
            <a:off x="640080" y="6108192"/>
            <a:ext cx="1905000" cy="182880"/>
          </a:xfrm>
          <a:prstGeom prst="rect">
            <a:avLst/>
          </a:prstGeom>
          <a:noFill/>
        </p:spPr>
        <p:txBody>
          <a:bodyPr wrap="square" lIns="0" rIns="0" tIns="0" bIns="0" anchor="t">
            <a:spAutoFit/>
          </a:bodyPr>
          <a:lstStyle/>
          <a:p>
            <a:pPr algn="l"/>
            <a:r>
              <a:rPr sz="900" b="1">
                <a:solidFill>
                  <a:srgbClr val="111111"/>
                </a:solidFill>
                <a:latin typeface="Arial"/>
              </a:rPr>
              <a:t>Plane fast and stay light.</a:t>
            </a:r>
          </a:p>
        </p:txBody>
      </p:sp>
      <p:sp>
        <p:nvSpPr>
          <p:cNvPr id="26" name="Part points: Hull"/>
          <p:cNvSpPr txBox="1"/>
          <p:nvPr/>
        </p:nvSpPr>
        <p:spPr>
          <a:xfrm>
            <a:off x="640080" y="6327648"/>
            <a:ext cx="1905000" cy="548640"/>
          </a:xfrm>
          <a:prstGeom prst="rect">
            <a:avLst/>
          </a:prstGeom>
          <a:noFill/>
        </p:spPr>
        <p:txBody>
          <a:bodyPr wrap="square" lIns="0" rIns="0" tIns="0" bIns="0" anchor="t">
            <a:spAutoFit/>
          </a:bodyPr>
          <a:lstStyle/>
          <a:p>
            <a:pPr algn="l">
              <a:lnSpc>
                <a:spcPct val="115000"/>
              </a:lnSpc>
            </a:pPr>
            <a:r>
              <a:rPr sz="860" b="0">
                <a:solidFill>
                  <a:srgbClr val="555555"/>
                </a:solidFill>
                <a:latin typeface="Arial"/>
              </a:rPr>
              <a:t>Hybrid planing composite hull</a:t>
            </a:r>
          </a:p>
          <a:p>
            <a:pPr algn="l">
              <a:lnSpc>
                <a:spcPct val="115000"/>
              </a:lnSpc>
            </a:pPr>
            <a:r>
              <a:rPr sz="860" b="0">
                <a:solidFill>
                  <a:srgbClr val="555555"/>
                </a:solidFill>
                <a:latin typeface="Arial"/>
              </a:rPr>
              <a:t>Dimensions shaped by weight</a:t>
            </a:r>
          </a:p>
          <a:p>
            <a:pPr algn="l">
              <a:lnSpc>
                <a:spcPct val="115000"/>
              </a:lnSpc>
            </a:pPr>
            <a:r>
              <a:rPr sz="860" b="0">
                <a:solidFill>
                  <a:srgbClr val="555555"/>
                </a:solidFill>
                <a:latin typeface="Arial"/>
              </a:rPr>
              <a:t>Optimization shaped by hydrodynamics</a:t>
            </a:r>
          </a:p>
        </p:txBody>
      </p:sp>
      <p:sp>
        <p:nvSpPr>
          <p:cNvPr id="27" name="Card: Electric"/>
          <p:cNvSpPr/>
          <p:nvPr/>
        </p:nvSpPr>
        <p:spPr>
          <a:xfrm>
            <a:off x="2796540" y="5824728"/>
            <a:ext cx="2179320" cy="1143000"/>
          </a:xfrm>
          <a:prstGeom prst="roundRect">
            <a:avLst>
              <a:gd name="adj" fmla="val 12800"/>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art: Electric"/>
          <p:cNvSpPr txBox="1"/>
          <p:nvPr/>
        </p:nvSpPr>
        <p:spPr>
          <a:xfrm>
            <a:off x="2933700" y="5897880"/>
            <a:ext cx="1905000" cy="228600"/>
          </a:xfrm>
          <a:prstGeom prst="rect">
            <a:avLst/>
          </a:prstGeom>
          <a:noFill/>
        </p:spPr>
        <p:txBody>
          <a:bodyPr wrap="square" lIns="0" rIns="0" tIns="0" bIns="0" anchor="t">
            <a:spAutoFit/>
          </a:bodyPr>
          <a:lstStyle/>
          <a:p>
            <a:pPr algn="l"/>
            <a:r>
              <a:rPr sz="1125" b="1">
                <a:solidFill>
                  <a:srgbClr val="111111"/>
                </a:solidFill>
                <a:latin typeface="Arial"/>
              </a:rPr>
              <a:t>Electric</a:t>
            </a:r>
          </a:p>
        </p:txBody>
      </p:sp>
      <p:sp>
        <p:nvSpPr>
          <p:cNvPr id="29" name="Part tagline: Electric"/>
          <p:cNvSpPr txBox="1"/>
          <p:nvPr/>
        </p:nvSpPr>
        <p:spPr>
          <a:xfrm>
            <a:off x="2933700" y="6108192"/>
            <a:ext cx="1905000" cy="182880"/>
          </a:xfrm>
          <a:prstGeom prst="rect">
            <a:avLst/>
          </a:prstGeom>
          <a:noFill/>
        </p:spPr>
        <p:txBody>
          <a:bodyPr wrap="square" lIns="0" rIns="0" tIns="0" bIns="0" anchor="t">
            <a:spAutoFit/>
          </a:bodyPr>
          <a:lstStyle/>
          <a:p>
            <a:pPr algn="l"/>
            <a:r>
              <a:rPr sz="900" b="1">
                <a:solidFill>
                  <a:srgbClr val="111111"/>
                </a:solidFill>
                <a:latin typeface="Arial"/>
              </a:rPr>
              <a:t>Every watt-hour to speed.</a:t>
            </a:r>
          </a:p>
        </p:txBody>
      </p:sp>
      <p:sp>
        <p:nvSpPr>
          <p:cNvPr id="30" name="Part points: Electric"/>
          <p:cNvSpPr txBox="1"/>
          <p:nvPr/>
        </p:nvSpPr>
        <p:spPr>
          <a:xfrm>
            <a:off x="2933700" y="6327648"/>
            <a:ext cx="1905000" cy="548640"/>
          </a:xfrm>
          <a:prstGeom prst="rect">
            <a:avLst/>
          </a:prstGeom>
          <a:noFill/>
        </p:spPr>
        <p:txBody>
          <a:bodyPr wrap="square" lIns="0" rIns="0" tIns="0" bIns="0" anchor="t">
            <a:spAutoFit/>
          </a:bodyPr>
          <a:lstStyle/>
          <a:p>
            <a:pPr algn="l">
              <a:lnSpc>
                <a:spcPct val="115000"/>
              </a:lnSpc>
            </a:pPr>
            <a:r>
              <a:rPr sz="860" b="0">
                <a:solidFill>
                  <a:srgbClr val="555555"/>
                </a:solidFill>
                <a:latin typeface="Arial"/>
              </a:rPr>
              <a:t>High-voltage battery storage</a:t>
            </a:r>
          </a:p>
          <a:p>
            <a:pPr algn="l">
              <a:lnSpc>
                <a:spcPct val="115000"/>
              </a:lnSpc>
            </a:pPr>
            <a:r>
              <a:rPr sz="860" b="0">
                <a:solidFill>
                  <a:srgbClr val="555555"/>
                </a:solidFill>
                <a:latin typeface="Arial"/>
              </a:rPr>
              <a:t>Propulsion sized by the model</a:t>
            </a:r>
          </a:p>
          <a:p>
            <a:pPr algn="l">
              <a:lnSpc>
                <a:spcPct val="115000"/>
              </a:lnSpc>
            </a:pPr>
            <a:r>
              <a:rPr sz="860" b="0">
                <a:solidFill>
                  <a:srgbClr val="555555"/>
                </a:solidFill>
                <a:latin typeface="Arial"/>
              </a:rPr>
              <a:t>Propulsion and cooling co-designed</a:t>
            </a:r>
          </a:p>
        </p:txBody>
      </p:sp>
      <p:sp>
        <p:nvSpPr>
          <p:cNvPr id="31" name="Card: Autonomous"/>
          <p:cNvSpPr/>
          <p:nvPr/>
        </p:nvSpPr>
        <p:spPr>
          <a:xfrm>
            <a:off x="5090160" y="5824728"/>
            <a:ext cx="2179320" cy="1143000"/>
          </a:xfrm>
          <a:prstGeom prst="roundRect">
            <a:avLst>
              <a:gd name="adj" fmla="val 12800"/>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art: Autonomous"/>
          <p:cNvSpPr txBox="1"/>
          <p:nvPr/>
        </p:nvSpPr>
        <p:spPr>
          <a:xfrm>
            <a:off x="5227320" y="5897880"/>
            <a:ext cx="1905000" cy="228600"/>
          </a:xfrm>
          <a:prstGeom prst="rect">
            <a:avLst/>
          </a:prstGeom>
          <a:noFill/>
        </p:spPr>
        <p:txBody>
          <a:bodyPr wrap="square" lIns="0" rIns="0" tIns="0" bIns="0" anchor="t">
            <a:spAutoFit/>
          </a:bodyPr>
          <a:lstStyle/>
          <a:p>
            <a:pPr algn="l"/>
            <a:r>
              <a:rPr sz="1125" b="1">
                <a:solidFill>
                  <a:srgbClr val="111111"/>
                </a:solidFill>
                <a:latin typeface="Arial"/>
              </a:rPr>
              <a:t>Autonomous</a:t>
            </a:r>
          </a:p>
        </p:txBody>
      </p:sp>
      <p:sp>
        <p:nvSpPr>
          <p:cNvPr id="33" name="Part tagline: Autonomous"/>
          <p:cNvSpPr txBox="1"/>
          <p:nvPr/>
        </p:nvSpPr>
        <p:spPr>
          <a:xfrm>
            <a:off x="5227320" y="6108192"/>
            <a:ext cx="1905000" cy="182880"/>
          </a:xfrm>
          <a:prstGeom prst="rect">
            <a:avLst/>
          </a:prstGeom>
          <a:noFill/>
        </p:spPr>
        <p:txBody>
          <a:bodyPr wrap="square" lIns="0" rIns="0" tIns="0" bIns="0" anchor="t">
            <a:spAutoFit/>
          </a:bodyPr>
          <a:lstStyle/>
          <a:p>
            <a:pPr algn="l"/>
            <a:r>
              <a:rPr sz="900" b="1">
                <a:solidFill>
                  <a:srgbClr val="111111"/>
                </a:solidFill>
                <a:latin typeface="Arial"/>
              </a:rPr>
              <a:t>Manage drift and controls.</a:t>
            </a:r>
          </a:p>
        </p:txBody>
      </p:sp>
      <p:sp>
        <p:nvSpPr>
          <p:cNvPr id="34" name="Part points: Autonomous"/>
          <p:cNvSpPr txBox="1"/>
          <p:nvPr/>
        </p:nvSpPr>
        <p:spPr>
          <a:xfrm>
            <a:off x="5227320" y="6327648"/>
            <a:ext cx="1905000" cy="548640"/>
          </a:xfrm>
          <a:prstGeom prst="rect">
            <a:avLst/>
          </a:prstGeom>
          <a:noFill/>
        </p:spPr>
        <p:txBody>
          <a:bodyPr wrap="square" lIns="0" rIns="0" tIns="0" bIns="0" anchor="t">
            <a:spAutoFit/>
          </a:bodyPr>
          <a:lstStyle/>
          <a:p>
            <a:pPr algn="l">
              <a:lnSpc>
                <a:spcPct val="115000"/>
              </a:lnSpc>
            </a:pPr>
            <a:r>
              <a:rPr sz="860" b="0">
                <a:solidFill>
                  <a:srgbClr val="555555"/>
                </a:solidFill>
                <a:latin typeface="Arial"/>
              </a:rPr>
              <a:t>GPS, IMU and LIDAR sensing</a:t>
            </a:r>
          </a:p>
          <a:p>
            <a:pPr algn="l">
              <a:lnSpc>
                <a:spcPct val="115000"/>
              </a:lnSpc>
            </a:pPr>
            <a:r>
              <a:rPr sz="860" b="0">
                <a:solidFill>
                  <a:srgbClr val="555555"/>
                </a:solidFill>
                <a:latin typeface="Arial"/>
              </a:rPr>
              <a:t>Fundamental feedback protocols</a:t>
            </a:r>
          </a:p>
          <a:p>
            <a:pPr algn="l">
              <a:lnSpc>
                <a:spcPct val="115000"/>
              </a:lnSpc>
            </a:pPr>
            <a:r>
              <a:rPr sz="860" b="0">
                <a:solidFill>
                  <a:srgbClr val="555555"/>
                </a:solidFill>
                <a:latin typeface="Arial"/>
              </a:rPr>
              <a:t>Software plans the route</a:t>
            </a:r>
          </a:p>
        </p:txBody>
      </p:sp>
      <p:sp>
        <p:nvSpPr>
          <p:cNvPr id="35" name="Heading: Timeline"/>
          <p:cNvSpPr txBox="1"/>
          <p:nvPr/>
        </p:nvSpPr>
        <p:spPr>
          <a:xfrm>
            <a:off x="502920" y="7132320"/>
            <a:ext cx="6583680" cy="274320"/>
          </a:xfrm>
          <a:prstGeom prst="rect">
            <a:avLst/>
          </a:prstGeom>
          <a:noFill/>
        </p:spPr>
        <p:txBody>
          <a:bodyPr wrap="square" lIns="0" rIns="0" tIns="0" bIns="0" anchor="t">
            <a:spAutoFit/>
          </a:bodyPr>
          <a:lstStyle/>
          <a:p>
            <a:pPr algn="l"/>
            <a:r>
              <a:rPr sz="1275" b="1">
                <a:solidFill>
                  <a:srgbClr val="111111"/>
                </a:solidFill>
                <a:latin typeface="Arial"/>
              </a:rPr>
              <a:t>Timeline</a:t>
            </a:r>
          </a:p>
        </p:txBody>
      </p:sp>
      <p:sp>
        <p:nvSpPr>
          <p:cNvPr id="36" name="Timeline date: Hull design frozen"/>
          <p:cNvSpPr txBox="1"/>
          <p:nvPr/>
        </p:nvSpPr>
        <p:spPr>
          <a:xfrm>
            <a:off x="502920" y="7406640"/>
            <a:ext cx="1005840" cy="164592"/>
          </a:xfrm>
          <a:prstGeom prst="rect">
            <a:avLst/>
          </a:prstGeom>
          <a:noFill/>
        </p:spPr>
        <p:txBody>
          <a:bodyPr wrap="square" lIns="0" rIns="0" tIns="0" bIns="0" anchor="t">
            <a:spAutoFit/>
          </a:bodyPr>
          <a:lstStyle/>
          <a:p>
            <a:pPr algn="l"/>
            <a:r>
              <a:rPr sz="819" b="1">
                <a:solidFill>
                  <a:srgbClr val="111111"/>
                </a:solidFill>
                <a:latin typeface="Arial"/>
              </a:rPr>
              <a:t>Oct 25</a:t>
            </a:r>
          </a:p>
        </p:txBody>
      </p:sp>
      <p:sp>
        <p:nvSpPr>
          <p:cNvPr id="37" name="Timeline label: Hull design frozen"/>
          <p:cNvSpPr txBox="1"/>
          <p:nvPr/>
        </p:nvSpPr>
        <p:spPr>
          <a:xfrm>
            <a:off x="1600200" y="7406640"/>
            <a:ext cx="2133752" cy="169164"/>
          </a:xfrm>
          <a:prstGeom prst="rect">
            <a:avLst/>
          </a:prstGeom>
          <a:noFill/>
        </p:spPr>
        <p:txBody>
          <a:bodyPr wrap="square" lIns="0" rIns="0" tIns="0" bIns="0" anchor="t">
            <a:spAutoFit/>
          </a:bodyPr>
          <a:lstStyle/>
          <a:p>
            <a:pPr algn="l"/>
            <a:r>
              <a:rPr sz="819" b="0">
                <a:solidFill>
                  <a:srgbClr val="555555"/>
                </a:solidFill>
                <a:latin typeface="Arial"/>
              </a:rPr>
              <a:t>Hull design frozen</a:t>
            </a:r>
          </a:p>
        </p:txBody>
      </p:sp>
      <p:sp>
        <p:nvSpPr>
          <p:cNvPr id="38" name="Timeline date: Preliminary design review"/>
          <p:cNvSpPr txBox="1"/>
          <p:nvPr/>
        </p:nvSpPr>
        <p:spPr>
          <a:xfrm>
            <a:off x="502920" y="7575804"/>
            <a:ext cx="1005840" cy="164592"/>
          </a:xfrm>
          <a:prstGeom prst="rect">
            <a:avLst/>
          </a:prstGeom>
          <a:noFill/>
        </p:spPr>
        <p:txBody>
          <a:bodyPr wrap="square" lIns="0" rIns="0" tIns="0" bIns="0" anchor="t">
            <a:spAutoFit/>
          </a:bodyPr>
          <a:lstStyle/>
          <a:p>
            <a:pPr algn="l"/>
            <a:r>
              <a:rPr sz="819" b="1">
                <a:solidFill>
                  <a:srgbClr val="111111"/>
                </a:solidFill>
                <a:latin typeface="Arial"/>
              </a:rPr>
              <a:t>Nov 1</a:t>
            </a:r>
          </a:p>
        </p:txBody>
      </p:sp>
      <p:sp>
        <p:nvSpPr>
          <p:cNvPr id="39" name="Timeline label: Preliminary design review"/>
          <p:cNvSpPr txBox="1"/>
          <p:nvPr/>
        </p:nvSpPr>
        <p:spPr>
          <a:xfrm>
            <a:off x="1600200" y="7575804"/>
            <a:ext cx="2133752" cy="169164"/>
          </a:xfrm>
          <a:prstGeom prst="rect">
            <a:avLst/>
          </a:prstGeom>
          <a:noFill/>
        </p:spPr>
        <p:txBody>
          <a:bodyPr wrap="square" lIns="0" rIns="0" tIns="0" bIns="0" anchor="t">
            <a:spAutoFit/>
          </a:bodyPr>
          <a:lstStyle/>
          <a:p>
            <a:pPr algn="l"/>
            <a:r>
              <a:rPr sz="819" b="0">
                <a:solidFill>
                  <a:srgbClr val="555555"/>
                </a:solidFill>
                <a:latin typeface="Arial"/>
              </a:rPr>
              <a:t>Preliminary design review</a:t>
            </a:r>
          </a:p>
        </p:txBody>
      </p:sp>
      <p:sp>
        <p:nvSpPr>
          <p:cNvPr id="40" name="Timeline date: Critical and long-lead parts are ordered"/>
          <p:cNvSpPr txBox="1"/>
          <p:nvPr/>
        </p:nvSpPr>
        <p:spPr>
          <a:xfrm>
            <a:off x="502920" y="7744968"/>
            <a:ext cx="1005840" cy="164592"/>
          </a:xfrm>
          <a:prstGeom prst="rect">
            <a:avLst/>
          </a:prstGeom>
          <a:noFill/>
        </p:spPr>
        <p:txBody>
          <a:bodyPr wrap="square" lIns="0" rIns="0" tIns="0" bIns="0" anchor="t">
            <a:spAutoFit/>
          </a:bodyPr>
          <a:lstStyle/>
          <a:p>
            <a:pPr algn="l"/>
            <a:r>
              <a:rPr sz="819" b="1">
                <a:solidFill>
                  <a:srgbClr val="111111"/>
                </a:solidFill>
                <a:latin typeface="Arial"/>
              </a:rPr>
              <a:t>Nov 10</a:t>
            </a:r>
          </a:p>
        </p:txBody>
      </p:sp>
      <p:sp>
        <p:nvSpPr>
          <p:cNvPr id="41" name="Timeline label: Critical and long-lead parts are ordered"/>
          <p:cNvSpPr txBox="1"/>
          <p:nvPr/>
        </p:nvSpPr>
        <p:spPr>
          <a:xfrm>
            <a:off x="1600200" y="7744968"/>
            <a:ext cx="2133752" cy="169164"/>
          </a:xfrm>
          <a:prstGeom prst="rect">
            <a:avLst/>
          </a:prstGeom>
          <a:noFill/>
        </p:spPr>
        <p:txBody>
          <a:bodyPr wrap="square" lIns="0" rIns="0" tIns="0" bIns="0" anchor="t">
            <a:spAutoFit/>
          </a:bodyPr>
          <a:lstStyle/>
          <a:p>
            <a:pPr algn="l"/>
            <a:r>
              <a:rPr sz="819" b="0">
                <a:solidFill>
                  <a:srgbClr val="555555"/>
                </a:solidFill>
                <a:latin typeface="Arial"/>
              </a:rPr>
              <a:t>Critical and long-lead parts are ordered</a:t>
            </a:r>
          </a:p>
        </p:txBody>
      </p:sp>
      <p:sp>
        <p:nvSpPr>
          <p:cNvPr id="42" name="Timeline date: Mechanical and electrical design frozen"/>
          <p:cNvSpPr txBox="1"/>
          <p:nvPr/>
        </p:nvSpPr>
        <p:spPr>
          <a:xfrm>
            <a:off x="502920" y="7914132"/>
            <a:ext cx="1005840" cy="164592"/>
          </a:xfrm>
          <a:prstGeom prst="rect">
            <a:avLst/>
          </a:prstGeom>
          <a:noFill/>
        </p:spPr>
        <p:txBody>
          <a:bodyPr wrap="square" lIns="0" rIns="0" tIns="0" bIns="0" anchor="t">
            <a:spAutoFit/>
          </a:bodyPr>
          <a:lstStyle/>
          <a:p>
            <a:pPr algn="l"/>
            <a:r>
              <a:rPr sz="819" b="1">
                <a:solidFill>
                  <a:srgbClr val="111111"/>
                </a:solidFill>
                <a:latin typeface="Arial"/>
              </a:rPr>
              <a:t>Nov 20</a:t>
            </a:r>
          </a:p>
        </p:txBody>
      </p:sp>
      <p:sp>
        <p:nvSpPr>
          <p:cNvPr id="43" name="Timeline label: Mechanical and electrical design frozen"/>
          <p:cNvSpPr txBox="1"/>
          <p:nvPr/>
        </p:nvSpPr>
        <p:spPr>
          <a:xfrm>
            <a:off x="1600200" y="7914132"/>
            <a:ext cx="2133752" cy="169164"/>
          </a:xfrm>
          <a:prstGeom prst="rect">
            <a:avLst/>
          </a:prstGeom>
          <a:noFill/>
        </p:spPr>
        <p:txBody>
          <a:bodyPr wrap="square" lIns="0" rIns="0" tIns="0" bIns="0" anchor="t">
            <a:spAutoFit/>
          </a:bodyPr>
          <a:lstStyle/>
          <a:p>
            <a:pPr algn="l"/>
            <a:r>
              <a:rPr sz="819" b="0">
                <a:solidFill>
                  <a:srgbClr val="555555"/>
                </a:solidFill>
                <a:latin typeface="Arial"/>
              </a:rPr>
              <a:t>Mechanical and electrical design frozen</a:t>
            </a:r>
          </a:p>
        </p:txBody>
      </p:sp>
      <p:sp>
        <p:nvSpPr>
          <p:cNvPr id="44" name="Timeline date: Build the hull, composite parts and any custom-milled parts"/>
          <p:cNvSpPr txBox="1"/>
          <p:nvPr/>
        </p:nvSpPr>
        <p:spPr>
          <a:xfrm>
            <a:off x="502920" y="8083296"/>
            <a:ext cx="1005840" cy="164592"/>
          </a:xfrm>
          <a:prstGeom prst="rect">
            <a:avLst/>
          </a:prstGeom>
          <a:noFill/>
        </p:spPr>
        <p:txBody>
          <a:bodyPr wrap="square" lIns="0" rIns="0" tIns="0" bIns="0" anchor="t">
            <a:spAutoFit/>
          </a:bodyPr>
          <a:lstStyle/>
          <a:p>
            <a:pPr algn="l"/>
            <a:r>
              <a:rPr sz="819" b="1">
                <a:solidFill>
                  <a:srgbClr val="111111"/>
                </a:solidFill>
                <a:latin typeface="Arial"/>
              </a:rPr>
              <a:t>Nov 20–Dec 20</a:t>
            </a:r>
          </a:p>
        </p:txBody>
      </p:sp>
      <p:sp>
        <p:nvSpPr>
          <p:cNvPr id="45" name="Timeline label: Build the hull, composite parts and any custom-milled parts"/>
          <p:cNvSpPr txBox="1"/>
          <p:nvPr/>
        </p:nvSpPr>
        <p:spPr>
          <a:xfrm>
            <a:off x="1600200" y="8083296"/>
            <a:ext cx="2133752" cy="288036"/>
          </a:xfrm>
          <a:prstGeom prst="rect">
            <a:avLst/>
          </a:prstGeom>
          <a:noFill/>
        </p:spPr>
        <p:txBody>
          <a:bodyPr wrap="square" lIns="0" rIns="0" tIns="0" bIns="0" anchor="t">
            <a:spAutoFit/>
          </a:bodyPr>
          <a:lstStyle/>
          <a:p>
            <a:pPr algn="l"/>
            <a:r>
              <a:rPr sz="819" b="0">
                <a:solidFill>
                  <a:srgbClr val="555555"/>
                </a:solidFill>
                <a:latin typeface="Arial"/>
              </a:rPr>
              <a:t>Build the hull, composite parts and any custom-milled parts</a:t>
            </a:r>
          </a:p>
        </p:txBody>
      </p:sp>
      <p:sp>
        <p:nvSpPr>
          <p:cNvPr id="46" name="Timeline date: First float and tow test"/>
          <p:cNvSpPr txBox="1"/>
          <p:nvPr/>
        </p:nvSpPr>
        <p:spPr>
          <a:xfrm>
            <a:off x="502920" y="8371332"/>
            <a:ext cx="1005840" cy="164592"/>
          </a:xfrm>
          <a:prstGeom prst="rect">
            <a:avLst/>
          </a:prstGeom>
          <a:noFill/>
        </p:spPr>
        <p:txBody>
          <a:bodyPr wrap="square" lIns="0" rIns="0" tIns="0" bIns="0" anchor="t">
            <a:spAutoFit/>
          </a:bodyPr>
          <a:lstStyle/>
          <a:p>
            <a:pPr algn="l"/>
            <a:r>
              <a:rPr sz="819" b="1">
                <a:solidFill>
                  <a:srgbClr val="111111"/>
                </a:solidFill>
                <a:latin typeface="Arial"/>
              </a:rPr>
              <a:t>Jan 8</a:t>
            </a:r>
          </a:p>
        </p:txBody>
      </p:sp>
      <p:sp>
        <p:nvSpPr>
          <p:cNvPr id="47" name="Timeline label: First float and tow test"/>
          <p:cNvSpPr txBox="1"/>
          <p:nvPr/>
        </p:nvSpPr>
        <p:spPr>
          <a:xfrm>
            <a:off x="1600200" y="8371332"/>
            <a:ext cx="2133752" cy="169164"/>
          </a:xfrm>
          <a:prstGeom prst="rect">
            <a:avLst/>
          </a:prstGeom>
          <a:noFill/>
        </p:spPr>
        <p:txBody>
          <a:bodyPr wrap="square" lIns="0" rIns="0" tIns="0" bIns="0" anchor="t">
            <a:spAutoFit/>
          </a:bodyPr>
          <a:lstStyle/>
          <a:p>
            <a:pPr algn="l"/>
            <a:r>
              <a:rPr sz="819" b="0">
                <a:solidFill>
                  <a:srgbClr val="555555"/>
                </a:solidFill>
                <a:latin typeface="Arial"/>
              </a:rPr>
              <a:t>First float and tow test</a:t>
            </a:r>
          </a:p>
        </p:txBody>
      </p:sp>
      <p:sp>
        <p:nvSpPr>
          <p:cNvPr id="48" name="Timeline date: Manufacture and assemble everything"/>
          <p:cNvSpPr txBox="1"/>
          <p:nvPr/>
        </p:nvSpPr>
        <p:spPr>
          <a:xfrm>
            <a:off x="4038447" y="7406640"/>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49" name="Timeline label: Manufacture and assemble everything"/>
          <p:cNvSpPr txBox="1"/>
          <p:nvPr/>
        </p:nvSpPr>
        <p:spPr>
          <a:xfrm>
            <a:off x="5135727" y="7406640"/>
            <a:ext cx="2133752" cy="169164"/>
          </a:xfrm>
          <a:prstGeom prst="rect">
            <a:avLst/>
          </a:prstGeom>
          <a:noFill/>
        </p:spPr>
        <p:txBody>
          <a:bodyPr wrap="square" lIns="0" rIns="0" tIns="0" bIns="0" anchor="t">
            <a:spAutoFit/>
          </a:bodyPr>
          <a:lstStyle/>
          <a:p>
            <a:pPr algn="l"/>
            <a:r>
              <a:rPr sz="819" b="0">
                <a:solidFill>
                  <a:srgbClr val="555555"/>
                </a:solidFill>
                <a:latin typeface="Arial"/>
              </a:rPr>
              <a:t>Manufacture and assemble everything</a:t>
            </a:r>
          </a:p>
        </p:txBody>
      </p:sp>
      <p:sp>
        <p:nvSpPr>
          <p:cNvPr id="50" name="Timeline date: Build likely spare parts, in parallel"/>
          <p:cNvSpPr txBox="1"/>
          <p:nvPr/>
        </p:nvSpPr>
        <p:spPr>
          <a:xfrm>
            <a:off x="4038447" y="7575804"/>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51" name="Timeline label: Build likely spare parts, in parallel"/>
          <p:cNvSpPr txBox="1"/>
          <p:nvPr/>
        </p:nvSpPr>
        <p:spPr>
          <a:xfrm>
            <a:off x="5135727" y="7575804"/>
            <a:ext cx="2133752" cy="169164"/>
          </a:xfrm>
          <a:prstGeom prst="rect">
            <a:avLst/>
          </a:prstGeom>
          <a:noFill/>
        </p:spPr>
        <p:txBody>
          <a:bodyPr wrap="square" lIns="0" rIns="0" tIns="0" bIns="0" anchor="t">
            <a:spAutoFit/>
          </a:bodyPr>
          <a:lstStyle/>
          <a:p>
            <a:pPr algn="l"/>
            <a:r>
              <a:rPr sz="819" b="0">
                <a:solidFill>
                  <a:srgbClr val="555555"/>
                </a:solidFill>
                <a:latin typeface="Arial"/>
              </a:rPr>
              <a:t>Build likely spare parts, in parallel</a:t>
            </a:r>
          </a:p>
        </p:txBody>
      </p:sp>
      <p:sp>
        <p:nvSpPr>
          <p:cNvPr id="52" name="Timeline date: First nautical mile"/>
          <p:cNvSpPr txBox="1"/>
          <p:nvPr/>
        </p:nvSpPr>
        <p:spPr>
          <a:xfrm>
            <a:off x="4038447" y="7744968"/>
            <a:ext cx="1005840" cy="164592"/>
          </a:xfrm>
          <a:prstGeom prst="rect">
            <a:avLst/>
          </a:prstGeom>
          <a:noFill/>
        </p:spPr>
        <p:txBody>
          <a:bodyPr wrap="square" lIns="0" rIns="0" tIns="0" bIns="0" anchor="t">
            <a:spAutoFit/>
          </a:bodyPr>
          <a:lstStyle/>
          <a:p>
            <a:pPr algn="l"/>
            <a:r>
              <a:rPr sz="819" b="1">
                <a:solidFill>
                  <a:srgbClr val="111111"/>
                </a:solidFill>
                <a:latin typeface="Arial"/>
              </a:rPr>
              <a:t>Jan 31</a:t>
            </a:r>
          </a:p>
        </p:txBody>
      </p:sp>
      <p:sp>
        <p:nvSpPr>
          <p:cNvPr id="53" name="Timeline label: First nautical mile"/>
          <p:cNvSpPr txBox="1"/>
          <p:nvPr/>
        </p:nvSpPr>
        <p:spPr>
          <a:xfrm>
            <a:off x="5135727" y="7744968"/>
            <a:ext cx="2133752" cy="169164"/>
          </a:xfrm>
          <a:prstGeom prst="rect">
            <a:avLst/>
          </a:prstGeom>
          <a:noFill/>
        </p:spPr>
        <p:txBody>
          <a:bodyPr wrap="square" lIns="0" rIns="0" tIns="0" bIns="0" anchor="t">
            <a:spAutoFit/>
          </a:bodyPr>
          <a:lstStyle/>
          <a:p>
            <a:pPr algn="l"/>
            <a:r>
              <a:rPr sz="819" b="0">
                <a:solidFill>
                  <a:srgbClr val="555555"/>
                </a:solidFill>
                <a:latin typeface="Arial"/>
              </a:rPr>
              <a:t>First nautical mile</a:t>
            </a:r>
          </a:p>
        </p:txBody>
      </p:sp>
      <p:sp>
        <p:nvSpPr>
          <p:cNvPr id="54" name="Timeline date: Slow drives on the water"/>
          <p:cNvSpPr txBox="1"/>
          <p:nvPr/>
        </p:nvSpPr>
        <p:spPr>
          <a:xfrm>
            <a:off x="4038447" y="7914132"/>
            <a:ext cx="1005840" cy="164592"/>
          </a:xfrm>
          <a:prstGeom prst="rect">
            <a:avLst/>
          </a:prstGeom>
          <a:noFill/>
        </p:spPr>
        <p:txBody>
          <a:bodyPr wrap="square" lIns="0" rIns="0" tIns="0" bIns="0" anchor="t">
            <a:spAutoFit/>
          </a:bodyPr>
          <a:lstStyle/>
          <a:p>
            <a:pPr algn="l"/>
            <a:r>
              <a:rPr sz="819" b="1">
                <a:solidFill>
                  <a:srgbClr val="111111"/>
                </a:solidFill>
                <a:latin typeface="Arial"/>
              </a:rPr>
              <a:t>Feb 1–14</a:t>
            </a:r>
          </a:p>
        </p:txBody>
      </p:sp>
      <p:sp>
        <p:nvSpPr>
          <p:cNvPr id="55" name="Timeline label: Slow drives on the water"/>
          <p:cNvSpPr txBox="1"/>
          <p:nvPr/>
        </p:nvSpPr>
        <p:spPr>
          <a:xfrm>
            <a:off x="5135727" y="7914132"/>
            <a:ext cx="2133752" cy="169164"/>
          </a:xfrm>
          <a:prstGeom prst="rect">
            <a:avLst/>
          </a:prstGeom>
          <a:noFill/>
        </p:spPr>
        <p:txBody>
          <a:bodyPr wrap="square" lIns="0" rIns="0" tIns="0" bIns="0" anchor="t">
            <a:spAutoFit/>
          </a:bodyPr>
          <a:lstStyle/>
          <a:p>
            <a:pPr algn="l"/>
            <a:r>
              <a:rPr sz="819" b="0">
                <a:solidFill>
                  <a:srgbClr val="555555"/>
                </a:solidFill>
                <a:latin typeface="Arial"/>
              </a:rPr>
              <a:t>Slow drives on the water</a:t>
            </a:r>
          </a:p>
        </p:txBody>
      </p:sp>
      <p:sp>
        <p:nvSpPr>
          <p:cNvPr id="56" name="Timeline date: Start increasing speed"/>
          <p:cNvSpPr txBox="1"/>
          <p:nvPr/>
        </p:nvSpPr>
        <p:spPr>
          <a:xfrm>
            <a:off x="4038447" y="8083296"/>
            <a:ext cx="1005840" cy="164592"/>
          </a:xfrm>
          <a:prstGeom prst="rect">
            <a:avLst/>
          </a:prstGeom>
          <a:noFill/>
        </p:spPr>
        <p:txBody>
          <a:bodyPr wrap="square" lIns="0" rIns="0" tIns="0" bIns="0" anchor="t">
            <a:spAutoFit/>
          </a:bodyPr>
          <a:lstStyle/>
          <a:p>
            <a:pPr algn="l"/>
            <a:r>
              <a:rPr sz="819" b="1">
                <a:solidFill>
                  <a:srgbClr val="111111"/>
                </a:solidFill>
                <a:latin typeface="Arial"/>
              </a:rPr>
              <a:t>Feb 15</a:t>
            </a:r>
          </a:p>
        </p:txBody>
      </p:sp>
      <p:sp>
        <p:nvSpPr>
          <p:cNvPr id="57" name="Timeline label: Start increasing speed"/>
          <p:cNvSpPr txBox="1"/>
          <p:nvPr/>
        </p:nvSpPr>
        <p:spPr>
          <a:xfrm>
            <a:off x="5135727" y="8083296"/>
            <a:ext cx="2133752" cy="169164"/>
          </a:xfrm>
          <a:prstGeom prst="rect">
            <a:avLst/>
          </a:prstGeom>
          <a:noFill/>
        </p:spPr>
        <p:txBody>
          <a:bodyPr wrap="square" lIns="0" rIns="0" tIns="0" bIns="0" anchor="t">
            <a:spAutoFit/>
          </a:bodyPr>
          <a:lstStyle/>
          <a:p>
            <a:pPr algn="l"/>
            <a:r>
              <a:rPr sz="819" b="0">
                <a:solidFill>
                  <a:srgbClr val="555555"/>
                </a:solidFill>
                <a:latin typeface="Arial"/>
              </a:rPr>
              <a:t>Start increasing speed</a:t>
            </a:r>
          </a:p>
        </p:txBody>
      </p:sp>
      <p:sp>
        <p:nvSpPr>
          <p:cNvPr id="58" name="Timeline date: Testing / Tuning"/>
          <p:cNvSpPr txBox="1"/>
          <p:nvPr/>
        </p:nvSpPr>
        <p:spPr>
          <a:xfrm>
            <a:off x="4038447" y="8252460"/>
            <a:ext cx="1005840" cy="164592"/>
          </a:xfrm>
          <a:prstGeom prst="rect">
            <a:avLst/>
          </a:prstGeom>
          <a:noFill/>
        </p:spPr>
        <p:txBody>
          <a:bodyPr wrap="square" lIns="0" rIns="0" tIns="0" bIns="0" anchor="t">
            <a:spAutoFit/>
          </a:bodyPr>
          <a:lstStyle/>
          <a:p>
            <a:pPr algn="l"/>
            <a:r>
              <a:rPr sz="819" b="1">
                <a:solidFill>
                  <a:srgbClr val="111111"/>
                </a:solidFill>
                <a:latin typeface="Arial"/>
              </a:rPr>
              <a:t>Until April</a:t>
            </a:r>
          </a:p>
        </p:txBody>
      </p:sp>
      <p:sp>
        <p:nvSpPr>
          <p:cNvPr id="59" name="Timeline label: Testing / Tuning"/>
          <p:cNvSpPr txBox="1"/>
          <p:nvPr/>
        </p:nvSpPr>
        <p:spPr>
          <a:xfrm>
            <a:off x="5135727" y="8252460"/>
            <a:ext cx="2133752" cy="169164"/>
          </a:xfrm>
          <a:prstGeom prst="rect">
            <a:avLst/>
          </a:prstGeom>
          <a:noFill/>
        </p:spPr>
        <p:txBody>
          <a:bodyPr wrap="square" lIns="0" rIns="0" tIns="0" bIns="0" anchor="t">
            <a:spAutoFit/>
          </a:bodyPr>
          <a:lstStyle/>
          <a:p>
            <a:pPr algn="l"/>
            <a:r>
              <a:rPr sz="819" b="0">
                <a:solidFill>
                  <a:srgbClr val="555555"/>
                </a:solidFill>
                <a:latin typeface="Arial"/>
              </a:rPr>
              <a:t>Testing / Tuning</a:t>
            </a:r>
          </a:p>
        </p:txBody>
      </p:sp>
      <p:sp>
        <p:nvSpPr>
          <p:cNvPr id="60" name="Footer card"/>
          <p:cNvSpPr/>
          <p:nvPr/>
        </p:nvSpPr>
        <p:spPr>
          <a:xfrm>
            <a:off x="502920" y="8823960"/>
            <a:ext cx="6766560" cy="822960"/>
          </a:xfrm>
          <a:prstGeom prst="roundRect">
            <a:avLst>
              <a:gd name="adj" fmla="val 1777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ooter title"/>
          <p:cNvSpPr txBox="1"/>
          <p:nvPr/>
        </p:nvSpPr>
        <p:spPr>
          <a:xfrm>
            <a:off x="685800" y="8961120"/>
            <a:ext cx="3474720" cy="274320"/>
          </a:xfrm>
          <a:prstGeom prst="rect">
            <a:avLst/>
          </a:prstGeom>
          <a:noFill/>
        </p:spPr>
        <p:txBody>
          <a:bodyPr wrap="square" lIns="0" rIns="0" tIns="0" bIns="0" anchor="t">
            <a:spAutoFit/>
          </a:bodyPr>
          <a:lstStyle/>
          <a:p>
            <a:pPr algn="l"/>
            <a:r>
              <a:rPr sz="1425" b="1">
                <a:solidFill>
                  <a:srgbClr val="FFFFFF"/>
                </a:solidFill>
                <a:latin typeface="Arial"/>
              </a:rPr>
              <a:t>Want to get involved?</a:t>
            </a:r>
          </a:p>
        </p:txBody>
      </p:sp>
      <p:sp>
        <p:nvSpPr>
          <p:cNvPr id="62" name="Footer text"/>
          <p:cNvSpPr txBox="1"/>
          <p:nvPr/>
        </p:nvSpPr>
        <p:spPr>
          <a:xfrm>
            <a:off x="685800" y="9235440"/>
            <a:ext cx="3291840" cy="365760"/>
          </a:xfrm>
          <a:prstGeom prst="rect">
            <a:avLst/>
          </a:prstGeom>
          <a:noFill/>
        </p:spPr>
        <p:txBody>
          <a:bodyPr wrap="square" lIns="0" rIns="0" tIns="0" bIns="0" anchor="t">
            <a:spAutoFit/>
          </a:bodyPr>
          <a:lstStyle/>
          <a:p>
            <a:pPr algn="l">
              <a:lnSpc>
                <a:spcPct val="115000"/>
              </a:lnSpc>
            </a:pPr>
            <a:r>
              <a:rPr sz="900" b="0">
                <a:solidFill>
                  <a:srgbClr val="BBBBBB"/>
                </a:solidFill>
                <a:latin typeface="Arial"/>
              </a:rPr>
              <a:t>We are looking for funds, parts, advisors and supporters. Email Marley or head to our site for more information.</a:t>
            </a:r>
          </a:p>
        </p:txBody>
      </p:sp>
      <p:sp>
        <p:nvSpPr>
          <p:cNvPr id="63" name="Footer link"/>
          <p:cNvSpPr txBox="1"/>
          <p:nvPr/>
        </p:nvSpPr>
        <p:spPr>
          <a:xfrm>
            <a:off x="4160520" y="8942832"/>
            <a:ext cx="2926080" cy="274320"/>
          </a:xfrm>
          <a:prstGeom prst="rect">
            <a:avLst/>
          </a:prstGeom>
          <a:noFill/>
        </p:spPr>
        <p:txBody>
          <a:bodyPr wrap="square" lIns="0" rIns="0" tIns="0" bIns="0" anchor="t">
            <a:spAutoFit/>
          </a:bodyPr>
          <a:lstStyle/>
          <a:p>
            <a:pPr algn="r"/>
            <a:r>
              <a:rPr sz="1425" b="1">
                <a:solidFill>
                  <a:srgbClr val="FFFFFF"/>
                </a:solidFill>
                <a:latin typeface="Arial"/>
              </a:rPr>
              <a:t>bit.ly/haav</a:t>
            </a:r>
          </a:p>
        </p:txBody>
      </p:sp>
      <p:sp>
        <p:nvSpPr>
          <p:cNvPr id="64" name="Footer contact name"/>
          <p:cNvSpPr txBox="1"/>
          <p:nvPr/>
        </p:nvSpPr>
        <p:spPr>
          <a:xfrm>
            <a:off x="4160520" y="9235440"/>
            <a:ext cx="2926080" cy="182880"/>
          </a:xfrm>
          <a:prstGeom prst="rect">
            <a:avLst/>
          </a:prstGeom>
          <a:noFill/>
        </p:spPr>
        <p:txBody>
          <a:bodyPr wrap="square" lIns="0" rIns="0" tIns="0" bIns="0" anchor="t">
            <a:spAutoFit/>
          </a:bodyPr>
          <a:lstStyle/>
          <a:p>
            <a:pPr algn="r"/>
            <a:r>
              <a:rPr sz="900" b="1">
                <a:solidFill>
                  <a:srgbClr val="FFFFFF"/>
                </a:solidFill>
                <a:latin typeface="Arial"/>
              </a:rPr>
              <a:t>Marley Barrett, Project lead</a:t>
            </a:r>
          </a:p>
        </p:txBody>
      </p:sp>
      <p:sp>
        <p:nvSpPr>
          <p:cNvPr id="65" name="Footer contact email"/>
          <p:cNvSpPr txBox="1"/>
          <p:nvPr/>
        </p:nvSpPr>
        <p:spPr>
          <a:xfrm>
            <a:off x="4160520" y="9400032"/>
            <a:ext cx="2926080" cy="182880"/>
          </a:xfrm>
          <a:prstGeom prst="rect">
            <a:avLst/>
          </a:prstGeom>
          <a:noFill/>
        </p:spPr>
        <p:txBody>
          <a:bodyPr wrap="square" lIns="0" rIns="0" tIns="0" bIns="0" anchor="t">
            <a:spAutoFit/>
          </a:bodyPr>
          <a:lstStyle/>
          <a:p>
            <a:pPr algn="r"/>
            <a:r>
              <a:rPr sz="900" b="0">
                <a:solidFill>
                  <a:srgbClr val="BBBBBB"/>
                </a:solidFill>
                <a:latin typeface="Arial"/>
              </a:rPr>
              <a:t>mhbarrett@wisc.edu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