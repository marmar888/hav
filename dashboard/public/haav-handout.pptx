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2057400"/>
          </a:xfrm>
          <a:prstGeom prst="roundRect">
            <a:avLst>
              <a:gd name="adj" fmla="val 444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12064" y="30175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12064" y="3547872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9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900" b="0">
                <a:solidFill>
                  <a:srgbClr val="3F3F46"/>
                </a:solidFill>
                <a:latin typeface="Arial"/>
              </a:rPr>
              <a:t>.</a:t>
            </a:r>
          </a:p>
        </p:txBody>
      </p:sp>
      <p:sp>
        <p:nvSpPr>
          <p:cNvPr id="14" name="Model note"/>
          <p:cNvSpPr txBox="1"/>
          <p:nvPr/>
        </p:nvSpPr>
        <p:spPr>
          <a:xfrm>
            <a:off x="512064" y="4526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1717A"/>
                </a:solidFill>
                <a:latin typeface="Arial"/>
              </a:rPr>
              <a:t>Illustrative: lines are constraints, dots are integer choices, red is what the 6 kW drive adds.</a:t>
            </a:r>
          </a:p>
        </p:txBody>
      </p:sp>
      <p:sp>
        <p:nvSpPr>
          <p:cNvPr id="15" name="Graph plate"/>
          <p:cNvSpPr/>
          <p:nvPr/>
        </p:nvSpPr>
        <p:spPr>
          <a:xfrm>
            <a:off x="3355848" y="2953512"/>
            <a:ext cx="3913632" cy="1856231"/>
          </a:xfrm>
          <a:prstGeom prst="roundRect">
            <a:avLst>
              <a:gd name="adj" fmla="val 394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Feasible-region graph" descr="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3017520"/>
            <a:ext cx="3730752" cy="1667866"/>
          </a:xfrm>
          <a:prstGeom prst="rect">
            <a:avLst/>
          </a:prstGeom>
        </p:spPr>
      </p:pic>
      <p:sp>
        <p:nvSpPr>
          <p:cNvPr id="17" name="Label: Engineers from across UW–Madison"/>
          <p:cNvSpPr txBox="1"/>
          <p:nvPr/>
        </p:nvSpPr>
        <p:spPr>
          <a:xfrm>
            <a:off x="384048" y="513892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8" name="Engineers text"/>
          <p:cNvSpPr txBox="1"/>
          <p:nvPr/>
        </p:nvSpPr>
        <p:spPr>
          <a:xfrm>
            <a:off x="384048" y="5321808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9" name="Tile: Industrial"/>
          <p:cNvSpPr/>
          <p:nvPr/>
        </p:nvSpPr>
        <p:spPr>
          <a:xfrm>
            <a:off x="384048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Industrial"/>
          <p:cNvSpPr txBox="1"/>
          <p:nvPr/>
        </p:nvSpPr>
        <p:spPr>
          <a:xfrm>
            <a:off x="484632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21" name="Tile text: Industrial"/>
          <p:cNvSpPr txBox="1"/>
          <p:nvPr/>
        </p:nvSpPr>
        <p:spPr>
          <a:xfrm>
            <a:off x="484632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22" name="Tile: Mechanical"/>
          <p:cNvSpPr/>
          <p:nvPr/>
        </p:nvSpPr>
        <p:spPr>
          <a:xfrm>
            <a:off x="2157984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Mechanical"/>
          <p:cNvSpPr txBox="1"/>
          <p:nvPr/>
        </p:nvSpPr>
        <p:spPr>
          <a:xfrm>
            <a:off x="2258568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4" name="Tile text: Mechanical"/>
          <p:cNvSpPr txBox="1"/>
          <p:nvPr/>
        </p:nvSpPr>
        <p:spPr>
          <a:xfrm>
            <a:off x="2258568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5" name="Tile: Electrical"/>
          <p:cNvSpPr/>
          <p:nvPr/>
        </p:nvSpPr>
        <p:spPr>
          <a:xfrm>
            <a:off x="3931920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Electrical"/>
          <p:cNvSpPr txBox="1"/>
          <p:nvPr/>
        </p:nvSpPr>
        <p:spPr>
          <a:xfrm>
            <a:off x="4032504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7" name="Tile text: Electrical"/>
          <p:cNvSpPr txBox="1"/>
          <p:nvPr/>
        </p:nvSpPr>
        <p:spPr>
          <a:xfrm>
            <a:off x="4032504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8" name="Tile: Computer"/>
          <p:cNvSpPr/>
          <p:nvPr/>
        </p:nvSpPr>
        <p:spPr>
          <a:xfrm>
            <a:off x="5705856" y="5577840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ile title: Computer"/>
          <p:cNvSpPr txBox="1"/>
          <p:nvPr/>
        </p:nvSpPr>
        <p:spPr>
          <a:xfrm>
            <a:off x="5806440" y="5641848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30" name="Tile text: Computer"/>
          <p:cNvSpPr txBox="1"/>
          <p:nvPr/>
        </p:nvSpPr>
        <p:spPr>
          <a:xfrm>
            <a:off x="5806440" y="5852160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31" name="Label: Our approach"/>
          <p:cNvSpPr txBox="1"/>
          <p:nvPr/>
        </p:nvSpPr>
        <p:spPr>
          <a:xfrm>
            <a:off x="384048" y="655624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32" name="Card: Hull"/>
          <p:cNvSpPr/>
          <p:nvPr/>
        </p:nvSpPr>
        <p:spPr>
          <a:xfrm>
            <a:off x="384048" y="6766560"/>
            <a:ext cx="224028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title: Hull"/>
          <p:cNvSpPr txBox="1"/>
          <p:nvPr/>
        </p:nvSpPr>
        <p:spPr>
          <a:xfrm>
            <a:off x="521207" y="68580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4" name="Card strategy: Hull"/>
          <p:cNvSpPr txBox="1"/>
          <p:nvPr/>
        </p:nvSpPr>
        <p:spPr>
          <a:xfrm>
            <a:off x="521207" y="7187184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5" name="Card rule: Hull"/>
          <p:cNvSpPr/>
          <p:nvPr/>
        </p:nvSpPr>
        <p:spPr>
          <a:xfrm>
            <a:off x="521207" y="747979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ard points: Hull"/>
          <p:cNvSpPr txBox="1"/>
          <p:nvPr/>
        </p:nvSpPr>
        <p:spPr>
          <a:xfrm>
            <a:off x="521207" y="7562088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7" name="Card: Electric"/>
          <p:cNvSpPr/>
          <p:nvPr/>
        </p:nvSpPr>
        <p:spPr>
          <a:xfrm>
            <a:off x="2743200" y="6766560"/>
            <a:ext cx="224028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title: Electric"/>
          <p:cNvSpPr txBox="1"/>
          <p:nvPr/>
        </p:nvSpPr>
        <p:spPr>
          <a:xfrm>
            <a:off x="2880360" y="68580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9" name="Card strategy: Electric"/>
          <p:cNvSpPr txBox="1"/>
          <p:nvPr/>
        </p:nvSpPr>
        <p:spPr>
          <a:xfrm>
            <a:off x="2880360" y="7187184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40" name="Card rule: Electric"/>
          <p:cNvSpPr/>
          <p:nvPr/>
        </p:nvSpPr>
        <p:spPr>
          <a:xfrm>
            <a:off x="2880360" y="747979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rd points: Electric"/>
          <p:cNvSpPr txBox="1"/>
          <p:nvPr/>
        </p:nvSpPr>
        <p:spPr>
          <a:xfrm>
            <a:off x="2880360" y="7562088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42" name="Card: Autonomous"/>
          <p:cNvSpPr/>
          <p:nvPr/>
        </p:nvSpPr>
        <p:spPr>
          <a:xfrm>
            <a:off x="5102352" y="6766560"/>
            <a:ext cx="2240280" cy="1536192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title: Autonomous"/>
          <p:cNvSpPr txBox="1"/>
          <p:nvPr/>
        </p:nvSpPr>
        <p:spPr>
          <a:xfrm>
            <a:off x="5239512" y="68580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4" name="Card strategy: Autonomous"/>
          <p:cNvSpPr txBox="1"/>
          <p:nvPr/>
        </p:nvSpPr>
        <p:spPr>
          <a:xfrm>
            <a:off x="5239512" y="7187184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Find the way, unaided.</a:t>
            </a:r>
          </a:p>
        </p:txBody>
      </p:sp>
      <p:sp>
        <p:nvSpPr>
          <p:cNvPr id="45" name="Card rule: Autonomous"/>
          <p:cNvSpPr/>
          <p:nvPr/>
        </p:nvSpPr>
        <p:spPr>
          <a:xfrm>
            <a:off x="5239512" y="7479792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ard points: Autonomous"/>
          <p:cNvSpPr txBox="1"/>
          <p:nvPr/>
        </p:nvSpPr>
        <p:spPr>
          <a:xfrm>
            <a:off x="5239512" y="7562088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4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7" name="Label: Timeline"/>
          <p:cNvSpPr txBox="1"/>
          <p:nvPr/>
        </p:nvSpPr>
        <p:spPr>
          <a:xfrm>
            <a:off x="384048" y="841248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8" name="Timeline rule: Hull design"/>
          <p:cNvSpPr/>
          <p:nvPr/>
        </p:nvSpPr>
        <p:spPr>
          <a:xfrm>
            <a:off x="384048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Hull design"/>
          <p:cNvSpPr txBox="1"/>
          <p:nvPr/>
        </p:nvSpPr>
        <p:spPr>
          <a:xfrm>
            <a:off x="384048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Oct 25</a:t>
            </a:r>
          </a:p>
        </p:txBody>
      </p:sp>
      <p:sp>
        <p:nvSpPr>
          <p:cNvPr id="50" name="Timeline label: Hull design"/>
          <p:cNvSpPr txBox="1"/>
          <p:nvPr/>
        </p:nvSpPr>
        <p:spPr>
          <a:xfrm>
            <a:off x="384048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design</a:t>
            </a:r>
          </a:p>
        </p:txBody>
      </p:sp>
      <p:sp>
        <p:nvSpPr>
          <p:cNvPr id="51" name="Timeline rule: Electrical design"/>
          <p:cNvSpPr/>
          <p:nvPr/>
        </p:nvSpPr>
        <p:spPr>
          <a:xfrm>
            <a:off x="1569720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Electrical design"/>
          <p:cNvSpPr txBox="1"/>
          <p:nvPr/>
        </p:nvSpPr>
        <p:spPr>
          <a:xfrm>
            <a:off x="1569720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15</a:t>
            </a:r>
          </a:p>
        </p:txBody>
      </p:sp>
      <p:sp>
        <p:nvSpPr>
          <p:cNvPr id="53" name="Timeline label: Electrical design"/>
          <p:cNvSpPr txBox="1"/>
          <p:nvPr/>
        </p:nvSpPr>
        <p:spPr>
          <a:xfrm>
            <a:off x="1569720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Electrical design</a:t>
            </a:r>
          </a:p>
        </p:txBody>
      </p:sp>
      <p:sp>
        <p:nvSpPr>
          <p:cNvPr id="54" name="Timeline rule: Hull built"/>
          <p:cNvSpPr/>
          <p:nvPr/>
        </p:nvSpPr>
        <p:spPr>
          <a:xfrm>
            <a:off x="2755392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Hull built"/>
          <p:cNvSpPr txBox="1"/>
          <p:nvPr/>
        </p:nvSpPr>
        <p:spPr>
          <a:xfrm>
            <a:off x="2755392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25</a:t>
            </a:r>
          </a:p>
        </p:txBody>
      </p:sp>
      <p:sp>
        <p:nvSpPr>
          <p:cNvPr id="56" name="Timeline label: Hull built"/>
          <p:cNvSpPr txBox="1"/>
          <p:nvPr/>
        </p:nvSpPr>
        <p:spPr>
          <a:xfrm>
            <a:off x="2755392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built</a:t>
            </a:r>
          </a:p>
        </p:txBody>
      </p:sp>
      <p:sp>
        <p:nvSpPr>
          <p:cNvPr id="57" name="Timeline rule: First drive"/>
          <p:cNvSpPr/>
          <p:nvPr/>
        </p:nvSpPr>
        <p:spPr>
          <a:xfrm>
            <a:off x="3941064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First drive"/>
          <p:cNvSpPr txBox="1"/>
          <p:nvPr/>
        </p:nvSpPr>
        <p:spPr>
          <a:xfrm>
            <a:off x="3941064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Jan 25</a:t>
            </a:r>
          </a:p>
        </p:txBody>
      </p:sp>
      <p:sp>
        <p:nvSpPr>
          <p:cNvPr id="59" name="Timeline label: First drive"/>
          <p:cNvSpPr txBox="1"/>
          <p:nvPr/>
        </p:nvSpPr>
        <p:spPr>
          <a:xfrm>
            <a:off x="3941064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drive</a:t>
            </a:r>
          </a:p>
        </p:txBody>
      </p:sp>
      <p:sp>
        <p:nvSpPr>
          <p:cNvPr id="60" name="Timeline rule: First fast drive"/>
          <p:cNvSpPr/>
          <p:nvPr/>
        </p:nvSpPr>
        <p:spPr>
          <a:xfrm>
            <a:off x="5126736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First fast drive"/>
          <p:cNvSpPr txBox="1"/>
          <p:nvPr/>
        </p:nvSpPr>
        <p:spPr>
          <a:xfrm>
            <a:off x="5126736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Feb 15</a:t>
            </a:r>
          </a:p>
        </p:txBody>
      </p:sp>
      <p:sp>
        <p:nvSpPr>
          <p:cNvPr id="62" name="Timeline label: First fast drive"/>
          <p:cNvSpPr txBox="1"/>
          <p:nvPr/>
        </p:nvSpPr>
        <p:spPr>
          <a:xfrm>
            <a:off x="5126736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fast drive</a:t>
            </a:r>
          </a:p>
        </p:txBody>
      </p:sp>
      <p:sp>
        <p:nvSpPr>
          <p:cNvPr id="63" name="Timeline rule: Tuning and testing"/>
          <p:cNvSpPr/>
          <p:nvPr/>
        </p:nvSpPr>
        <p:spPr>
          <a:xfrm>
            <a:off x="6312408" y="86685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Tuning and testing"/>
          <p:cNvSpPr txBox="1"/>
          <p:nvPr/>
        </p:nvSpPr>
        <p:spPr>
          <a:xfrm>
            <a:off x="6312408" y="87325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Mar 15</a:t>
            </a:r>
          </a:p>
        </p:txBody>
      </p:sp>
      <p:sp>
        <p:nvSpPr>
          <p:cNvPr id="65" name="Timeline label: Tuning and testing"/>
          <p:cNvSpPr txBox="1"/>
          <p:nvPr/>
        </p:nvSpPr>
        <p:spPr>
          <a:xfrm>
            <a:off x="6312408" y="89062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Tuning and testing</a:t>
            </a:r>
          </a:p>
        </p:txBody>
      </p:sp>
      <p:sp>
        <p:nvSpPr>
          <p:cNvPr id="66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68" name="Footer tagline"/>
          <p:cNvSpPr txBox="1"/>
          <p:nvPr/>
        </p:nvSpPr>
        <p:spPr>
          <a:xfrm>
            <a:off x="384048" y="97109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 and advisors.</a:t>
            </a:r>
          </a:p>
        </p:txBody>
      </p:sp>
      <p:sp>
        <p:nvSpPr>
          <p:cNvPr id="69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70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71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72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73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